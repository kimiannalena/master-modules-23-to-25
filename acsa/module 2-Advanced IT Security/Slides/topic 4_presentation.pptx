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Montserrat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ontserrat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33" Type="http://schemas.openxmlformats.org/officeDocument/2006/relationships/font" Target="fonts/Lato-bold.fntdata"/><Relationship Id="rId10" Type="http://schemas.openxmlformats.org/officeDocument/2006/relationships/slide" Target="slides/slide5.xml"/><Relationship Id="rId32" Type="http://schemas.openxmlformats.org/officeDocument/2006/relationships/font" Target="fonts/Lato-regular.fntdata"/><Relationship Id="rId13" Type="http://schemas.openxmlformats.org/officeDocument/2006/relationships/slide" Target="slides/slide8.xml"/><Relationship Id="rId35" Type="http://schemas.openxmlformats.org/officeDocument/2006/relationships/font" Target="fonts/Lato-boldItalic.fntdata"/><Relationship Id="rId12" Type="http://schemas.openxmlformats.org/officeDocument/2006/relationships/slide" Target="slides/slide7.xml"/><Relationship Id="rId34" Type="http://schemas.openxmlformats.org/officeDocument/2006/relationships/font" Target="fonts/Lat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chemeClr val="lt2"/>
              </a:highlight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0f830cb847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0f830cb847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0f830cb847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0f830cb847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3c21d42b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3c21d42b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3c21d42b8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3c21d42b8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0f830cb847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0f830cb847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3c21d42b8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3c21d42b8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3e4bbf327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3e4bbf327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3e4bbf327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3e4bbf327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3c21d42b8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3c21d42b8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3c21d42b8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3c21d42b8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3c21d42b8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3c21d42b8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0f830cb847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0f830cb847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3e4bbf327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3e4bbf327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3e4bbf327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3e4bbf327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3e4bbf3279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3e4bbf327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3e4bbf327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3e4bbf327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3e4bbf327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3e4bbf327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3e4bbf327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3e4bbf327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3e4bbf327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3e4bbf327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3e4bbf327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3e4bbf327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3e4bbf327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3e4bbf327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857750" y="18990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Arial"/>
                <a:ea typeface="Arial"/>
                <a:cs typeface="Arial"/>
                <a:sym typeface="Arial"/>
              </a:rPr>
              <a:t>    Module 2: Advanced IT Security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209400" y="377157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Cristina STOLOJESCU-CRISAN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ctrTitle"/>
          </p:nvPr>
        </p:nvSpPr>
        <p:spPr>
          <a:xfrm>
            <a:off x="3707800" y="202442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4. Asymmetric Encryption Algorithms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Asymmetric encryption</a:t>
            </a:r>
            <a:endParaRPr b="1"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97500" y="1567550"/>
            <a:ext cx="7038900" cy="30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public key cryptography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uses </a:t>
            </a:r>
            <a:r>
              <a:rPr b="1" lang="en" sz="1500"/>
              <a:t>two keys</a:t>
            </a:r>
            <a:r>
              <a:rPr lang="en" sz="1500"/>
              <a:t> to encrypt a plain text: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a public key 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a private key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anyone with a secret key can decrypt the message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 message that is encrypted using a public key can only be decrypted using a private key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mostly used in day-to-day communication channels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3500" y="939325"/>
            <a:ext cx="5943600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Asymmetric encryption algorithms</a:t>
            </a:r>
            <a:endParaRPr b="1"/>
          </a:p>
        </p:txBody>
      </p:sp>
      <p:sp>
        <p:nvSpPr>
          <p:cNvPr id="157" name="Google Shape;157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Diffie-Hellman (DH) key exchange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El-Gamal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Rivest-Shamir-Adleman (RSA)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Elliptic curve cryptography (ECC)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ctrTitle"/>
          </p:nvPr>
        </p:nvSpPr>
        <p:spPr>
          <a:xfrm>
            <a:off x="3266375" y="2557825"/>
            <a:ext cx="58398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Diffie-Hellman key exchange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Diffie-Hellman (DH) key exchange</a:t>
            </a:r>
            <a:endParaRPr b="1"/>
          </a:p>
        </p:txBody>
      </p:sp>
      <p:sp>
        <p:nvSpPr>
          <p:cNvPr id="168" name="Google Shape;168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method of digital encryption - securely exchanges cryptographic keys between two parties over a public channel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1976: Whitfield Diffie and Martin Hellman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one of the first practical examples of public key cryptography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raises numbers to a selected power to produce decryption keys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components of the keys are never directly transmitted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does not share information during the key exchange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TLS, SSH, IPsec 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0"/>
          <p:cNvPicPr preferRelativeResize="0"/>
          <p:nvPr/>
        </p:nvPicPr>
        <p:blipFill rotWithShape="1">
          <a:blip r:embed="rId3">
            <a:alphaModFix/>
          </a:blip>
          <a:srcRect b="8587" l="8721" r="9075" t="10630"/>
          <a:stretch/>
        </p:blipFill>
        <p:spPr>
          <a:xfrm>
            <a:off x="1313125" y="699725"/>
            <a:ext cx="7581651" cy="40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7367550" y="4820400"/>
            <a:ext cx="187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Image source: www.techtarget.com </a:t>
            </a:r>
            <a:endParaRPr i="1" sz="9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>
            <p:ph type="ctrTitle"/>
          </p:nvPr>
        </p:nvSpPr>
        <p:spPr>
          <a:xfrm>
            <a:off x="3266375" y="2557825"/>
            <a:ext cx="58398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Rivest-Shamir-Adleman (RSA)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Rivest-Shamir-Adleman (RSA)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basis of a cryptosystem which enables public key encryption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widely used to secure sensitive data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1977 - Ron Rivest, Adi Shamir and Leonard Adleman of the MIT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 two different but mathematically linked keys - one public and one private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most widely used asymmetric algorithm -&gt; confidentiality, integrity, authenticity, and non-repudiation 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Applications of RSA</a:t>
            </a:r>
            <a:endParaRPr b="1"/>
          </a:p>
        </p:txBody>
      </p:sp>
      <p:sp>
        <p:nvSpPr>
          <p:cNvPr id="191" name="Google Shape;191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protocols: Secure Shell (SSH), OpenPGP, S/MIME, and SSL/TLS,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software programs - browsers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RSA signature verification </a:t>
            </a:r>
            <a:endParaRPr sz="15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4"/>
          <p:cNvPicPr preferRelativeResize="0"/>
          <p:nvPr/>
        </p:nvPicPr>
        <p:blipFill rotWithShape="1">
          <a:blip r:embed="rId3">
            <a:alphaModFix/>
          </a:blip>
          <a:srcRect b="13463" l="7543" r="9743" t="10426"/>
          <a:stretch/>
        </p:blipFill>
        <p:spPr>
          <a:xfrm>
            <a:off x="1667775" y="504750"/>
            <a:ext cx="6479400" cy="441169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 txBox="1"/>
          <p:nvPr/>
        </p:nvSpPr>
        <p:spPr>
          <a:xfrm>
            <a:off x="7367550" y="4896600"/>
            <a:ext cx="187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Image source: www.techtarget.com </a:t>
            </a:r>
            <a:endParaRPr i="1" sz="9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 txBox="1"/>
          <p:nvPr>
            <p:ph type="ctrTitle"/>
          </p:nvPr>
        </p:nvSpPr>
        <p:spPr>
          <a:xfrm>
            <a:off x="3929825" y="2571750"/>
            <a:ext cx="60774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El Gamal algorithm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ElGamal algorithm</a:t>
            </a:r>
            <a:endParaRPr b="1"/>
          </a:p>
        </p:txBody>
      </p:sp>
      <p:sp>
        <p:nvSpPr>
          <p:cNvPr id="208" name="Google Shape;208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public-key cryptosystem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1984 - Taher ElGamal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based on the discrete logarithm problem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based on the Diffie–Hellman key exchange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has not been patented - less expensive alternative</a:t>
            </a:r>
            <a:endParaRPr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Advantages of ElGamal</a:t>
            </a:r>
            <a:endParaRPr b="1"/>
          </a:p>
        </p:txBody>
      </p:sp>
      <p:sp>
        <p:nvSpPr>
          <p:cNvPr id="214" name="Google Shape;214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Security</a:t>
            </a:r>
            <a:endParaRPr b="1"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Key distribution</a:t>
            </a:r>
            <a:endParaRPr b="1"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Digital signatures</a:t>
            </a:r>
            <a:endParaRPr b="1"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Disadvantages of ElGamal</a:t>
            </a:r>
            <a:endParaRPr b="1"/>
          </a:p>
        </p:txBody>
      </p:sp>
      <p:sp>
        <p:nvSpPr>
          <p:cNvPr id="220" name="Google Shape;220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Slow processing</a:t>
            </a:r>
            <a:endParaRPr b="1"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Key size</a:t>
            </a:r>
            <a:endParaRPr b="1"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Vulnerability to certain attacks</a:t>
            </a:r>
            <a:endParaRPr b="1" sz="15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/>
          <p:nvPr>
            <p:ph type="ctrTitle"/>
          </p:nvPr>
        </p:nvSpPr>
        <p:spPr>
          <a:xfrm>
            <a:off x="3297225" y="2044575"/>
            <a:ext cx="60774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25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Elliptic curve cryptography (ECC)</a:t>
            </a:r>
            <a:endParaRPr b="1" sz="2500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Elliptic curve cryptography (ECC)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31" name="Google Shape;231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public key encryption technique based on elliptic curve theory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used to create faster, smaller and more efficient cryptographic keys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alternative to the RSA algorithm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digital signatures in cryptocurrencies (Bitcoin and Ethereum)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one-way encryption of emails, data and software.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generates keys through the properties of an elliptic curve equation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level of security that requires fewer computing resources</a:t>
            </a:r>
            <a:endParaRPr sz="1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1"/>
          <p:cNvPicPr preferRelativeResize="0"/>
          <p:nvPr/>
        </p:nvPicPr>
        <p:blipFill rotWithShape="1">
          <a:blip r:embed="rId3">
            <a:alphaModFix/>
          </a:blip>
          <a:srcRect b="15746" l="19970" r="16103" t="28651"/>
          <a:stretch/>
        </p:blipFill>
        <p:spPr>
          <a:xfrm>
            <a:off x="2090075" y="811711"/>
            <a:ext cx="5242375" cy="352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1"/>
          <p:cNvSpPr txBox="1"/>
          <p:nvPr/>
        </p:nvSpPr>
        <p:spPr>
          <a:xfrm>
            <a:off x="7367550" y="4820400"/>
            <a:ext cx="187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Image source: www.techtarget.com </a:t>
            </a:r>
            <a:endParaRPr i="1" sz="9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Pros and cons of asymmetric encryption</a:t>
            </a:r>
            <a:endParaRPr b="1"/>
          </a:p>
        </p:txBody>
      </p:sp>
      <p:sp>
        <p:nvSpPr>
          <p:cNvPr id="243" name="Google Shape;243;p3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1670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1500"/>
              <a:t>Pros:</a:t>
            </a:r>
            <a:endParaRPr b="1" sz="1500"/>
          </a:p>
          <a:p>
            <a:pPr indent="-31670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keys are never distributed or exchanged</a:t>
            </a:r>
            <a:endParaRPr sz="1500"/>
          </a:p>
          <a:p>
            <a:pPr indent="-31670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private keys aren't transmitted/revealed -&gt; increased security</a:t>
            </a:r>
            <a:endParaRPr sz="1500"/>
          </a:p>
          <a:p>
            <a:pPr indent="-31670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digital signatures -&gt; sender authentication</a:t>
            </a:r>
            <a:endParaRPr sz="1500"/>
          </a:p>
          <a:p>
            <a:pPr indent="-31670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enables non-repudiation</a:t>
            </a:r>
            <a:endParaRPr sz="1500"/>
          </a:p>
          <a:p>
            <a:pPr indent="-31670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1500"/>
              <a:t>Cons:</a:t>
            </a:r>
            <a:endParaRPr b="1" sz="1500"/>
          </a:p>
          <a:p>
            <a:pPr indent="-31670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slower than symmetric encryption</a:t>
            </a:r>
            <a:endParaRPr sz="1500"/>
          </a:p>
          <a:p>
            <a:pPr indent="-31670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loss of  key - no decryption</a:t>
            </a:r>
            <a:endParaRPr sz="1500"/>
          </a:p>
          <a:p>
            <a:pPr indent="-31670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public key ownership isn't authenticated</a:t>
            </a:r>
            <a:endParaRPr sz="1500"/>
          </a:p>
          <a:p>
            <a:pPr indent="-31670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if a private key is stolen, an attacker could use it to decrypt their messages</a:t>
            </a:r>
            <a:endParaRPr sz="1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Symmetric vs. asymmetric: Which is better?</a:t>
            </a:r>
            <a:endParaRPr b="1"/>
          </a:p>
        </p:txBody>
      </p:sp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consider the type of data being encrypted!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performance - asymmetric encryption - generally slower, more secure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symmetric and asymmetric encryption algorithms - different vulnerabilities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boost security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landscape of cryptography is constantly changing</a:t>
            </a:r>
            <a:endParaRPr sz="15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Homework</a:t>
            </a:r>
            <a:endParaRPr b="1"/>
          </a:p>
        </p:txBody>
      </p:sp>
      <p:sp>
        <p:nvSpPr>
          <p:cNvPr id="255" name="Google Shape;255;p3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What is the most secure asymmetric encryption?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Can asymmetric encryption be broken?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What problem does asymmetric encryption solve that symmetric encryption does not?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Does Bitcoin use asymmetric encryption?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