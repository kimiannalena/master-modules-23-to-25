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1">
  <p:sldMasterIdLst>
    <p:sldMasterId id="2147483942" r:id="rId1"/>
  </p:sldMasterIdLst>
  <p:notesMasterIdLst>
    <p:notesMasterId r:id="rId38"/>
  </p:notesMasterIdLst>
  <p:sldIdLst>
    <p:sldId id="256" r:id="rId2"/>
    <p:sldId id="258" r:id="rId3"/>
    <p:sldId id="266" r:id="rId4"/>
    <p:sldId id="267" r:id="rId5"/>
    <p:sldId id="260" r:id="rId6"/>
    <p:sldId id="261" r:id="rId7"/>
    <p:sldId id="268" r:id="rId8"/>
    <p:sldId id="269" r:id="rId9"/>
    <p:sldId id="292" r:id="rId10"/>
    <p:sldId id="270" r:id="rId11"/>
    <p:sldId id="271" r:id="rId12"/>
    <p:sldId id="300" r:id="rId13"/>
    <p:sldId id="272" r:id="rId14"/>
    <p:sldId id="273" r:id="rId15"/>
    <p:sldId id="295" r:id="rId16"/>
    <p:sldId id="275" r:id="rId17"/>
    <p:sldId id="276" r:id="rId18"/>
    <p:sldId id="277" r:id="rId19"/>
    <p:sldId id="278" r:id="rId20"/>
    <p:sldId id="299" r:id="rId21"/>
    <p:sldId id="279" r:id="rId22"/>
    <p:sldId id="280" r:id="rId23"/>
    <p:sldId id="281" r:id="rId24"/>
    <p:sldId id="282" r:id="rId25"/>
    <p:sldId id="290" r:id="rId26"/>
    <p:sldId id="291" r:id="rId27"/>
    <p:sldId id="284" r:id="rId28"/>
    <p:sldId id="296" r:id="rId29"/>
    <p:sldId id="283" r:id="rId30"/>
    <p:sldId id="297" r:id="rId31"/>
    <p:sldId id="285" r:id="rId32"/>
    <p:sldId id="298" r:id="rId33"/>
    <p:sldId id="286" r:id="rId34"/>
    <p:sldId id="287" r:id="rId35"/>
    <p:sldId id="293" r:id="rId36"/>
    <p:sldId id="29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66959" autoAdjust="0"/>
  </p:normalViewPr>
  <p:slideViewPr>
    <p:cSldViewPr snapToGrid="0">
      <p:cViewPr varScale="1">
        <p:scale>
          <a:sx n="66" d="100"/>
          <a:sy n="66" d="100"/>
        </p:scale>
        <p:origin x="132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6E37BC-E58B-48F5-8E44-9D3DCA9967D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111EA05-F6AB-4B32-8F80-F49C99D1A479}">
      <dgm:prSet/>
      <dgm:spPr/>
      <dgm:t>
        <a:bodyPr/>
        <a:lstStyle/>
        <a:p>
          <a:r>
            <a:rPr lang="de-DE" dirty="0"/>
            <a:t>Überblick über Hadoop/MapReduce</a:t>
          </a:r>
          <a:endParaRPr lang="en-US" dirty="0"/>
        </a:p>
      </dgm:t>
    </dgm:pt>
    <dgm:pt modelId="{BAA2CCED-7598-4E7D-ACF1-4828011E7E18}" type="parTrans" cxnId="{FBB8B709-37D0-4BA9-BDAA-4740490724CD}">
      <dgm:prSet/>
      <dgm:spPr/>
      <dgm:t>
        <a:bodyPr/>
        <a:lstStyle/>
        <a:p>
          <a:endParaRPr lang="en-US"/>
        </a:p>
      </dgm:t>
    </dgm:pt>
    <dgm:pt modelId="{48E2BC0D-E9EE-4C8F-A389-A4B6FC506BD7}" type="sibTrans" cxnId="{FBB8B709-37D0-4BA9-BDAA-4740490724CD}">
      <dgm:prSet/>
      <dgm:spPr/>
      <dgm:t>
        <a:bodyPr/>
        <a:lstStyle/>
        <a:p>
          <a:endParaRPr lang="en-US"/>
        </a:p>
      </dgm:t>
    </dgm:pt>
    <dgm:pt modelId="{9051144F-79C3-4EAA-BFB6-0084A7DDB6C4}">
      <dgm:prSet/>
      <dgm:spPr/>
      <dgm:t>
        <a:bodyPr/>
        <a:lstStyle/>
        <a:p>
          <a:r>
            <a:rPr lang="de-DE"/>
            <a:t>Hadoop Ökosystem</a:t>
          </a:r>
          <a:endParaRPr lang="en-US"/>
        </a:p>
      </dgm:t>
    </dgm:pt>
    <dgm:pt modelId="{1E2754CB-3147-4353-843B-723E1425D4B8}" type="parTrans" cxnId="{6C03B1F1-CBEE-4F4B-B6DD-A61B566BE4D1}">
      <dgm:prSet/>
      <dgm:spPr/>
      <dgm:t>
        <a:bodyPr/>
        <a:lstStyle/>
        <a:p>
          <a:endParaRPr lang="en-US"/>
        </a:p>
      </dgm:t>
    </dgm:pt>
    <dgm:pt modelId="{200B9940-8D57-4AA4-A9C5-5146DC5FA8CE}" type="sibTrans" cxnId="{6C03B1F1-CBEE-4F4B-B6DD-A61B566BE4D1}">
      <dgm:prSet/>
      <dgm:spPr/>
      <dgm:t>
        <a:bodyPr/>
        <a:lstStyle/>
        <a:p>
          <a:endParaRPr lang="en-US"/>
        </a:p>
      </dgm:t>
    </dgm:pt>
    <dgm:pt modelId="{D2A0A0BC-0D7D-4CD2-8169-D4348240276D}">
      <dgm:prSet/>
      <dgm:spPr/>
      <dgm:t>
        <a:bodyPr/>
        <a:lstStyle/>
        <a:p>
          <a:r>
            <a:rPr lang="de-DE"/>
            <a:t>Einführung in das MapReduce-Programmiermodel</a:t>
          </a:r>
          <a:endParaRPr lang="en-US"/>
        </a:p>
      </dgm:t>
    </dgm:pt>
    <dgm:pt modelId="{EFC54960-616A-463B-9C4C-913D8AE6C25F}" type="parTrans" cxnId="{83A5E9E9-B448-4C3F-82F0-9CA8B3B14FD1}">
      <dgm:prSet/>
      <dgm:spPr/>
      <dgm:t>
        <a:bodyPr/>
        <a:lstStyle/>
        <a:p>
          <a:endParaRPr lang="en-US"/>
        </a:p>
      </dgm:t>
    </dgm:pt>
    <dgm:pt modelId="{A518EF0A-A068-4FE2-934E-EC1B5214845E}" type="sibTrans" cxnId="{83A5E9E9-B448-4C3F-82F0-9CA8B3B14FD1}">
      <dgm:prSet/>
      <dgm:spPr/>
      <dgm:t>
        <a:bodyPr/>
        <a:lstStyle/>
        <a:p>
          <a:endParaRPr lang="en-US"/>
        </a:p>
      </dgm:t>
    </dgm:pt>
    <dgm:pt modelId="{16A501D8-C9F1-44CB-B4E4-26DAA1D2953E}">
      <dgm:prSet/>
      <dgm:spPr/>
      <dgm:t>
        <a:bodyPr/>
        <a:lstStyle/>
        <a:p>
          <a:r>
            <a:rPr lang="de-DE"/>
            <a:t>Übungsaufgabe MapReduce Algorithmus</a:t>
          </a:r>
          <a:endParaRPr lang="en-US"/>
        </a:p>
      </dgm:t>
    </dgm:pt>
    <dgm:pt modelId="{A1B1F1F2-7FB0-4BF4-BD27-D2D0032CE394}" type="parTrans" cxnId="{B5332D20-6174-40D1-8D1C-0604E0A44030}">
      <dgm:prSet/>
      <dgm:spPr/>
      <dgm:t>
        <a:bodyPr/>
        <a:lstStyle/>
        <a:p>
          <a:endParaRPr lang="en-US"/>
        </a:p>
      </dgm:t>
    </dgm:pt>
    <dgm:pt modelId="{A2F23D23-4BC3-4C43-B258-5A2E4807D9D4}" type="sibTrans" cxnId="{B5332D20-6174-40D1-8D1C-0604E0A44030}">
      <dgm:prSet/>
      <dgm:spPr/>
      <dgm:t>
        <a:bodyPr/>
        <a:lstStyle/>
        <a:p>
          <a:endParaRPr lang="en-US"/>
        </a:p>
      </dgm:t>
    </dgm:pt>
    <dgm:pt modelId="{76052855-4A17-40C5-8ED7-5758209661E2}">
      <dgm:prSet/>
      <dgm:spPr/>
      <dgm:t>
        <a:bodyPr/>
        <a:lstStyle/>
        <a:p>
          <a:r>
            <a:rPr lang="de-DE" dirty="0"/>
            <a:t>Apache Hadoop und MapReduce in der Praxis </a:t>
          </a:r>
          <a:endParaRPr lang="en-US" dirty="0"/>
        </a:p>
      </dgm:t>
    </dgm:pt>
    <dgm:pt modelId="{2A54580B-5E76-4260-9EE7-A30A7935320E}" type="parTrans" cxnId="{45583CA8-141E-480D-9314-186373C51685}">
      <dgm:prSet/>
      <dgm:spPr/>
      <dgm:t>
        <a:bodyPr/>
        <a:lstStyle/>
        <a:p>
          <a:endParaRPr lang="en-US"/>
        </a:p>
      </dgm:t>
    </dgm:pt>
    <dgm:pt modelId="{9BB970B3-425F-47C2-A2B0-12B7795F259B}" type="sibTrans" cxnId="{45583CA8-141E-480D-9314-186373C51685}">
      <dgm:prSet/>
      <dgm:spPr/>
      <dgm:t>
        <a:bodyPr/>
        <a:lstStyle/>
        <a:p>
          <a:endParaRPr lang="en-US"/>
        </a:p>
      </dgm:t>
    </dgm:pt>
    <dgm:pt modelId="{8C732E0B-9D44-4792-8552-0EF95B337BBB}" type="pres">
      <dgm:prSet presAssocID="{016E37BC-E58B-48F5-8E44-9D3DCA9967D9}" presName="root" presStyleCnt="0">
        <dgm:presLayoutVars>
          <dgm:dir/>
          <dgm:resizeHandles val="exact"/>
        </dgm:presLayoutVars>
      </dgm:prSet>
      <dgm:spPr/>
    </dgm:pt>
    <dgm:pt modelId="{5C9DBED5-0D52-40EF-A0A5-8F83671E1D4C}" type="pres">
      <dgm:prSet presAssocID="{8111EA05-F6AB-4B32-8F80-F49C99D1A479}" presName="compNode" presStyleCnt="0"/>
      <dgm:spPr/>
    </dgm:pt>
    <dgm:pt modelId="{BCA9F4FC-F2C6-4911-AA82-5B3FC83D97B0}" type="pres">
      <dgm:prSet presAssocID="{8111EA05-F6AB-4B32-8F80-F49C99D1A479}" presName="bgRect" presStyleLbl="bgShp" presStyleIdx="0" presStyleCnt="5"/>
      <dgm:spPr>
        <a:solidFill>
          <a:schemeClr val="bg1">
            <a:lumMod val="95000"/>
            <a:hueOff val="0"/>
            <a:satOff val="0"/>
            <a:lumOff val="0"/>
            <a:alpha val="80000"/>
          </a:schemeClr>
        </a:solidFill>
      </dgm:spPr>
    </dgm:pt>
    <dgm:pt modelId="{56AFB29D-E554-4D31-8F25-A867F3F99E01}" type="pres">
      <dgm:prSet presAssocID="{8111EA05-F6AB-4B32-8F80-F49C99D1A47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enbank"/>
        </a:ext>
      </dgm:extLst>
    </dgm:pt>
    <dgm:pt modelId="{4CD6FE57-C53C-471B-9C7B-C4ACFC29FC7C}" type="pres">
      <dgm:prSet presAssocID="{8111EA05-F6AB-4B32-8F80-F49C99D1A479}" presName="spaceRect" presStyleCnt="0"/>
      <dgm:spPr/>
    </dgm:pt>
    <dgm:pt modelId="{346BF917-202C-4FE3-93AB-51FBCE401398}" type="pres">
      <dgm:prSet presAssocID="{8111EA05-F6AB-4B32-8F80-F49C99D1A479}" presName="parTx" presStyleLbl="revTx" presStyleIdx="0" presStyleCnt="5">
        <dgm:presLayoutVars>
          <dgm:chMax val="0"/>
          <dgm:chPref val="0"/>
        </dgm:presLayoutVars>
      </dgm:prSet>
      <dgm:spPr/>
    </dgm:pt>
    <dgm:pt modelId="{6443A80C-32BF-47D1-A994-0017E84B96AD}" type="pres">
      <dgm:prSet presAssocID="{48E2BC0D-E9EE-4C8F-A389-A4B6FC506BD7}" presName="sibTrans" presStyleCnt="0"/>
      <dgm:spPr/>
    </dgm:pt>
    <dgm:pt modelId="{587CB327-C618-4752-A174-1F2B1AEF3749}" type="pres">
      <dgm:prSet presAssocID="{9051144F-79C3-4EAA-BFB6-0084A7DDB6C4}" presName="compNode" presStyleCnt="0"/>
      <dgm:spPr/>
    </dgm:pt>
    <dgm:pt modelId="{58C64EC4-4B59-4257-B7B2-F1FC8529519C}" type="pres">
      <dgm:prSet presAssocID="{9051144F-79C3-4EAA-BFB6-0084A7DDB6C4}" presName="bgRect" presStyleLbl="bgShp" presStyleIdx="1" presStyleCnt="5"/>
      <dgm:spPr>
        <a:solidFill>
          <a:schemeClr val="bg1">
            <a:lumMod val="95000"/>
            <a:hueOff val="0"/>
            <a:satOff val="0"/>
            <a:lumOff val="0"/>
            <a:alpha val="80000"/>
          </a:schemeClr>
        </a:solidFill>
      </dgm:spPr>
    </dgm:pt>
    <dgm:pt modelId="{E29D1361-1283-49AD-B32C-2AC0725E2F46}" type="pres">
      <dgm:prSet presAssocID="{9051144F-79C3-4EAA-BFB6-0084A7DDB6C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zwerk"/>
        </a:ext>
      </dgm:extLst>
    </dgm:pt>
    <dgm:pt modelId="{F1E459F5-AD5F-413E-B1E4-7ED87809E226}" type="pres">
      <dgm:prSet presAssocID="{9051144F-79C3-4EAA-BFB6-0084A7DDB6C4}" presName="spaceRect" presStyleCnt="0"/>
      <dgm:spPr/>
    </dgm:pt>
    <dgm:pt modelId="{D16810EB-D270-4895-ADF4-4398623D5665}" type="pres">
      <dgm:prSet presAssocID="{9051144F-79C3-4EAA-BFB6-0084A7DDB6C4}" presName="parTx" presStyleLbl="revTx" presStyleIdx="1" presStyleCnt="5">
        <dgm:presLayoutVars>
          <dgm:chMax val="0"/>
          <dgm:chPref val="0"/>
        </dgm:presLayoutVars>
      </dgm:prSet>
      <dgm:spPr/>
    </dgm:pt>
    <dgm:pt modelId="{5E9E65D6-7431-4EF9-84FE-561BCFB3A207}" type="pres">
      <dgm:prSet presAssocID="{200B9940-8D57-4AA4-A9C5-5146DC5FA8CE}" presName="sibTrans" presStyleCnt="0"/>
      <dgm:spPr/>
    </dgm:pt>
    <dgm:pt modelId="{61B29F90-8C93-4BCE-BD6A-6D49E0B6210D}" type="pres">
      <dgm:prSet presAssocID="{D2A0A0BC-0D7D-4CD2-8169-D4348240276D}" presName="compNode" presStyleCnt="0"/>
      <dgm:spPr/>
    </dgm:pt>
    <dgm:pt modelId="{2678C53B-8D3F-438C-9F6D-11E4DA44D67F}" type="pres">
      <dgm:prSet presAssocID="{D2A0A0BC-0D7D-4CD2-8169-D4348240276D}" presName="bgRect" presStyleLbl="bgShp" presStyleIdx="2" presStyleCnt="5" custLinFactNeighborY="-1616"/>
      <dgm:spPr>
        <a:solidFill>
          <a:schemeClr val="bg1">
            <a:lumMod val="95000"/>
            <a:hueOff val="0"/>
            <a:satOff val="0"/>
            <a:lumOff val="0"/>
            <a:alpha val="80000"/>
          </a:schemeClr>
        </a:solidFill>
      </dgm:spPr>
    </dgm:pt>
    <dgm:pt modelId="{23741003-BD76-489E-A33A-C225C2AF1F22}" type="pres">
      <dgm:prSet presAssocID="{D2A0A0BC-0D7D-4CD2-8169-D4348240276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nführungszeichen"/>
        </a:ext>
      </dgm:extLst>
    </dgm:pt>
    <dgm:pt modelId="{EADCEBA7-79E2-4BCF-BD69-7C1FB9A05952}" type="pres">
      <dgm:prSet presAssocID="{D2A0A0BC-0D7D-4CD2-8169-D4348240276D}" presName="spaceRect" presStyleCnt="0"/>
      <dgm:spPr/>
    </dgm:pt>
    <dgm:pt modelId="{A1CDFB81-86AF-4346-B223-9984EFF31DE1}" type="pres">
      <dgm:prSet presAssocID="{D2A0A0BC-0D7D-4CD2-8169-D4348240276D}" presName="parTx" presStyleLbl="revTx" presStyleIdx="2" presStyleCnt="5">
        <dgm:presLayoutVars>
          <dgm:chMax val="0"/>
          <dgm:chPref val="0"/>
        </dgm:presLayoutVars>
      </dgm:prSet>
      <dgm:spPr/>
    </dgm:pt>
    <dgm:pt modelId="{D35E1585-C1B9-42A6-936D-32BA898FDEE5}" type="pres">
      <dgm:prSet presAssocID="{A518EF0A-A068-4FE2-934E-EC1B5214845E}" presName="sibTrans" presStyleCnt="0"/>
      <dgm:spPr/>
    </dgm:pt>
    <dgm:pt modelId="{DFBB3A9E-F5DF-44E9-A91E-BE8792E31458}" type="pres">
      <dgm:prSet presAssocID="{16A501D8-C9F1-44CB-B4E4-26DAA1D2953E}" presName="compNode" presStyleCnt="0"/>
      <dgm:spPr/>
    </dgm:pt>
    <dgm:pt modelId="{19248C12-EEAE-4CCD-A1AE-BEE5785DB5E7}" type="pres">
      <dgm:prSet presAssocID="{16A501D8-C9F1-44CB-B4E4-26DAA1D2953E}" presName="bgRect" presStyleLbl="bgShp" presStyleIdx="3" presStyleCnt="5" custLinFactNeighborX="-769" custLinFactNeighborY="656"/>
      <dgm:spPr>
        <a:solidFill>
          <a:schemeClr val="bg1">
            <a:lumMod val="95000"/>
            <a:hueOff val="0"/>
            <a:satOff val="0"/>
            <a:lumOff val="0"/>
            <a:alpha val="80000"/>
          </a:schemeClr>
        </a:solidFill>
      </dgm:spPr>
    </dgm:pt>
    <dgm:pt modelId="{45AEC138-45CF-4512-BF97-1B7CD61CFB04}" type="pres">
      <dgm:prSet presAssocID="{16A501D8-C9F1-44CB-B4E4-26DAA1D2953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äkchen"/>
        </a:ext>
      </dgm:extLst>
    </dgm:pt>
    <dgm:pt modelId="{EBF4207D-8F83-4188-B0AF-ECFD7EFF3B13}" type="pres">
      <dgm:prSet presAssocID="{16A501D8-C9F1-44CB-B4E4-26DAA1D2953E}" presName="spaceRect" presStyleCnt="0"/>
      <dgm:spPr/>
    </dgm:pt>
    <dgm:pt modelId="{0A5FBA5A-BA07-4074-81CA-C97F847653C2}" type="pres">
      <dgm:prSet presAssocID="{16A501D8-C9F1-44CB-B4E4-26DAA1D2953E}" presName="parTx" presStyleLbl="revTx" presStyleIdx="3" presStyleCnt="5">
        <dgm:presLayoutVars>
          <dgm:chMax val="0"/>
          <dgm:chPref val="0"/>
        </dgm:presLayoutVars>
      </dgm:prSet>
      <dgm:spPr/>
    </dgm:pt>
    <dgm:pt modelId="{2EF3335D-AE3F-4C5E-B38C-E127F424E151}" type="pres">
      <dgm:prSet presAssocID="{A2F23D23-4BC3-4C43-B258-5A2E4807D9D4}" presName="sibTrans" presStyleCnt="0"/>
      <dgm:spPr/>
    </dgm:pt>
    <dgm:pt modelId="{D2CA5311-598B-4E20-B22E-5C2DC473145A}" type="pres">
      <dgm:prSet presAssocID="{76052855-4A17-40C5-8ED7-5758209661E2}" presName="compNode" presStyleCnt="0"/>
      <dgm:spPr/>
    </dgm:pt>
    <dgm:pt modelId="{BC41E99C-32F0-4459-8579-C6C66C5F2FE9}" type="pres">
      <dgm:prSet presAssocID="{76052855-4A17-40C5-8ED7-5758209661E2}" presName="bgRect" presStyleLbl="bgShp" presStyleIdx="4" presStyleCnt="5"/>
      <dgm:spPr>
        <a:solidFill>
          <a:schemeClr val="bg1">
            <a:lumMod val="95000"/>
            <a:hueOff val="0"/>
            <a:satOff val="0"/>
            <a:lumOff val="0"/>
            <a:alpha val="80000"/>
          </a:schemeClr>
        </a:solidFill>
      </dgm:spPr>
    </dgm:pt>
    <dgm:pt modelId="{448D1995-BBC4-471A-B972-BB026A9F50F6}" type="pres">
      <dgm:prSet presAssocID="{76052855-4A17-40C5-8ED7-5758209661E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zessor"/>
        </a:ext>
      </dgm:extLst>
    </dgm:pt>
    <dgm:pt modelId="{E68B810A-FC40-42C5-B71F-CA1F2D130AAC}" type="pres">
      <dgm:prSet presAssocID="{76052855-4A17-40C5-8ED7-5758209661E2}" presName="spaceRect" presStyleCnt="0"/>
      <dgm:spPr/>
    </dgm:pt>
    <dgm:pt modelId="{A8C68029-1D2D-4210-90EC-5A6F1573FC93}" type="pres">
      <dgm:prSet presAssocID="{76052855-4A17-40C5-8ED7-5758209661E2}" presName="parTx" presStyleLbl="revTx" presStyleIdx="4" presStyleCnt="5">
        <dgm:presLayoutVars>
          <dgm:chMax val="0"/>
          <dgm:chPref val="0"/>
        </dgm:presLayoutVars>
      </dgm:prSet>
      <dgm:spPr/>
    </dgm:pt>
  </dgm:ptLst>
  <dgm:cxnLst>
    <dgm:cxn modelId="{FBB8B709-37D0-4BA9-BDAA-4740490724CD}" srcId="{016E37BC-E58B-48F5-8E44-9D3DCA9967D9}" destId="{8111EA05-F6AB-4B32-8F80-F49C99D1A479}" srcOrd="0" destOrd="0" parTransId="{BAA2CCED-7598-4E7D-ACF1-4828011E7E18}" sibTransId="{48E2BC0D-E9EE-4C8F-A389-A4B6FC506BD7}"/>
    <dgm:cxn modelId="{A01B270F-ADE4-472D-804E-CEF125EE0BF0}" type="presOf" srcId="{76052855-4A17-40C5-8ED7-5758209661E2}" destId="{A8C68029-1D2D-4210-90EC-5A6F1573FC93}" srcOrd="0" destOrd="0" presId="urn:microsoft.com/office/officeart/2018/2/layout/IconVerticalSolidList"/>
    <dgm:cxn modelId="{B5332D20-6174-40D1-8D1C-0604E0A44030}" srcId="{016E37BC-E58B-48F5-8E44-9D3DCA9967D9}" destId="{16A501D8-C9F1-44CB-B4E4-26DAA1D2953E}" srcOrd="3" destOrd="0" parTransId="{A1B1F1F2-7FB0-4BF4-BD27-D2D0032CE394}" sibTransId="{A2F23D23-4BC3-4C43-B258-5A2E4807D9D4}"/>
    <dgm:cxn modelId="{41A51B2E-50C7-4E1E-96A0-FF8E8CC0EFA7}" type="presOf" srcId="{16A501D8-C9F1-44CB-B4E4-26DAA1D2953E}" destId="{0A5FBA5A-BA07-4074-81CA-C97F847653C2}" srcOrd="0" destOrd="0" presId="urn:microsoft.com/office/officeart/2018/2/layout/IconVerticalSolidList"/>
    <dgm:cxn modelId="{AA7E355E-EFD5-4A3D-8C80-536F49CC23BA}" type="presOf" srcId="{8111EA05-F6AB-4B32-8F80-F49C99D1A479}" destId="{346BF917-202C-4FE3-93AB-51FBCE401398}" srcOrd="0" destOrd="0" presId="urn:microsoft.com/office/officeart/2018/2/layout/IconVerticalSolidList"/>
    <dgm:cxn modelId="{096A7F8A-9ED4-4D69-B1A4-8313B57C5D86}" type="presOf" srcId="{9051144F-79C3-4EAA-BFB6-0084A7DDB6C4}" destId="{D16810EB-D270-4895-ADF4-4398623D5665}" srcOrd="0" destOrd="0" presId="urn:microsoft.com/office/officeart/2018/2/layout/IconVerticalSolidList"/>
    <dgm:cxn modelId="{45583CA8-141E-480D-9314-186373C51685}" srcId="{016E37BC-E58B-48F5-8E44-9D3DCA9967D9}" destId="{76052855-4A17-40C5-8ED7-5758209661E2}" srcOrd="4" destOrd="0" parTransId="{2A54580B-5E76-4260-9EE7-A30A7935320E}" sibTransId="{9BB970B3-425F-47C2-A2B0-12B7795F259B}"/>
    <dgm:cxn modelId="{83A5E9E9-B448-4C3F-82F0-9CA8B3B14FD1}" srcId="{016E37BC-E58B-48F5-8E44-9D3DCA9967D9}" destId="{D2A0A0BC-0D7D-4CD2-8169-D4348240276D}" srcOrd="2" destOrd="0" parTransId="{EFC54960-616A-463B-9C4C-913D8AE6C25F}" sibTransId="{A518EF0A-A068-4FE2-934E-EC1B5214845E}"/>
    <dgm:cxn modelId="{E83AEBED-03D1-449F-89A7-D66FBC638B19}" type="presOf" srcId="{D2A0A0BC-0D7D-4CD2-8169-D4348240276D}" destId="{A1CDFB81-86AF-4346-B223-9984EFF31DE1}" srcOrd="0" destOrd="0" presId="urn:microsoft.com/office/officeart/2018/2/layout/IconVerticalSolidList"/>
    <dgm:cxn modelId="{6C03B1F1-CBEE-4F4B-B6DD-A61B566BE4D1}" srcId="{016E37BC-E58B-48F5-8E44-9D3DCA9967D9}" destId="{9051144F-79C3-4EAA-BFB6-0084A7DDB6C4}" srcOrd="1" destOrd="0" parTransId="{1E2754CB-3147-4353-843B-723E1425D4B8}" sibTransId="{200B9940-8D57-4AA4-A9C5-5146DC5FA8CE}"/>
    <dgm:cxn modelId="{F2ACD9F5-E632-48CC-93B1-41F4826D66B9}" type="presOf" srcId="{016E37BC-E58B-48F5-8E44-9D3DCA9967D9}" destId="{8C732E0B-9D44-4792-8552-0EF95B337BBB}" srcOrd="0" destOrd="0" presId="urn:microsoft.com/office/officeart/2018/2/layout/IconVerticalSolidList"/>
    <dgm:cxn modelId="{40960866-AD86-4BD0-BD26-E64B3853835B}" type="presParOf" srcId="{8C732E0B-9D44-4792-8552-0EF95B337BBB}" destId="{5C9DBED5-0D52-40EF-A0A5-8F83671E1D4C}" srcOrd="0" destOrd="0" presId="urn:microsoft.com/office/officeart/2018/2/layout/IconVerticalSolidList"/>
    <dgm:cxn modelId="{FD4E29D5-BA2D-4889-8C81-83A77ACF9309}" type="presParOf" srcId="{5C9DBED5-0D52-40EF-A0A5-8F83671E1D4C}" destId="{BCA9F4FC-F2C6-4911-AA82-5B3FC83D97B0}" srcOrd="0" destOrd="0" presId="urn:microsoft.com/office/officeart/2018/2/layout/IconVerticalSolidList"/>
    <dgm:cxn modelId="{4F201083-B5E4-42B0-95ED-4E0A68DC14DE}" type="presParOf" srcId="{5C9DBED5-0D52-40EF-A0A5-8F83671E1D4C}" destId="{56AFB29D-E554-4D31-8F25-A867F3F99E01}" srcOrd="1" destOrd="0" presId="urn:microsoft.com/office/officeart/2018/2/layout/IconVerticalSolidList"/>
    <dgm:cxn modelId="{FC3E2037-556F-4D46-B95A-4827BF46AB71}" type="presParOf" srcId="{5C9DBED5-0D52-40EF-A0A5-8F83671E1D4C}" destId="{4CD6FE57-C53C-471B-9C7B-C4ACFC29FC7C}" srcOrd="2" destOrd="0" presId="urn:microsoft.com/office/officeart/2018/2/layout/IconVerticalSolidList"/>
    <dgm:cxn modelId="{1CC8E722-71DA-4897-BBA9-FC89A2359021}" type="presParOf" srcId="{5C9DBED5-0D52-40EF-A0A5-8F83671E1D4C}" destId="{346BF917-202C-4FE3-93AB-51FBCE401398}" srcOrd="3" destOrd="0" presId="urn:microsoft.com/office/officeart/2018/2/layout/IconVerticalSolidList"/>
    <dgm:cxn modelId="{E20F695F-A1EF-424E-80D1-65494DFCC252}" type="presParOf" srcId="{8C732E0B-9D44-4792-8552-0EF95B337BBB}" destId="{6443A80C-32BF-47D1-A994-0017E84B96AD}" srcOrd="1" destOrd="0" presId="urn:microsoft.com/office/officeart/2018/2/layout/IconVerticalSolidList"/>
    <dgm:cxn modelId="{3F9015C9-AA59-45C2-91E9-B8DA348D9755}" type="presParOf" srcId="{8C732E0B-9D44-4792-8552-0EF95B337BBB}" destId="{587CB327-C618-4752-A174-1F2B1AEF3749}" srcOrd="2" destOrd="0" presId="urn:microsoft.com/office/officeart/2018/2/layout/IconVerticalSolidList"/>
    <dgm:cxn modelId="{4F037572-B028-46D6-9517-71D1BF28C561}" type="presParOf" srcId="{587CB327-C618-4752-A174-1F2B1AEF3749}" destId="{58C64EC4-4B59-4257-B7B2-F1FC8529519C}" srcOrd="0" destOrd="0" presId="urn:microsoft.com/office/officeart/2018/2/layout/IconVerticalSolidList"/>
    <dgm:cxn modelId="{B1B1A58E-6640-4F03-A688-DB43086A587B}" type="presParOf" srcId="{587CB327-C618-4752-A174-1F2B1AEF3749}" destId="{E29D1361-1283-49AD-B32C-2AC0725E2F46}" srcOrd="1" destOrd="0" presId="urn:microsoft.com/office/officeart/2018/2/layout/IconVerticalSolidList"/>
    <dgm:cxn modelId="{47C3BA6D-CEEE-4A66-A00D-1E4D550026C7}" type="presParOf" srcId="{587CB327-C618-4752-A174-1F2B1AEF3749}" destId="{F1E459F5-AD5F-413E-B1E4-7ED87809E226}" srcOrd="2" destOrd="0" presId="urn:microsoft.com/office/officeart/2018/2/layout/IconVerticalSolidList"/>
    <dgm:cxn modelId="{1919256C-0BB6-40CA-A13C-8FDA5A574EAA}" type="presParOf" srcId="{587CB327-C618-4752-A174-1F2B1AEF3749}" destId="{D16810EB-D270-4895-ADF4-4398623D5665}" srcOrd="3" destOrd="0" presId="urn:microsoft.com/office/officeart/2018/2/layout/IconVerticalSolidList"/>
    <dgm:cxn modelId="{D843FD25-5599-4F6B-ACD6-39F95F6F5CAB}" type="presParOf" srcId="{8C732E0B-9D44-4792-8552-0EF95B337BBB}" destId="{5E9E65D6-7431-4EF9-84FE-561BCFB3A207}" srcOrd="3" destOrd="0" presId="urn:microsoft.com/office/officeart/2018/2/layout/IconVerticalSolidList"/>
    <dgm:cxn modelId="{C7BBE763-39E0-447F-9921-338810E2800F}" type="presParOf" srcId="{8C732E0B-9D44-4792-8552-0EF95B337BBB}" destId="{61B29F90-8C93-4BCE-BD6A-6D49E0B6210D}" srcOrd="4" destOrd="0" presId="urn:microsoft.com/office/officeart/2018/2/layout/IconVerticalSolidList"/>
    <dgm:cxn modelId="{1DB51969-B70A-45B1-A7C8-C205B0DA564A}" type="presParOf" srcId="{61B29F90-8C93-4BCE-BD6A-6D49E0B6210D}" destId="{2678C53B-8D3F-438C-9F6D-11E4DA44D67F}" srcOrd="0" destOrd="0" presId="urn:microsoft.com/office/officeart/2018/2/layout/IconVerticalSolidList"/>
    <dgm:cxn modelId="{2368F13A-8E69-486A-9D8F-F66406F725DC}" type="presParOf" srcId="{61B29F90-8C93-4BCE-BD6A-6D49E0B6210D}" destId="{23741003-BD76-489E-A33A-C225C2AF1F22}" srcOrd="1" destOrd="0" presId="urn:microsoft.com/office/officeart/2018/2/layout/IconVerticalSolidList"/>
    <dgm:cxn modelId="{C0E4F652-AB51-4CF1-A5E3-F21AB35E80C9}" type="presParOf" srcId="{61B29F90-8C93-4BCE-BD6A-6D49E0B6210D}" destId="{EADCEBA7-79E2-4BCF-BD69-7C1FB9A05952}" srcOrd="2" destOrd="0" presId="urn:microsoft.com/office/officeart/2018/2/layout/IconVerticalSolidList"/>
    <dgm:cxn modelId="{67AF4AC2-6B5D-407B-BEBE-370A5409BB6D}" type="presParOf" srcId="{61B29F90-8C93-4BCE-BD6A-6D49E0B6210D}" destId="{A1CDFB81-86AF-4346-B223-9984EFF31DE1}" srcOrd="3" destOrd="0" presId="urn:microsoft.com/office/officeart/2018/2/layout/IconVerticalSolidList"/>
    <dgm:cxn modelId="{8EA338AC-9CA1-479F-9FCC-293184211641}" type="presParOf" srcId="{8C732E0B-9D44-4792-8552-0EF95B337BBB}" destId="{D35E1585-C1B9-42A6-936D-32BA898FDEE5}" srcOrd="5" destOrd="0" presId="urn:microsoft.com/office/officeart/2018/2/layout/IconVerticalSolidList"/>
    <dgm:cxn modelId="{712486A9-79C1-43BE-9A6F-111B445C444F}" type="presParOf" srcId="{8C732E0B-9D44-4792-8552-0EF95B337BBB}" destId="{DFBB3A9E-F5DF-44E9-A91E-BE8792E31458}" srcOrd="6" destOrd="0" presId="urn:microsoft.com/office/officeart/2018/2/layout/IconVerticalSolidList"/>
    <dgm:cxn modelId="{D1C97914-4529-4C4A-A1D5-E0897F629CCA}" type="presParOf" srcId="{DFBB3A9E-F5DF-44E9-A91E-BE8792E31458}" destId="{19248C12-EEAE-4CCD-A1AE-BEE5785DB5E7}" srcOrd="0" destOrd="0" presId="urn:microsoft.com/office/officeart/2018/2/layout/IconVerticalSolidList"/>
    <dgm:cxn modelId="{ECCE6599-2AB4-4861-8619-B5BE3F8D1453}" type="presParOf" srcId="{DFBB3A9E-F5DF-44E9-A91E-BE8792E31458}" destId="{45AEC138-45CF-4512-BF97-1B7CD61CFB04}" srcOrd="1" destOrd="0" presId="urn:microsoft.com/office/officeart/2018/2/layout/IconVerticalSolidList"/>
    <dgm:cxn modelId="{938E09A3-038D-48DE-8F15-1166E76E5DD1}" type="presParOf" srcId="{DFBB3A9E-F5DF-44E9-A91E-BE8792E31458}" destId="{EBF4207D-8F83-4188-B0AF-ECFD7EFF3B13}" srcOrd="2" destOrd="0" presId="urn:microsoft.com/office/officeart/2018/2/layout/IconVerticalSolidList"/>
    <dgm:cxn modelId="{FCF4AD0E-2FA3-4EB0-A6D6-E38BC81240A4}" type="presParOf" srcId="{DFBB3A9E-F5DF-44E9-A91E-BE8792E31458}" destId="{0A5FBA5A-BA07-4074-81CA-C97F847653C2}" srcOrd="3" destOrd="0" presId="urn:microsoft.com/office/officeart/2018/2/layout/IconVerticalSolidList"/>
    <dgm:cxn modelId="{00A34E6F-074F-46F8-A259-3F2BE30D1150}" type="presParOf" srcId="{8C732E0B-9D44-4792-8552-0EF95B337BBB}" destId="{2EF3335D-AE3F-4C5E-B38C-E127F424E151}" srcOrd="7" destOrd="0" presId="urn:microsoft.com/office/officeart/2018/2/layout/IconVerticalSolidList"/>
    <dgm:cxn modelId="{C8F26364-2B62-4FBB-A110-1E7EFF1A253B}" type="presParOf" srcId="{8C732E0B-9D44-4792-8552-0EF95B337BBB}" destId="{D2CA5311-598B-4E20-B22E-5C2DC473145A}" srcOrd="8" destOrd="0" presId="urn:microsoft.com/office/officeart/2018/2/layout/IconVerticalSolidList"/>
    <dgm:cxn modelId="{D410A4C7-6C93-41F0-A688-128103E26FF6}" type="presParOf" srcId="{D2CA5311-598B-4E20-B22E-5C2DC473145A}" destId="{BC41E99C-32F0-4459-8579-C6C66C5F2FE9}" srcOrd="0" destOrd="0" presId="urn:microsoft.com/office/officeart/2018/2/layout/IconVerticalSolidList"/>
    <dgm:cxn modelId="{56F16C0C-6B99-4F0D-9E30-EE4B7118BCF2}" type="presParOf" srcId="{D2CA5311-598B-4E20-B22E-5C2DC473145A}" destId="{448D1995-BBC4-471A-B972-BB026A9F50F6}" srcOrd="1" destOrd="0" presId="urn:microsoft.com/office/officeart/2018/2/layout/IconVerticalSolidList"/>
    <dgm:cxn modelId="{AFD889A0-0CA7-4CDD-913A-7CE3D89F45D9}" type="presParOf" srcId="{D2CA5311-598B-4E20-B22E-5C2DC473145A}" destId="{E68B810A-FC40-42C5-B71F-CA1F2D130AAC}" srcOrd="2" destOrd="0" presId="urn:microsoft.com/office/officeart/2018/2/layout/IconVerticalSolidList"/>
    <dgm:cxn modelId="{5C3262DE-65FB-4880-8CD3-4B8889A41755}" type="presParOf" srcId="{D2CA5311-598B-4E20-B22E-5C2DC473145A}" destId="{A8C68029-1D2D-4210-90EC-5A6F1573FC9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BE5EE0-27B3-4581-AF15-29C3E53C9A6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CBED7D5-D0F6-4039-A756-5D3695BC156D}">
      <dgm:prSet/>
      <dgm:spPr>
        <a:solidFill>
          <a:schemeClr val="bg1">
            <a:alpha val="80000"/>
          </a:schemeClr>
        </a:solidFill>
        <a:ln>
          <a:solidFill>
            <a:schemeClr val="bg1"/>
          </a:solidFill>
        </a:ln>
      </dgm:spPr>
      <dgm:t>
        <a:bodyPr/>
        <a:lstStyle/>
        <a:p>
          <a:r>
            <a:rPr lang="de-DE" b="0" i="0" dirty="0"/>
            <a:t>Speicherung großer Datenmengen</a:t>
          </a:r>
          <a:endParaRPr lang="en-US" dirty="0"/>
        </a:p>
      </dgm:t>
    </dgm:pt>
    <dgm:pt modelId="{102D20F1-BBF2-4FCA-924E-E21B7E0F2455}" type="parTrans" cxnId="{7384702A-D14A-48AA-B520-6406F8C0E29C}">
      <dgm:prSet/>
      <dgm:spPr/>
      <dgm:t>
        <a:bodyPr/>
        <a:lstStyle/>
        <a:p>
          <a:endParaRPr lang="en-US"/>
        </a:p>
      </dgm:t>
    </dgm:pt>
    <dgm:pt modelId="{4F440D08-66A1-4611-86FF-D7EAB0B3F128}" type="sibTrans" cxnId="{7384702A-D14A-48AA-B520-6406F8C0E29C}">
      <dgm:prSet/>
      <dgm:spPr/>
      <dgm:t>
        <a:bodyPr/>
        <a:lstStyle/>
        <a:p>
          <a:endParaRPr lang="en-US"/>
        </a:p>
      </dgm:t>
    </dgm:pt>
    <dgm:pt modelId="{CDA0D68D-E6B2-4396-9164-BA91B1C46FCA}">
      <dgm:prSet/>
      <dgm:spPr>
        <a:solidFill>
          <a:schemeClr val="bg1">
            <a:alpha val="80000"/>
          </a:schemeClr>
        </a:solidFill>
        <a:ln>
          <a:solidFill>
            <a:schemeClr val="bg1"/>
          </a:solidFill>
        </a:ln>
      </dgm:spPr>
      <dgm:t>
        <a:bodyPr/>
        <a:lstStyle/>
        <a:p>
          <a:r>
            <a:rPr lang="de-DE" b="0" i="0" dirty="0"/>
            <a:t>Zugriffsgeschwindigkeiten</a:t>
          </a:r>
          <a:endParaRPr lang="en-US" dirty="0"/>
        </a:p>
      </dgm:t>
    </dgm:pt>
    <dgm:pt modelId="{8B9A6FAD-B406-4BAA-A569-F851BE78F5D5}" type="parTrans" cxnId="{B9DF52CF-19BE-481F-8256-0500039C53F1}">
      <dgm:prSet/>
      <dgm:spPr/>
      <dgm:t>
        <a:bodyPr/>
        <a:lstStyle/>
        <a:p>
          <a:endParaRPr lang="en-US"/>
        </a:p>
      </dgm:t>
    </dgm:pt>
    <dgm:pt modelId="{96251BA6-FD58-45F2-8E65-ACD9EEB36348}" type="sibTrans" cxnId="{B9DF52CF-19BE-481F-8256-0500039C53F1}">
      <dgm:prSet/>
      <dgm:spPr/>
      <dgm:t>
        <a:bodyPr/>
        <a:lstStyle/>
        <a:p>
          <a:endParaRPr lang="en-US"/>
        </a:p>
      </dgm:t>
    </dgm:pt>
    <dgm:pt modelId="{AEDF2188-8799-4460-A4EE-EB68AA9C6E01}">
      <dgm:prSet/>
      <dgm:spPr>
        <a:solidFill>
          <a:schemeClr val="bg1">
            <a:alpha val="80000"/>
          </a:schemeClr>
        </a:solidFill>
        <a:ln>
          <a:solidFill>
            <a:schemeClr val="bg1"/>
          </a:solidFill>
        </a:ln>
      </dgm:spPr>
      <dgm:t>
        <a:bodyPr/>
        <a:lstStyle/>
        <a:p>
          <a:r>
            <a:rPr lang="de-DE" b="0" i="0" dirty="0"/>
            <a:t>Parallelisierung von Datenspeicherung und -zugriffen</a:t>
          </a:r>
          <a:endParaRPr lang="en-US" dirty="0"/>
        </a:p>
      </dgm:t>
    </dgm:pt>
    <dgm:pt modelId="{64AC391F-F6D3-461F-9A32-8BD4AB861D21}" type="parTrans" cxnId="{412D7852-5F46-4421-A48B-A01477A6D281}">
      <dgm:prSet/>
      <dgm:spPr/>
      <dgm:t>
        <a:bodyPr/>
        <a:lstStyle/>
        <a:p>
          <a:endParaRPr lang="en-US"/>
        </a:p>
      </dgm:t>
    </dgm:pt>
    <dgm:pt modelId="{BA50D91C-EB4B-44E5-8F66-B32C96A0FB95}" type="sibTrans" cxnId="{412D7852-5F46-4421-A48B-A01477A6D281}">
      <dgm:prSet/>
      <dgm:spPr/>
      <dgm:t>
        <a:bodyPr/>
        <a:lstStyle/>
        <a:p>
          <a:endParaRPr lang="en-US"/>
        </a:p>
      </dgm:t>
    </dgm:pt>
    <dgm:pt modelId="{6D285C52-C8E3-4440-974E-A7472C3ADBC1}">
      <dgm:prSet/>
      <dgm:spPr>
        <a:solidFill>
          <a:schemeClr val="bg1">
            <a:alpha val="80000"/>
          </a:schemeClr>
        </a:solidFill>
        <a:ln>
          <a:solidFill>
            <a:schemeClr val="bg1"/>
          </a:solidFill>
        </a:ln>
      </dgm:spPr>
      <dgm:t>
        <a:bodyPr/>
        <a:lstStyle/>
        <a:p>
          <a:r>
            <a:rPr lang="de-DE" b="0" i="0" dirty="0"/>
            <a:t>Ausfallrisiko durch viele Hardwarekomponenten</a:t>
          </a:r>
          <a:endParaRPr lang="en-US" dirty="0"/>
        </a:p>
      </dgm:t>
    </dgm:pt>
    <dgm:pt modelId="{4FCB59A6-376D-4548-80BD-FF67E0D44EFA}" type="parTrans" cxnId="{31551EC9-0340-465E-BEBF-DFC4E26B67F3}">
      <dgm:prSet/>
      <dgm:spPr/>
      <dgm:t>
        <a:bodyPr/>
        <a:lstStyle/>
        <a:p>
          <a:endParaRPr lang="en-US"/>
        </a:p>
      </dgm:t>
    </dgm:pt>
    <dgm:pt modelId="{ECD30D11-57A0-459A-95CA-6608863DD660}" type="sibTrans" cxnId="{31551EC9-0340-465E-BEBF-DFC4E26B67F3}">
      <dgm:prSet/>
      <dgm:spPr/>
      <dgm:t>
        <a:bodyPr/>
        <a:lstStyle/>
        <a:p>
          <a:endParaRPr lang="en-US"/>
        </a:p>
      </dgm:t>
    </dgm:pt>
    <dgm:pt modelId="{C47B2BF3-ADD8-4B1C-8D2F-B723DFFD2BB0}">
      <dgm:prSet/>
      <dgm:spPr>
        <a:solidFill>
          <a:schemeClr val="bg1">
            <a:alpha val="80000"/>
          </a:schemeClr>
        </a:solidFill>
        <a:ln>
          <a:solidFill>
            <a:schemeClr val="bg1"/>
          </a:solidFill>
        </a:ln>
      </dgm:spPr>
      <dgm:t>
        <a:bodyPr/>
        <a:lstStyle/>
        <a:p>
          <a:r>
            <a:rPr lang="de-DE" b="0" i="0" dirty="0"/>
            <a:t>Lösungen für Datenreplikation</a:t>
          </a:r>
          <a:endParaRPr lang="en-US" dirty="0"/>
        </a:p>
      </dgm:t>
    </dgm:pt>
    <dgm:pt modelId="{D1CC0D85-28FD-4666-B441-1A85744BE906}" type="parTrans" cxnId="{97D3CC6E-CBC0-4F17-8F82-AAC197CFE309}">
      <dgm:prSet/>
      <dgm:spPr/>
      <dgm:t>
        <a:bodyPr/>
        <a:lstStyle/>
        <a:p>
          <a:endParaRPr lang="en-US"/>
        </a:p>
      </dgm:t>
    </dgm:pt>
    <dgm:pt modelId="{3C1743FA-F26A-4258-B6BE-478269CF891D}" type="sibTrans" cxnId="{97D3CC6E-CBC0-4F17-8F82-AAC197CFE309}">
      <dgm:prSet/>
      <dgm:spPr/>
      <dgm:t>
        <a:bodyPr/>
        <a:lstStyle/>
        <a:p>
          <a:endParaRPr lang="en-US"/>
        </a:p>
      </dgm:t>
    </dgm:pt>
    <dgm:pt modelId="{27D7A474-EF74-47E9-988E-761A9D319EED}">
      <dgm:prSet/>
      <dgm:spPr>
        <a:solidFill>
          <a:schemeClr val="bg1">
            <a:alpha val="80000"/>
          </a:schemeClr>
        </a:solidFill>
        <a:ln>
          <a:solidFill>
            <a:schemeClr val="bg1"/>
          </a:solidFill>
        </a:ln>
      </dgm:spPr>
      <dgm:t>
        <a:bodyPr/>
        <a:lstStyle/>
        <a:p>
          <a:r>
            <a:rPr lang="de-DE" b="0" i="0" dirty="0"/>
            <a:t>Kombination von Daten verteilten.</a:t>
          </a:r>
          <a:endParaRPr lang="en-US" dirty="0"/>
        </a:p>
      </dgm:t>
    </dgm:pt>
    <dgm:pt modelId="{78F8CDEF-9893-440E-8CE6-FB5540A22164}" type="parTrans" cxnId="{79FCFB2B-B499-442F-9591-B5C3166300F3}">
      <dgm:prSet/>
      <dgm:spPr/>
      <dgm:t>
        <a:bodyPr/>
        <a:lstStyle/>
        <a:p>
          <a:endParaRPr lang="en-US"/>
        </a:p>
      </dgm:t>
    </dgm:pt>
    <dgm:pt modelId="{A46D145B-EC57-42EE-88A5-572AC653F572}" type="sibTrans" cxnId="{79FCFB2B-B499-442F-9591-B5C3166300F3}">
      <dgm:prSet/>
      <dgm:spPr/>
      <dgm:t>
        <a:bodyPr/>
        <a:lstStyle/>
        <a:p>
          <a:endParaRPr lang="en-US"/>
        </a:p>
      </dgm:t>
    </dgm:pt>
    <dgm:pt modelId="{F29A1884-384A-4F47-8647-19A17C1391D5}" type="pres">
      <dgm:prSet presAssocID="{F4BE5EE0-27B3-4581-AF15-29C3E53C9A60}" presName="diagram" presStyleCnt="0">
        <dgm:presLayoutVars>
          <dgm:dir/>
          <dgm:resizeHandles val="exact"/>
        </dgm:presLayoutVars>
      </dgm:prSet>
      <dgm:spPr/>
    </dgm:pt>
    <dgm:pt modelId="{4259B11C-0DC4-4048-9802-4C747DC98CA6}" type="pres">
      <dgm:prSet presAssocID="{4CBED7D5-D0F6-4039-A756-5D3695BC156D}" presName="node" presStyleLbl="node1" presStyleIdx="0" presStyleCnt="6" custLinFactNeighborX="-560" custLinFactNeighborY="48">
        <dgm:presLayoutVars>
          <dgm:bulletEnabled val="1"/>
        </dgm:presLayoutVars>
      </dgm:prSet>
      <dgm:spPr>
        <a:prstGeom prst="roundRect">
          <a:avLst/>
        </a:prstGeom>
      </dgm:spPr>
    </dgm:pt>
    <dgm:pt modelId="{4726A65E-E553-4842-A08C-B070D47AA9BF}" type="pres">
      <dgm:prSet presAssocID="{4F440D08-66A1-4611-86FF-D7EAB0B3F128}" presName="sibTrans" presStyleCnt="0"/>
      <dgm:spPr/>
    </dgm:pt>
    <dgm:pt modelId="{4D3E86EB-B179-431C-BB36-1DF934C94A0C}" type="pres">
      <dgm:prSet presAssocID="{CDA0D68D-E6B2-4396-9164-BA91B1C46FCA}" presName="node" presStyleLbl="node1" presStyleIdx="1" presStyleCnt="6" custLinFactNeighborX="-560" custLinFactNeighborY="48">
        <dgm:presLayoutVars>
          <dgm:bulletEnabled val="1"/>
        </dgm:presLayoutVars>
      </dgm:prSet>
      <dgm:spPr>
        <a:prstGeom prst="roundRect">
          <a:avLst/>
        </a:prstGeom>
      </dgm:spPr>
    </dgm:pt>
    <dgm:pt modelId="{AE944317-F958-4D39-A039-8687FA3BA261}" type="pres">
      <dgm:prSet presAssocID="{96251BA6-FD58-45F2-8E65-ACD9EEB36348}" presName="sibTrans" presStyleCnt="0"/>
      <dgm:spPr/>
    </dgm:pt>
    <dgm:pt modelId="{42F5EDA8-870A-44E0-A274-9D0D82DF68B1}" type="pres">
      <dgm:prSet presAssocID="{AEDF2188-8799-4460-A4EE-EB68AA9C6E01}" presName="node" presStyleLbl="node1" presStyleIdx="2" presStyleCnt="6" custLinFactNeighborX="337" custLinFactNeighborY="-48">
        <dgm:presLayoutVars>
          <dgm:bulletEnabled val="1"/>
        </dgm:presLayoutVars>
      </dgm:prSet>
      <dgm:spPr>
        <a:prstGeom prst="roundRect">
          <a:avLst/>
        </a:prstGeom>
      </dgm:spPr>
    </dgm:pt>
    <dgm:pt modelId="{E5441B64-08ED-40AF-B213-81113243F3E6}" type="pres">
      <dgm:prSet presAssocID="{BA50D91C-EB4B-44E5-8F66-B32C96A0FB95}" presName="sibTrans" presStyleCnt="0"/>
      <dgm:spPr/>
    </dgm:pt>
    <dgm:pt modelId="{A37771EF-E8B7-471D-A6C8-77A6BF9D6872}" type="pres">
      <dgm:prSet presAssocID="{6D285C52-C8E3-4440-974E-A7472C3ADBC1}" presName="node" presStyleLbl="node1" presStyleIdx="3" presStyleCnt="6" custLinFactNeighborX="-560" custLinFactNeighborY="48">
        <dgm:presLayoutVars>
          <dgm:bulletEnabled val="1"/>
        </dgm:presLayoutVars>
      </dgm:prSet>
      <dgm:spPr>
        <a:prstGeom prst="roundRect">
          <a:avLst/>
        </a:prstGeom>
      </dgm:spPr>
    </dgm:pt>
    <dgm:pt modelId="{2F9FBCD9-4825-4331-87F4-EB10CB1D5553}" type="pres">
      <dgm:prSet presAssocID="{ECD30D11-57A0-459A-95CA-6608863DD660}" presName="sibTrans" presStyleCnt="0"/>
      <dgm:spPr/>
    </dgm:pt>
    <dgm:pt modelId="{13A4A04A-A253-4D31-AFEE-3D448569A864}" type="pres">
      <dgm:prSet presAssocID="{C47B2BF3-ADD8-4B1C-8D2F-B723DFFD2BB0}" presName="node" presStyleLbl="node1" presStyleIdx="4" presStyleCnt="6" custLinFactNeighborX="-502" custLinFactNeighborY="48">
        <dgm:presLayoutVars>
          <dgm:bulletEnabled val="1"/>
        </dgm:presLayoutVars>
      </dgm:prSet>
      <dgm:spPr>
        <a:prstGeom prst="roundRect">
          <a:avLst/>
        </a:prstGeom>
      </dgm:spPr>
    </dgm:pt>
    <dgm:pt modelId="{C3F7B890-7B8E-4D1E-9449-D43402516779}" type="pres">
      <dgm:prSet presAssocID="{3C1743FA-F26A-4258-B6BE-478269CF891D}" presName="sibTrans" presStyleCnt="0"/>
      <dgm:spPr/>
    </dgm:pt>
    <dgm:pt modelId="{D0E3740E-5F94-4EA0-9834-2D1171C670C9}" type="pres">
      <dgm:prSet presAssocID="{27D7A474-EF74-47E9-988E-761A9D319EED}" presName="node" presStyleLbl="node1" presStyleIdx="5" presStyleCnt="6" custLinFactNeighborX="-502" custLinFactNeighborY="48">
        <dgm:presLayoutVars>
          <dgm:bulletEnabled val="1"/>
        </dgm:presLayoutVars>
      </dgm:prSet>
      <dgm:spPr>
        <a:prstGeom prst="roundRect">
          <a:avLst/>
        </a:prstGeom>
      </dgm:spPr>
    </dgm:pt>
  </dgm:ptLst>
  <dgm:cxnLst>
    <dgm:cxn modelId="{E6B34E0D-7085-4B79-984F-125EDF963B29}" type="presOf" srcId="{AEDF2188-8799-4460-A4EE-EB68AA9C6E01}" destId="{42F5EDA8-870A-44E0-A274-9D0D82DF68B1}" srcOrd="0" destOrd="0" presId="urn:microsoft.com/office/officeart/2005/8/layout/default"/>
    <dgm:cxn modelId="{7384702A-D14A-48AA-B520-6406F8C0E29C}" srcId="{F4BE5EE0-27B3-4581-AF15-29C3E53C9A60}" destId="{4CBED7D5-D0F6-4039-A756-5D3695BC156D}" srcOrd="0" destOrd="0" parTransId="{102D20F1-BBF2-4FCA-924E-E21B7E0F2455}" sibTransId="{4F440D08-66A1-4611-86FF-D7EAB0B3F128}"/>
    <dgm:cxn modelId="{79FCFB2B-B499-442F-9591-B5C3166300F3}" srcId="{F4BE5EE0-27B3-4581-AF15-29C3E53C9A60}" destId="{27D7A474-EF74-47E9-988E-761A9D319EED}" srcOrd="5" destOrd="0" parTransId="{78F8CDEF-9893-440E-8CE6-FB5540A22164}" sibTransId="{A46D145B-EC57-42EE-88A5-572AC653F572}"/>
    <dgm:cxn modelId="{97D3CC6E-CBC0-4F17-8F82-AAC197CFE309}" srcId="{F4BE5EE0-27B3-4581-AF15-29C3E53C9A60}" destId="{C47B2BF3-ADD8-4B1C-8D2F-B723DFFD2BB0}" srcOrd="4" destOrd="0" parTransId="{D1CC0D85-28FD-4666-B441-1A85744BE906}" sibTransId="{3C1743FA-F26A-4258-B6BE-478269CF891D}"/>
    <dgm:cxn modelId="{412D7852-5F46-4421-A48B-A01477A6D281}" srcId="{F4BE5EE0-27B3-4581-AF15-29C3E53C9A60}" destId="{AEDF2188-8799-4460-A4EE-EB68AA9C6E01}" srcOrd="2" destOrd="0" parTransId="{64AC391F-F6D3-461F-9A32-8BD4AB861D21}" sibTransId="{BA50D91C-EB4B-44E5-8F66-B32C96A0FB95}"/>
    <dgm:cxn modelId="{852BB7A2-677D-48F8-849A-43C7B92C6D5A}" type="presOf" srcId="{27D7A474-EF74-47E9-988E-761A9D319EED}" destId="{D0E3740E-5F94-4EA0-9834-2D1171C670C9}" srcOrd="0" destOrd="0" presId="urn:microsoft.com/office/officeart/2005/8/layout/default"/>
    <dgm:cxn modelId="{48C3C0A4-C50F-4481-9D4A-66D73F49FB53}" type="presOf" srcId="{4CBED7D5-D0F6-4039-A756-5D3695BC156D}" destId="{4259B11C-0DC4-4048-9802-4C747DC98CA6}" srcOrd="0" destOrd="0" presId="urn:microsoft.com/office/officeart/2005/8/layout/default"/>
    <dgm:cxn modelId="{7C634ABA-4F37-4C65-A1B6-3632A15C882B}" type="presOf" srcId="{6D285C52-C8E3-4440-974E-A7472C3ADBC1}" destId="{A37771EF-E8B7-471D-A6C8-77A6BF9D6872}" srcOrd="0" destOrd="0" presId="urn:microsoft.com/office/officeart/2005/8/layout/default"/>
    <dgm:cxn modelId="{8B939FC7-E08A-4063-83F6-865DAC68E1F1}" type="presOf" srcId="{CDA0D68D-E6B2-4396-9164-BA91B1C46FCA}" destId="{4D3E86EB-B179-431C-BB36-1DF934C94A0C}" srcOrd="0" destOrd="0" presId="urn:microsoft.com/office/officeart/2005/8/layout/default"/>
    <dgm:cxn modelId="{31551EC9-0340-465E-BEBF-DFC4E26B67F3}" srcId="{F4BE5EE0-27B3-4581-AF15-29C3E53C9A60}" destId="{6D285C52-C8E3-4440-974E-A7472C3ADBC1}" srcOrd="3" destOrd="0" parTransId="{4FCB59A6-376D-4548-80BD-FF67E0D44EFA}" sibTransId="{ECD30D11-57A0-459A-95CA-6608863DD660}"/>
    <dgm:cxn modelId="{B9DF52CF-19BE-481F-8256-0500039C53F1}" srcId="{F4BE5EE0-27B3-4581-AF15-29C3E53C9A60}" destId="{CDA0D68D-E6B2-4396-9164-BA91B1C46FCA}" srcOrd="1" destOrd="0" parTransId="{8B9A6FAD-B406-4BAA-A569-F851BE78F5D5}" sibTransId="{96251BA6-FD58-45F2-8E65-ACD9EEB36348}"/>
    <dgm:cxn modelId="{73DBB6E0-2C32-45A8-8D0B-0ACC7D972C60}" type="presOf" srcId="{F4BE5EE0-27B3-4581-AF15-29C3E53C9A60}" destId="{F29A1884-384A-4F47-8647-19A17C1391D5}" srcOrd="0" destOrd="0" presId="urn:microsoft.com/office/officeart/2005/8/layout/default"/>
    <dgm:cxn modelId="{5876CDE0-9882-433C-ACB7-7604C0809FEC}" type="presOf" srcId="{C47B2BF3-ADD8-4B1C-8D2F-B723DFFD2BB0}" destId="{13A4A04A-A253-4D31-AFEE-3D448569A864}" srcOrd="0" destOrd="0" presId="urn:microsoft.com/office/officeart/2005/8/layout/default"/>
    <dgm:cxn modelId="{A60D37EB-8C52-48DC-AB70-7B03CBA31D09}" type="presParOf" srcId="{F29A1884-384A-4F47-8647-19A17C1391D5}" destId="{4259B11C-0DC4-4048-9802-4C747DC98CA6}" srcOrd="0" destOrd="0" presId="urn:microsoft.com/office/officeart/2005/8/layout/default"/>
    <dgm:cxn modelId="{DE7E000F-F84C-4D2F-9B75-FC98A13A5F7F}" type="presParOf" srcId="{F29A1884-384A-4F47-8647-19A17C1391D5}" destId="{4726A65E-E553-4842-A08C-B070D47AA9BF}" srcOrd="1" destOrd="0" presId="urn:microsoft.com/office/officeart/2005/8/layout/default"/>
    <dgm:cxn modelId="{BECCBF0A-67FC-4955-BEA8-15E0641961D4}" type="presParOf" srcId="{F29A1884-384A-4F47-8647-19A17C1391D5}" destId="{4D3E86EB-B179-431C-BB36-1DF934C94A0C}" srcOrd="2" destOrd="0" presId="urn:microsoft.com/office/officeart/2005/8/layout/default"/>
    <dgm:cxn modelId="{30393709-4436-49E1-8241-13FCB72E78ED}" type="presParOf" srcId="{F29A1884-384A-4F47-8647-19A17C1391D5}" destId="{AE944317-F958-4D39-A039-8687FA3BA261}" srcOrd="3" destOrd="0" presId="urn:microsoft.com/office/officeart/2005/8/layout/default"/>
    <dgm:cxn modelId="{21421FE1-57DE-4C3B-8E0F-C55A2E879DEE}" type="presParOf" srcId="{F29A1884-384A-4F47-8647-19A17C1391D5}" destId="{42F5EDA8-870A-44E0-A274-9D0D82DF68B1}" srcOrd="4" destOrd="0" presId="urn:microsoft.com/office/officeart/2005/8/layout/default"/>
    <dgm:cxn modelId="{BFC2E6E5-8116-4ADD-BD7F-89EEC0108832}" type="presParOf" srcId="{F29A1884-384A-4F47-8647-19A17C1391D5}" destId="{E5441B64-08ED-40AF-B213-81113243F3E6}" srcOrd="5" destOrd="0" presId="urn:microsoft.com/office/officeart/2005/8/layout/default"/>
    <dgm:cxn modelId="{1A6D8ABF-7AB5-4578-8C28-32F00AB6D6DE}" type="presParOf" srcId="{F29A1884-384A-4F47-8647-19A17C1391D5}" destId="{A37771EF-E8B7-471D-A6C8-77A6BF9D6872}" srcOrd="6" destOrd="0" presId="urn:microsoft.com/office/officeart/2005/8/layout/default"/>
    <dgm:cxn modelId="{9881B0AF-1F96-4FA7-A288-FA331D45F74D}" type="presParOf" srcId="{F29A1884-384A-4F47-8647-19A17C1391D5}" destId="{2F9FBCD9-4825-4331-87F4-EB10CB1D5553}" srcOrd="7" destOrd="0" presId="urn:microsoft.com/office/officeart/2005/8/layout/default"/>
    <dgm:cxn modelId="{1C673925-9C11-4AE9-8732-A428EF22866D}" type="presParOf" srcId="{F29A1884-384A-4F47-8647-19A17C1391D5}" destId="{13A4A04A-A253-4D31-AFEE-3D448569A864}" srcOrd="8" destOrd="0" presId="urn:microsoft.com/office/officeart/2005/8/layout/default"/>
    <dgm:cxn modelId="{9EA5D9A6-E319-44AA-A900-0536124CC6DF}" type="presParOf" srcId="{F29A1884-384A-4F47-8647-19A17C1391D5}" destId="{C3F7B890-7B8E-4D1E-9449-D43402516779}" srcOrd="9" destOrd="0" presId="urn:microsoft.com/office/officeart/2005/8/layout/default"/>
    <dgm:cxn modelId="{AD0984F9-53C3-4433-BAD8-0977D64D9D68}" type="presParOf" srcId="{F29A1884-384A-4F47-8647-19A17C1391D5}" destId="{D0E3740E-5F94-4EA0-9834-2D1171C670C9}"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9A32984-5676-4294-A6D8-16C1D026B335}"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de-DE"/>
        </a:p>
      </dgm:t>
    </dgm:pt>
    <dgm:pt modelId="{D44F1E7B-4451-4651-ADC0-DB235E54D250}">
      <dgm:prSet/>
      <dgm:spPr>
        <a:solidFill>
          <a:schemeClr val="bg1"/>
        </a:solidFill>
        <a:ln>
          <a:solidFill>
            <a:schemeClr val="bg1"/>
          </a:solidFill>
        </a:ln>
      </dgm:spPr>
      <dgm:t>
        <a:bodyPr/>
        <a:lstStyle/>
        <a:p>
          <a:r>
            <a:rPr lang="de-DE" dirty="0"/>
            <a:t>Client öffnet die zu lesende Datei mittels open() auf dem Distributed File System </a:t>
          </a:r>
        </a:p>
      </dgm:t>
    </dgm:pt>
    <dgm:pt modelId="{D3C59AE5-978E-4578-99F4-4F5AAF7C1329}" type="parTrans" cxnId="{5011D538-ABE2-4BCE-A2E9-58059CCD4342}">
      <dgm:prSet/>
      <dgm:spPr/>
      <dgm:t>
        <a:bodyPr/>
        <a:lstStyle/>
        <a:p>
          <a:endParaRPr lang="de-DE"/>
        </a:p>
      </dgm:t>
    </dgm:pt>
    <dgm:pt modelId="{99707CD4-0A55-4081-8AEF-26091CC98E55}" type="sibTrans" cxnId="{5011D538-ABE2-4BCE-A2E9-58059CCD4342}">
      <dgm:prSet/>
      <dgm:spPr>
        <a:solidFill>
          <a:schemeClr val="tx1">
            <a:lumMod val="95000"/>
          </a:schemeClr>
        </a:solidFill>
      </dgm:spPr>
      <dgm:t>
        <a:bodyPr/>
        <a:lstStyle/>
        <a:p>
          <a:endParaRPr lang="de-DE"/>
        </a:p>
      </dgm:t>
    </dgm:pt>
    <dgm:pt modelId="{CBE06459-6E9B-40FF-A30C-72FD7A824ED6}">
      <dgm:prSet/>
      <dgm:spPr>
        <a:solidFill>
          <a:schemeClr val="bg1"/>
        </a:solidFill>
        <a:ln>
          <a:solidFill>
            <a:schemeClr val="bg1"/>
          </a:solidFill>
        </a:ln>
      </dgm:spPr>
      <dgm:t>
        <a:bodyPr/>
        <a:lstStyle/>
        <a:p>
          <a:r>
            <a:rPr lang="de-DE" dirty="0"/>
            <a:t>DFS bestimmt </a:t>
          </a:r>
          <a:r>
            <a:rPr lang="de-DE" dirty="0" err="1"/>
            <a:t>Datanodes</a:t>
          </a:r>
          <a:r>
            <a:rPr lang="de-DE" dirty="0"/>
            <a:t> mit </a:t>
          </a:r>
          <a:r>
            <a:rPr lang="de-DE" dirty="0" err="1"/>
            <a:t>Namenode</a:t>
          </a:r>
          <a:r>
            <a:rPr lang="de-DE" dirty="0"/>
            <a:t> und gibt ein </a:t>
          </a:r>
          <a:r>
            <a:rPr lang="de-DE" dirty="0" err="1"/>
            <a:t>FSDataInputStream</a:t>
          </a:r>
          <a:r>
            <a:rPr lang="de-DE" dirty="0"/>
            <a:t> an den Client zurück.</a:t>
          </a:r>
        </a:p>
      </dgm:t>
    </dgm:pt>
    <dgm:pt modelId="{83DFAC49-17F9-4A92-A193-65E186A0F2D0}" type="parTrans" cxnId="{7A40F3C3-E8C8-4FFE-863E-CC69A1EEB045}">
      <dgm:prSet/>
      <dgm:spPr/>
      <dgm:t>
        <a:bodyPr/>
        <a:lstStyle/>
        <a:p>
          <a:endParaRPr lang="de-DE"/>
        </a:p>
      </dgm:t>
    </dgm:pt>
    <dgm:pt modelId="{25E6CCBE-BDF7-483C-9A8E-DE366AD9D907}" type="sibTrans" cxnId="{7A40F3C3-E8C8-4FFE-863E-CC69A1EEB045}">
      <dgm:prSet/>
      <dgm:spPr>
        <a:solidFill>
          <a:schemeClr val="tx1">
            <a:lumMod val="95000"/>
          </a:schemeClr>
        </a:solidFill>
      </dgm:spPr>
      <dgm:t>
        <a:bodyPr/>
        <a:lstStyle/>
        <a:p>
          <a:endParaRPr lang="de-DE"/>
        </a:p>
      </dgm:t>
    </dgm:pt>
    <dgm:pt modelId="{241C054C-2FA7-4D52-918D-37AC9C0C087A}">
      <dgm:prSet/>
      <dgm:spPr>
        <a:solidFill>
          <a:schemeClr val="bg1"/>
        </a:solidFill>
        <a:ln>
          <a:solidFill>
            <a:schemeClr val="bg1"/>
          </a:solidFill>
        </a:ln>
      </dgm:spPr>
      <dgm:t>
        <a:bodyPr/>
        <a:lstStyle/>
        <a:p>
          <a:r>
            <a:rPr lang="de-DE" dirty="0"/>
            <a:t>Client ruft read() auf dem Stream auf, wobei das </a:t>
          </a:r>
          <a:r>
            <a:rPr lang="de-DE" dirty="0" err="1"/>
            <a:t>DFSInputStream</a:t>
          </a:r>
          <a:r>
            <a:rPr lang="de-DE" dirty="0"/>
            <a:t> eine Verbindung zum ersten Datenknoten herstellt.</a:t>
          </a:r>
        </a:p>
      </dgm:t>
    </dgm:pt>
    <dgm:pt modelId="{7AD2FA26-2D22-4937-98E4-C99C9E4B1EE0}" type="parTrans" cxnId="{D2EAF996-1F64-456B-88F5-A1424A47B427}">
      <dgm:prSet/>
      <dgm:spPr/>
      <dgm:t>
        <a:bodyPr/>
        <a:lstStyle/>
        <a:p>
          <a:endParaRPr lang="de-DE"/>
        </a:p>
      </dgm:t>
    </dgm:pt>
    <dgm:pt modelId="{6E8CA3F5-AC47-4EB4-92BE-7DC92FE8BDF5}" type="sibTrans" cxnId="{D2EAF996-1F64-456B-88F5-A1424A47B427}">
      <dgm:prSet/>
      <dgm:spPr>
        <a:solidFill>
          <a:schemeClr val="tx1">
            <a:lumMod val="95000"/>
          </a:schemeClr>
        </a:solidFill>
      </dgm:spPr>
      <dgm:t>
        <a:bodyPr/>
        <a:lstStyle/>
        <a:p>
          <a:endParaRPr lang="de-DE"/>
        </a:p>
      </dgm:t>
    </dgm:pt>
    <dgm:pt modelId="{4F2AFC50-FFDC-4B5A-9D04-AF90DD0EBF40}">
      <dgm:prSet/>
      <dgm:spPr>
        <a:solidFill>
          <a:schemeClr val="bg1"/>
        </a:solidFill>
        <a:ln>
          <a:solidFill>
            <a:schemeClr val="bg1"/>
          </a:solidFill>
        </a:ln>
      </dgm:spPr>
      <dgm:t>
        <a:bodyPr/>
        <a:lstStyle/>
        <a:p>
          <a:r>
            <a:rPr lang="de-DE" dirty="0"/>
            <a:t>Daten werden vom Datenknoten zum Client gestreamt.</a:t>
          </a:r>
        </a:p>
      </dgm:t>
    </dgm:pt>
    <dgm:pt modelId="{2D575651-638A-4F62-B344-A9B0512D3A15}" type="parTrans" cxnId="{3304EA1E-E529-4D6D-BBFD-E54D56FD50A8}">
      <dgm:prSet/>
      <dgm:spPr/>
      <dgm:t>
        <a:bodyPr/>
        <a:lstStyle/>
        <a:p>
          <a:endParaRPr lang="de-DE"/>
        </a:p>
      </dgm:t>
    </dgm:pt>
    <dgm:pt modelId="{8A8214EF-77FD-409D-AF96-03914790FC59}" type="sibTrans" cxnId="{3304EA1E-E529-4D6D-BBFD-E54D56FD50A8}">
      <dgm:prSet/>
      <dgm:spPr>
        <a:solidFill>
          <a:schemeClr val="tx1">
            <a:lumMod val="95000"/>
          </a:schemeClr>
        </a:solidFill>
      </dgm:spPr>
      <dgm:t>
        <a:bodyPr/>
        <a:lstStyle/>
        <a:p>
          <a:endParaRPr lang="de-DE"/>
        </a:p>
      </dgm:t>
    </dgm:pt>
    <dgm:pt modelId="{744BFD85-3301-471C-BD17-F823472E21F6}">
      <dgm:prSet/>
      <dgm:spPr>
        <a:solidFill>
          <a:schemeClr val="bg1"/>
        </a:solidFill>
        <a:ln>
          <a:solidFill>
            <a:schemeClr val="bg1"/>
          </a:solidFill>
        </a:ln>
      </dgm:spPr>
      <dgm:t>
        <a:bodyPr/>
        <a:lstStyle/>
        <a:p>
          <a:r>
            <a:rPr lang="de-DE" dirty="0"/>
            <a:t>Blockende: </a:t>
          </a:r>
          <a:r>
            <a:rPr lang="de-DE" dirty="0" err="1"/>
            <a:t>DFSInputStream</a:t>
          </a:r>
          <a:r>
            <a:rPr lang="de-DE" dirty="0"/>
            <a:t> schließt die Verbindung und sucht den nächsten Datenknoten. </a:t>
          </a:r>
        </a:p>
      </dgm:t>
    </dgm:pt>
    <dgm:pt modelId="{5FCB0A06-7A31-4705-83E0-49EAE6F66A61}" type="parTrans" cxnId="{39FAFBCD-71DB-4209-96FF-795C8AC38A45}">
      <dgm:prSet/>
      <dgm:spPr/>
      <dgm:t>
        <a:bodyPr/>
        <a:lstStyle/>
        <a:p>
          <a:endParaRPr lang="de-DE"/>
        </a:p>
      </dgm:t>
    </dgm:pt>
    <dgm:pt modelId="{477864F9-971B-495D-9446-1480CF5B2F95}" type="sibTrans" cxnId="{39FAFBCD-71DB-4209-96FF-795C8AC38A45}">
      <dgm:prSet/>
      <dgm:spPr>
        <a:solidFill>
          <a:schemeClr val="tx1">
            <a:lumMod val="95000"/>
          </a:schemeClr>
        </a:solidFill>
      </dgm:spPr>
      <dgm:t>
        <a:bodyPr/>
        <a:lstStyle/>
        <a:p>
          <a:endParaRPr lang="de-DE"/>
        </a:p>
      </dgm:t>
    </dgm:pt>
    <dgm:pt modelId="{54E78016-A73F-4012-A8E0-178DD8FA9F47}">
      <dgm:prSet/>
      <dgm:spPr>
        <a:solidFill>
          <a:schemeClr val="bg1"/>
        </a:solidFill>
        <a:ln>
          <a:solidFill>
            <a:schemeClr val="bg1"/>
          </a:solidFill>
        </a:ln>
      </dgm:spPr>
      <dgm:t>
        <a:bodyPr/>
        <a:lstStyle/>
        <a:p>
          <a:r>
            <a:rPr lang="de-DE" dirty="0"/>
            <a:t>Der Client ruft </a:t>
          </a:r>
          <a:r>
            <a:rPr lang="de-DE" dirty="0" err="1"/>
            <a:t>close</a:t>
          </a:r>
          <a:r>
            <a:rPr lang="de-DE" dirty="0"/>
            <a:t>() auf dem </a:t>
          </a:r>
          <a:r>
            <a:rPr lang="de-DE" dirty="0" err="1"/>
            <a:t>FSDataInputStream</a:t>
          </a:r>
          <a:r>
            <a:rPr lang="de-DE" dirty="0"/>
            <a:t> auf.</a:t>
          </a:r>
        </a:p>
      </dgm:t>
    </dgm:pt>
    <dgm:pt modelId="{E0566439-D880-427C-B54F-74B4436B6A64}" type="parTrans" cxnId="{CE2BDD3E-094F-46DE-8663-061BA39DE0CE}">
      <dgm:prSet/>
      <dgm:spPr/>
      <dgm:t>
        <a:bodyPr/>
        <a:lstStyle/>
        <a:p>
          <a:endParaRPr lang="de-DE"/>
        </a:p>
      </dgm:t>
    </dgm:pt>
    <dgm:pt modelId="{45303BA2-8D20-4E5B-829B-B808F496419B}" type="sibTrans" cxnId="{CE2BDD3E-094F-46DE-8663-061BA39DE0CE}">
      <dgm:prSet/>
      <dgm:spPr/>
      <dgm:t>
        <a:bodyPr/>
        <a:lstStyle/>
        <a:p>
          <a:endParaRPr lang="de-DE"/>
        </a:p>
      </dgm:t>
    </dgm:pt>
    <dgm:pt modelId="{FA09B552-3A85-4232-B6FF-DF3563A1DFF6}" type="pres">
      <dgm:prSet presAssocID="{A9A32984-5676-4294-A6D8-16C1D026B335}" presName="Name0" presStyleCnt="0">
        <dgm:presLayoutVars>
          <dgm:dir/>
          <dgm:resizeHandles/>
        </dgm:presLayoutVars>
      </dgm:prSet>
      <dgm:spPr/>
    </dgm:pt>
    <dgm:pt modelId="{8245156E-2838-4C00-9BE7-A26568950597}" type="pres">
      <dgm:prSet presAssocID="{D44F1E7B-4451-4651-ADC0-DB235E54D250}" presName="compNode" presStyleCnt="0"/>
      <dgm:spPr/>
    </dgm:pt>
    <dgm:pt modelId="{9C22C2D5-511F-4D31-B63B-27766FAE3989}" type="pres">
      <dgm:prSet presAssocID="{D44F1E7B-4451-4651-ADC0-DB235E54D250}" presName="dummyConnPt" presStyleCnt="0"/>
      <dgm:spPr/>
    </dgm:pt>
    <dgm:pt modelId="{E90CD8FC-D4B2-424C-A890-032E2DBBA110}" type="pres">
      <dgm:prSet presAssocID="{D44F1E7B-4451-4651-ADC0-DB235E54D250}" presName="node" presStyleLbl="node1" presStyleIdx="0" presStyleCnt="6">
        <dgm:presLayoutVars>
          <dgm:bulletEnabled val="1"/>
        </dgm:presLayoutVars>
      </dgm:prSet>
      <dgm:spPr/>
    </dgm:pt>
    <dgm:pt modelId="{8AC4BAB0-D815-46D2-814C-7AA96B054B4B}" type="pres">
      <dgm:prSet presAssocID="{99707CD4-0A55-4081-8AEF-26091CC98E55}" presName="sibTrans" presStyleLbl="bgSibTrans2D1" presStyleIdx="0" presStyleCnt="5"/>
      <dgm:spPr/>
    </dgm:pt>
    <dgm:pt modelId="{83B889F4-2307-4D25-A57D-D1E5ED6EA823}" type="pres">
      <dgm:prSet presAssocID="{CBE06459-6E9B-40FF-A30C-72FD7A824ED6}" presName="compNode" presStyleCnt="0"/>
      <dgm:spPr/>
    </dgm:pt>
    <dgm:pt modelId="{A799A9A1-6CDA-4811-A1F1-60559FDF3158}" type="pres">
      <dgm:prSet presAssocID="{CBE06459-6E9B-40FF-A30C-72FD7A824ED6}" presName="dummyConnPt" presStyleCnt="0"/>
      <dgm:spPr/>
    </dgm:pt>
    <dgm:pt modelId="{F2AF9DBE-E481-4C2C-A2FE-10F2ED1DACE0}" type="pres">
      <dgm:prSet presAssocID="{CBE06459-6E9B-40FF-A30C-72FD7A824ED6}" presName="node" presStyleLbl="node1" presStyleIdx="1" presStyleCnt="6">
        <dgm:presLayoutVars>
          <dgm:bulletEnabled val="1"/>
        </dgm:presLayoutVars>
      </dgm:prSet>
      <dgm:spPr/>
    </dgm:pt>
    <dgm:pt modelId="{97D6EA4C-E7F8-4D2C-8992-7C889F27295F}" type="pres">
      <dgm:prSet presAssocID="{25E6CCBE-BDF7-483C-9A8E-DE366AD9D907}" presName="sibTrans" presStyleLbl="bgSibTrans2D1" presStyleIdx="1" presStyleCnt="5"/>
      <dgm:spPr/>
    </dgm:pt>
    <dgm:pt modelId="{F6BEB952-39C2-41DF-AF7A-9AC9EA1BF156}" type="pres">
      <dgm:prSet presAssocID="{241C054C-2FA7-4D52-918D-37AC9C0C087A}" presName="compNode" presStyleCnt="0"/>
      <dgm:spPr/>
    </dgm:pt>
    <dgm:pt modelId="{9155E0B1-BC08-407C-9A83-EA0F7BC3CDD1}" type="pres">
      <dgm:prSet presAssocID="{241C054C-2FA7-4D52-918D-37AC9C0C087A}" presName="dummyConnPt" presStyleCnt="0"/>
      <dgm:spPr/>
    </dgm:pt>
    <dgm:pt modelId="{36B498EE-6CDE-4612-871C-D50420B9C640}" type="pres">
      <dgm:prSet presAssocID="{241C054C-2FA7-4D52-918D-37AC9C0C087A}" presName="node" presStyleLbl="node1" presStyleIdx="2" presStyleCnt="6">
        <dgm:presLayoutVars>
          <dgm:bulletEnabled val="1"/>
        </dgm:presLayoutVars>
      </dgm:prSet>
      <dgm:spPr/>
    </dgm:pt>
    <dgm:pt modelId="{A19E34F5-90F2-4A17-9EC7-5C82EC9E6131}" type="pres">
      <dgm:prSet presAssocID="{6E8CA3F5-AC47-4EB4-92BE-7DC92FE8BDF5}" presName="sibTrans" presStyleLbl="bgSibTrans2D1" presStyleIdx="2" presStyleCnt="5"/>
      <dgm:spPr/>
    </dgm:pt>
    <dgm:pt modelId="{1FE76F4F-51AC-42FE-8B03-D332611455A3}" type="pres">
      <dgm:prSet presAssocID="{4F2AFC50-FFDC-4B5A-9D04-AF90DD0EBF40}" presName="compNode" presStyleCnt="0"/>
      <dgm:spPr/>
    </dgm:pt>
    <dgm:pt modelId="{A8B0ED90-A9CC-43EF-BC22-35845BCC7060}" type="pres">
      <dgm:prSet presAssocID="{4F2AFC50-FFDC-4B5A-9D04-AF90DD0EBF40}" presName="dummyConnPt" presStyleCnt="0"/>
      <dgm:spPr/>
    </dgm:pt>
    <dgm:pt modelId="{FE7B112F-EFCC-40F5-9DF1-0189AAF05AE2}" type="pres">
      <dgm:prSet presAssocID="{4F2AFC50-FFDC-4B5A-9D04-AF90DD0EBF40}" presName="node" presStyleLbl="node1" presStyleIdx="3" presStyleCnt="6">
        <dgm:presLayoutVars>
          <dgm:bulletEnabled val="1"/>
        </dgm:presLayoutVars>
      </dgm:prSet>
      <dgm:spPr/>
    </dgm:pt>
    <dgm:pt modelId="{8CD92F4B-4AF3-4DA5-AD96-8D7B9376D24E}" type="pres">
      <dgm:prSet presAssocID="{8A8214EF-77FD-409D-AF96-03914790FC59}" presName="sibTrans" presStyleLbl="bgSibTrans2D1" presStyleIdx="3" presStyleCnt="5"/>
      <dgm:spPr/>
    </dgm:pt>
    <dgm:pt modelId="{A241F9A5-E02B-454B-A13F-A496BD905328}" type="pres">
      <dgm:prSet presAssocID="{744BFD85-3301-471C-BD17-F823472E21F6}" presName="compNode" presStyleCnt="0"/>
      <dgm:spPr/>
    </dgm:pt>
    <dgm:pt modelId="{121924D8-9D20-41E2-A8A6-1C6E07B60F5C}" type="pres">
      <dgm:prSet presAssocID="{744BFD85-3301-471C-BD17-F823472E21F6}" presName="dummyConnPt" presStyleCnt="0"/>
      <dgm:spPr/>
    </dgm:pt>
    <dgm:pt modelId="{703D7EAE-4CB9-448D-8337-3D650A7EAF97}" type="pres">
      <dgm:prSet presAssocID="{744BFD85-3301-471C-BD17-F823472E21F6}" presName="node" presStyleLbl="node1" presStyleIdx="4" presStyleCnt="6">
        <dgm:presLayoutVars>
          <dgm:bulletEnabled val="1"/>
        </dgm:presLayoutVars>
      </dgm:prSet>
      <dgm:spPr/>
    </dgm:pt>
    <dgm:pt modelId="{6A5AEEFD-4F65-4B6A-B15C-5F4AA49A6660}" type="pres">
      <dgm:prSet presAssocID="{477864F9-971B-495D-9446-1480CF5B2F95}" presName="sibTrans" presStyleLbl="bgSibTrans2D1" presStyleIdx="4" presStyleCnt="5"/>
      <dgm:spPr/>
    </dgm:pt>
    <dgm:pt modelId="{61DCEA73-1890-47CD-9CF1-8E3121B8DFB7}" type="pres">
      <dgm:prSet presAssocID="{54E78016-A73F-4012-A8E0-178DD8FA9F47}" presName="compNode" presStyleCnt="0"/>
      <dgm:spPr/>
    </dgm:pt>
    <dgm:pt modelId="{C5C1243D-6A2A-470A-B407-8FE1E4ACB644}" type="pres">
      <dgm:prSet presAssocID="{54E78016-A73F-4012-A8E0-178DD8FA9F47}" presName="dummyConnPt" presStyleCnt="0"/>
      <dgm:spPr/>
    </dgm:pt>
    <dgm:pt modelId="{2A8FC2BC-6733-43BE-B03E-404DB2A827CB}" type="pres">
      <dgm:prSet presAssocID="{54E78016-A73F-4012-A8E0-178DD8FA9F47}" presName="node" presStyleLbl="node1" presStyleIdx="5" presStyleCnt="6">
        <dgm:presLayoutVars>
          <dgm:bulletEnabled val="1"/>
        </dgm:presLayoutVars>
      </dgm:prSet>
      <dgm:spPr/>
    </dgm:pt>
  </dgm:ptLst>
  <dgm:cxnLst>
    <dgm:cxn modelId="{3304EA1E-E529-4D6D-BBFD-E54D56FD50A8}" srcId="{A9A32984-5676-4294-A6D8-16C1D026B335}" destId="{4F2AFC50-FFDC-4B5A-9D04-AF90DD0EBF40}" srcOrd="3" destOrd="0" parTransId="{2D575651-638A-4F62-B344-A9B0512D3A15}" sibTransId="{8A8214EF-77FD-409D-AF96-03914790FC59}"/>
    <dgm:cxn modelId="{5011D538-ABE2-4BCE-A2E9-58059CCD4342}" srcId="{A9A32984-5676-4294-A6D8-16C1D026B335}" destId="{D44F1E7B-4451-4651-ADC0-DB235E54D250}" srcOrd="0" destOrd="0" parTransId="{D3C59AE5-978E-4578-99F4-4F5AAF7C1329}" sibTransId="{99707CD4-0A55-4081-8AEF-26091CC98E55}"/>
    <dgm:cxn modelId="{CE2BDD3E-094F-46DE-8663-061BA39DE0CE}" srcId="{A9A32984-5676-4294-A6D8-16C1D026B335}" destId="{54E78016-A73F-4012-A8E0-178DD8FA9F47}" srcOrd="5" destOrd="0" parTransId="{E0566439-D880-427C-B54F-74B4436B6A64}" sibTransId="{45303BA2-8D20-4E5B-829B-B808F496419B}"/>
    <dgm:cxn modelId="{C14BD86A-56AA-4D97-A8EA-FF6A623198C0}" type="presOf" srcId="{6E8CA3F5-AC47-4EB4-92BE-7DC92FE8BDF5}" destId="{A19E34F5-90F2-4A17-9EC7-5C82EC9E6131}" srcOrd="0" destOrd="0" presId="urn:microsoft.com/office/officeart/2005/8/layout/bProcess4"/>
    <dgm:cxn modelId="{3DA63F4C-8576-4992-A968-2E071F4815A2}" type="presOf" srcId="{8A8214EF-77FD-409D-AF96-03914790FC59}" destId="{8CD92F4B-4AF3-4DA5-AD96-8D7B9376D24E}" srcOrd="0" destOrd="0" presId="urn:microsoft.com/office/officeart/2005/8/layout/bProcess4"/>
    <dgm:cxn modelId="{32FED64E-D91F-43E4-9D95-2C8A89A9011A}" type="presOf" srcId="{A9A32984-5676-4294-A6D8-16C1D026B335}" destId="{FA09B552-3A85-4232-B6FF-DF3563A1DFF6}" srcOrd="0" destOrd="0" presId="urn:microsoft.com/office/officeart/2005/8/layout/bProcess4"/>
    <dgm:cxn modelId="{CA58A276-B076-4071-808C-F4C20B06F451}" type="presOf" srcId="{CBE06459-6E9B-40FF-A30C-72FD7A824ED6}" destId="{F2AF9DBE-E481-4C2C-A2FE-10F2ED1DACE0}" srcOrd="0" destOrd="0" presId="urn:microsoft.com/office/officeart/2005/8/layout/bProcess4"/>
    <dgm:cxn modelId="{EEF97282-B6E6-4AC0-8147-13CAA3BD385F}" type="presOf" srcId="{D44F1E7B-4451-4651-ADC0-DB235E54D250}" destId="{E90CD8FC-D4B2-424C-A890-032E2DBBA110}" srcOrd="0" destOrd="0" presId="urn:microsoft.com/office/officeart/2005/8/layout/bProcess4"/>
    <dgm:cxn modelId="{D6BDF494-D343-4E82-9B3A-465DD313F01C}" type="presOf" srcId="{241C054C-2FA7-4D52-918D-37AC9C0C087A}" destId="{36B498EE-6CDE-4612-871C-D50420B9C640}" srcOrd="0" destOrd="0" presId="urn:microsoft.com/office/officeart/2005/8/layout/bProcess4"/>
    <dgm:cxn modelId="{D2EAF996-1F64-456B-88F5-A1424A47B427}" srcId="{A9A32984-5676-4294-A6D8-16C1D026B335}" destId="{241C054C-2FA7-4D52-918D-37AC9C0C087A}" srcOrd="2" destOrd="0" parTransId="{7AD2FA26-2D22-4937-98E4-C99C9E4B1EE0}" sibTransId="{6E8CA3F5-AC47-4EB4-92BE-7DC92FE8BDF5}"/>
    <dgm:cxn modelId="{B31D319F-CC90-44BE-85AB-7C38DB79E510}" type="presOf" srcId="{54E78016-A73F-4012-A8E0-178DD8FA9F47}" destId="{2A8FC2BC-6733-43BE-B03E-404DB2A827CB}" srcOrd="0" destOrd="0" presId="urn:microsoft.com/office/officeart/2005/8/layout/bProcess4"/>
    <dgm:cxn modelId="{9F7246AD-C623-4693-8AC9-D5888A4CC837}" type="presOf" srcId="{25E6CCBE-BDF7-483C-9A8E-DE366AD9D907}" destId="{97D6EA4C-E7F8-4D2C-8992-7C889F27295F}" srcOrd="0" destOrd="0" presId="urn:microsoft.com/office/officeart/2005/8/layout/bProcess4"/>
    <dgm:cxn modelId="{0EFB6CAF-9473-4E23-9F89-29D346235A6B}" type="presOf" srcId="{4F2AFC50-FFDC-4B5A-9D04-AF90DD0EBF40}" destId="{FE7B112F-EFCC-40F5-9DF1-0189AAF05AE2}" srcOrd="0" destOrd="0" presId="urn:microsoft.com/office/officeart/2005/8/layout/bProcess4"/>
    <dgm:cxn modelId="{7A40F3C3-E8C8-4FFE-863E-CC69A1EEB045}" srcId="{A9A32984-5676-4294-A6D8-16C1D026B335}" destId="{CBE06459-6E9B-40FF-A30C-72FD7A824ED6}" srcOrd="1" destOrd="0" parTransId="{83DFAC49-17F9-4A92-A193-65E186A0F2D0}" sibTransId="{25E6CCBE-BDF7-483C-9A8E-DE366AD9D907}"/>
    <dgm:cxn modelId="{6DE91EC8-78DF-4CF1-9B97-BEC252350A01}" type="presOf" srcId="{477864F9-971B-495D-9446-1480CF5B2F95}" destId="{6A5AEEFD-4F65-4B6A-B15C-5F4AA49A6660}" srcOrd="0" destOrd="0" presId="urn:microsoft.com/office/officeart/2005/8/layout/bProcess4"/>
    <dgm:cxn modelId="{39FAFBCD-71DB-4209-96FF-795C8AC38A45}" srcId="{A9A32984-5676-4294-A6D8-16C1D026B335}" destId="{744BFD85-3301-471C-BD17-F823472E21F6}" srcOrd="4" destOrd="0" parTransId="{5FCB0A06-7A31-4705-83E0-49EAE6F66A61}" sibTransId="{477864F9-971B-495D-9446-1480CF5B2F95}"/>
    <dgm:cxn modelId="{FD5C70F6-FB9B-447B-AE6C-96D5E8314E3C}" type="presOf" srcId="{744BFD85-3301-471C-BD17-F823472E21F6}" destId="{703D7EAE-4CB9-448D-8337-3D650A7EAF97}" srcOrd="0" destOrd="0" presId="urn:microsoft.com/office/officeart/2005/8/layout/bProcess4"/>
    <dgm:cxn modelId="{96548BFF-BF3E-4CC0-B0F7-785602B81565}" type="presOf" srcId="{99707CD4-0A55-4081-8AEF-26091CC98E55}" destId="{8AC4BAB0-D815-46D2-814C-7AA96B054B4B}" srcOrd="0" destOrd="0" presId="urn:microsoft.com/office/officeart/2005/8/layout/bProcess4"/>
    <dgm:cxn modelId="{719F2B9E-CDFE-49A4-9E5C-321FFF64CF14}" type="presParOf" srcId="{FA09B552-3A85-4232-B6FF-DF3563A1DFF6}" destId="{8245156E-2838-4C00-9BE7-A26568950597}" srcOrd="0" destOrd="0" presId="urn:microsoft.com/office/officeart/2005/8/layout/bProcess4"/>
    <dgm:cxn modelId="{BE20F035-7736-402A-A5EA-EBA2F9D91FDD}" type="presParOf" srcId="{8245156E-2838-4C00-9BE7-A26568950597}" destId="{9C22C2D5-511F-4D31-B63B-27766FAE3989}" srcOrd="0" destOrd="0" presId="urn:microsoft.com/office/officeart/2005/8/layout/bProcess4"/>
    <dgm:cxn modelId="{BB200374-6346-4B44-B138-1DE7496643EE}" type="presParOf" srcId="{8245156E-2838-4C00-9BE7-A26568950597}" destId="{E90CD8FC-D4B2-424C-A890-032E2DBBA110}" srcOrd="1" destOrd="0" presId="urn:microsoft.com/office/officeart/2005/8/layout/bProcess4"/>
    <dgm:cxn modelId="{BFCAB56E-B25F-453A-B3D8-70DD37E8153D}" type="presParOf" srcId="{FA09B552-3A85-4232-B6FF-DF3563A1DFF6}" destId="{8AC4BAB0-D815-46D2-814C-7AA96B054B4B}" srcOrd="1" destOrd="0" presId="urn:microsoft.com/office/officeart/2005/8/layout/bProcess4"/>
    <dgm:cxn modelId="{120D55FC-EEE2-4A00-9627-66E1B094D850}" type="presParOf" srcId="{FA09B552-3A85-4232-B6FF-DF3563A1DFF6}" destId="{83B889F4-2307-4D25-A57D-D1E5ED6EA823}" srcOrd="2" destOrd="0" presId="urn:microsoft.com/office/officeart/2005/8/layout/bProcess4"/>
    <dgm:cxn modelId="{C233D98F-1C2C-48FC-888B-56133B6D2753}" type="presParOf" srcId="{83B889F4-2307-4D25-A57D-D1E5ED6EA823}" destId="{A799A9A1-6CDA-4811-A1F1-60559FDF3158}" srcOrd="0" destOrd="0" presId="urn:microsoft.com/office/officeart/2005/8/layout/bProcess4"/>
    <dgm:cxn modelId="{11B8DE61-0636-4851-9757-7B3C3C3CEDD6}" type="presParOf" srcId="{83B889F4-2307-4D25-A57D-D1E5ED6EA823}" destId="{F2AF9DBE-E481-4C2C-A2FE-10F2ED1DACE0}" srcOrd="1" destOrd="0" presId="urn:microsoft.com/office/officeart/2005/8/layout/bProcess4"/>
    <dgm:cxn modelId="{F99D8ACB-B8C6-4D72-BD85-A6A75EEEE172}" type="presParOf" srcId="{FA09B552-3A85-4232-B6FF-DF3563A1DFF6}" destId="{97D6EA4C-E7F8-4D2C-8992-7C889F27295F}" srcOrd="3" destOrd="0" presId="urn:microsoft.com/office/officeart/2005/8/layout/bProcess4"/>
    <dgm:cxn modelId="{87A03C74-A610-487D-81A8-B1E6A054BEF1}" type="presParOf" srcId="{FA09B552-3A85-4232-B6FF-DF3563A1DFF6}" destId="{F6BEB952-39C2-41DF-AF7A-9AC9EA1BF156}" srcOrd="4" destOrd="0" presId="urn:microsoft.com/office/officeart/2005/8/layout/bProcess4"/>
    <dgm:cxn modelId="{A1B548CA-EAB3-43CE-A094-9DC5E3BA84F0}" type="presParOf" srcId="{F6BEB952-39C2-41DF-AF7A-9AC9EA1BF156}" destId="{9155E0B1-BC08-407C-9A83-EA0F7BC3CDD1}" srcOrd="0" destOrd="0" presId="urn:microsoft.com/office/officeart/2005/8/layout/bProcess4"/>
    <dgm:cxn modelId="{087CF50A-FA26-4AF4-93C2-EE5FD4D4BD96}" type="presParOf" srcId="{F6BEB952-39C2-41DF-AF7A-9AC9EA1BF156}" destId="{36B498EE-6CDE-4612-871C-D50420B9C640}" srcOrd="1" destOrd="0" presId="urn:microsoft.com/office/officeart/2005/8/layout/bProcess4"/>
    <dgm:cxn modelId="{4998F33D-B1D5-4B70-99A1-F3CFD532D971}" type="presParOf" srcId="{FA09B552-3A85-4232-B6FF-DF3563A1DFF6}" destId="{A19E34F5-90F2-4A17-9EC7-5C82EC9E6131}" srcOrd="5" destOrd="0" presId="urn:microsoft.com/office/officeart/2005/8/layout/bProcess4"/>
    <dgm:cxn modelId="{8D3312BD-2351-4876-94D4-5D4001B43714}" type="presParOf" srcId="{FA09B552-3A85-4232-B6FF-DF3563A1DFF6}" destId="{1FE76F4F-51AC-42FE-8B03-D332611455A3}" srcOrd="6" destOrd="0" presId="urn:microsoft.com/office/officeart/2005/8/layout/bProcess4"/>
    <dgm:cxn modelId="{A95422A1-66EB-41C9-A026-06A4EB42CD18}" type="presParOf" srcId="{1FE76F4F-51AC-42FE-8B03-D332611455A3}" destId="{A8B0ED90-A9CC-43EF-BC22-35845BCC7060}" srcOrd="0" destOrd="0" presId="urn:microsoft.com/office/officeart/2005/8/layout/bProcess4"/>
    <dgm:cxn modelId="{ED090034-25A2-4DEA-9068-49C2EA762FBF}" type="presParOf" srcId="{1FE76F4F-51AC-42FE-8B03-D332611455A3}" destId="{FE7B112F-EFCC-40F5-9DF1-0189AAF05AE2}" srcOrd="1" destOrd="0" presId="urn:microsoft.com/office/officeart/2005/8/layout/bProcess4"/>
    <dgm:cxn modelId="{C9FDB1F9-847E-47FD-8136-84D9D222C764}" type="presParOf" srcId="{FA09B552-3A85-4232-B6FF-DF3563A1DFF6}" destId="{8CD92F4B-4AF3-4DA5-AD96-8D7B9376D24E}" srcOrd="7" destOrd="0" presId="urn:microsoft.com/office/officeart/2005/8/layout/bProcess4"/>
    <dgm:cxn modelId="{4801981A-4156-4278-B6EF-5D32E8DAB54C}" type="presParOf" srcId="{FA09B552-3A85-4232-B6FF-DF3563A1DFF6}" destId="{A241F9A5-E02B-454B-A13F-A496BD905328}" srcOrd="8" destOrd="0" presId="urn:microsoft.com/office/officeart/2005/8/layout/bProcess4"/>
    <dgm:cxn modelId="{11D386BD-9C82-4EF0-99D6-B3AC6D42B51C}" type="presParOf" srcId="{A241F9A5-E02B-454B-A13F-A496BD905328}" destId="{121924D8-9D20-41E2-A8A6-1C6E07B60F5C}" srcOrd="0" destOrd="0" presId="urn:microsoft.com/office/officeart/2005/8/layout/bProcess4"/>
    <dgm:cxn modelId="{DB7A0D59-F361-4225-87DF-D80BD355DBAA}" type="presParOf" srcId="{A241F9A5-E02B-454B-A13F-A496BD905328}" destId="{703D7EAE-4CB9-448D-8337-3D650A7EAF97}" srcOrd="1" destOrd="0" presId="urn:microsoft.com/office/officeart/2005/8/layout/bProcess4"/>
    <dgm:cxn modelId="{E728E33E-9B18-47D2-B358-30624FD9FFDA}" type="presParOf" srcId="{FA09B552-3A85-4232-B6FF-DF3563A1DFF6}" destId="{6A5AEEFD-4F65-4B6A-B15C-5F4AA49A6660}" srcOrd="9" destOrd="0" presId="urn:microsoft.com/office/officeart/2005/8/layout/bProcess4"/>
    <dgm:cxn modelId="{FC26BB00-CD26-42B6-87D0-31A2DB4B63A3}" type="presParOf" srcId="{FA09B552-3A85-4232-B6FF-DF3563A1DFF6}" destId="{61DCEA73-1890-47CD-9CF1-8E3121B8DFB7}" srcOrd="10" destOrd="0" presId="urn:microsoft.com/office/officeart/2005/8/layout/bProcess4"/>
    <dgm:cxn modelId="{42131D37-03A2-4AE4-AF9F-45F1E567F4DA}" type="presParOf" srcId="{61DCEA73-1890-47CD-9CF1-8E3121B8DFB7}" destId="{C5C1243D-6A2A-470A-B407-8FE1E4ACB644}" srcOrd="0" destOrd="0" presId="urn:microsoft.com/office/officeart/2005/8/layout/bProcess4"/>
    <dgm:cxn modelId="{A870D005-8A3F-43D6-B179-C817B09F531B}" type="presParOf" srcId="{61DCEA73-1890-47CD-9CF1-8E3121B8DFB7}" destId="{2A8FC2BC-6733-43BE-B03E-404DB2A827CB}" srcOrd="1" destOrd="0" presId="urn:microsoft.com/office/officeart/2005/8/layout/b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9A32984-5676-4294-A6D8-16C1D026B335}"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de-DE"/>
        </a:p>
      </dgm:t>
    </dgm:pt>
    <dgm:pt modelId="{D44F1E7B-4451-4651-ADC0-DB235E54D250}">
      <dgm:prSet/>
      <dgm:spPr>
        <a:solidFill>
          <a:schemeClr val="bg1"/>
        </a:solidFill>
        <a:ln>
          <a:solidFill>
            <a:schemeClr val="bg1"/>
          </a:solidFill>
        </a:ln>
      </dgm:spPr>
      <dgm:t>
        <a:bodyPr/>
        <a:lstStyle/>
        <a:p>
          <a:r>
            <a:rPr lang="de-DE" dirty="0"/>
            <a:t>Client erstellt die Datei, indem mit </a:t>
          </a:r>
          <a:r>
            <a:rPr lang="de-DE" dirty="0" err="1"/>
            <a:t>create</a:t>
          </a:r>
          <a:r>
            <a:rPr lang="de-DE" dirty="0"/>
            <a:t>() an </a:t>
          </a:r>
          <a:r>
            <a:rPr lang="de-DE" dirty="0" err="1"/>
            <a:t>DistributedFileSystem</a:t>
          </a:r>
          <a:r>
            <a:rPr lang="de-DE" dirty="0"/>
            <a:t> </a:t>
          </a:r>
        </a:p>
      </dgm:t>
    </dgm:pt>
    <dgm:pt modelId="{D3C59AE5-978E-4578-99F4-4F5AAF7C1329}" type="parTrans" cxnId="{5011D538-ABE2-4BCE-A2E9-58059CCD4342}">
      <dgm:prSet/>
      <dgm:spPr/>
      <dgm:t>
        <a:bodyPr/>
        <a:lstStyle/>
        <a:p>
          <a:endParaRPr lang="de-DE"/>
        </a:p>
      </dgm:t>
    </dgm:pt>
    <dgm:pt modelId="{99707CD4-0A55-4081-8AEF-26091CC98E55}" type="sibTrans" cxnId="{5011D538-ABE2-4BCE-A2E9-58059CCD4342}">
      <dgm:prSet/>
      <dgm:spPr>
        <a:solidFill>
          <a:schemeClr val="tx1">
            <a:lumMod val="95000"/>
          </a:schemeClr>
        </a:solidFill>
      </dgm:spPr>
      <dgm:t>
        <a:bodyPr/>
        <a:lstStyle/>
        <a:p>
          <a:endParaRPr lang="de-DE"/>
        </a:p>
      </dgm:t>
    </dgm:pt>
    <dgm:pt modelId="{CBE06459-6E9B-40FF-A30C-72FD7A824ED6}">
      <dgm:prSet/>
      <dgm:spPr>
        <a:solidFill>
          <a:schemeClr val="bg1"/>
        </a:solidFill>
        <a:ln>
          <a:solidFill>
            <a:schemeClr val="bg1"/>
          </a:solidFill>
        </a:ln>
      </dgm:spPr>
      <dgm:t>
        <a:bodyPr/>
        <a:lstStyle/>
        <a:p>
          <a:r>
            <a:rPr lang="de-DE" dirty="0"/>
            <a:t>DFS sendet einen RPC-Aufruf an den Namenknoten, um eine neue Datei zu erstellen</a:t>
          </a:r>
        </a:p>
      </dgm:t>
    </dgm:pt>
    <dgm:pt modelId="{83DFAC49-17F9-4A92-A193-65E186A0F2D0}" type="parTrans" cxnId="{7A40F3C3-E8C8-4FFE-863E-CC69A1EEB045}">
      <dgm:prSet/>
      <dgm:spPr/>
      <dgm:t>
        <a:bodyPr/>
        <a:lstStyle/>
        <a:p>
          <a:endParaRPr lang="de-DE"/>
        </a:p>
      </dgm:t>
    </dgm:pt>
    <dgm:pt modelId="{25E6CCBE-BDF7-483C-9A8E-DE366AD9D907}" type="sibTrans" cxnId="{7A40F3C3-E8C8-4FFE-863E-CC69A1EEB045}">
      <dgm:prSet/>
      <dgm:spPr>
        <a:solidFill>
          <a:schemeClr val="tx1">
            <a:lumMod val="95000"/>
          </a:schemeClr>
        </a:solidFill>
      </dgm:spPr>
      <dgm:t>
        <a:bodyPr/>
        <a:lstStyle/>
        <a:p>
          <a:endParaRPr lang="de-DE"/>
        </a:p>
      </dgm:t>
    </dgm:pt>
    <dgm:pt modelId="{241C054C-2FA7-4D52-918D-37AC9C0C087A}">
      <dgm:prSet/>
      <dgm:spPr>
        <a:solidFill>
          <a:schemeClr val="bg1"/>
        </a:solidFill>
        <a:ln>
          <a:solidFill>
            <a:schemeClr val="bg1"/>
          </a:solidFill>
        </a:ln>
      </dgm:spPr>
      <dgm:t>
        <a:bodyPr/>
        <a:lstStyle/>
        <a:p>
          <a:r>
            <a:rPr lang="de-DE" dirty="0" err="1"/>
            <a:t>DFSOutputStream</a:t>
          </a:r>
          <a:r>
            <a:rPr lang="de-DE" dirty="0"/>
            <a:t> sendet Pakete an eine interne Daten-Warteschlange</a:t>
          </a:r>
        </a:p>
      </dgm:t>
    </dgm:pt>
    <dgm:pt modelId="{7AD2FA26-2D22-4937-98E4-C99C9E4B1EE0}" type="parTrans" cxnId="{D2EAF996-1F64-456B-88F5-A1424A47B427}">
      <dgm:prSet/>
      <dgm:spPr/>
      <dgm:t>
        <a:bodyPr/>
        <a:lstStyle/>
        <a:p>
          <a:endParaRPr lang="de-DE"/>
        </a:p>
      </dgm:t>
    </dgm:pt>
    <dgm:pt modelId="{6E8CA3F5-AC47-4EB4-92BE-7DC92FE8BDF5}" type="sibTrans" cxnId="{D2EAF996-1F64-456B-88F5-A1424A47B427}">
      <dgm:prSet/>
      <dgm:spPr>
        <a:solidFill>
          <a:schemeClr val="tx1">
            <a:lumMod val="95000"/>
          </a:schemeClr>
        </a:solidFill>
      </dgm:spPr>
      <dgm:t>
        <a:bodyPr/>
        <a:lstStyle/>
        <a:p>
          <a:endParaRPr lang="de-DE"/>
        </a:p>
      </dgm:t>
    </dgm:pt>
    <dgm:pt modelId="{4F2AFC50-FFDC-4B5A-9D04-AF90DD0EBF40}">
      <dgm:prSet/>
      <dgm:spPr>
        <a:solidFill>
          <a:schemeClr val="bg1"/>
        </a:solidFill>
        <a:ln>
          <a:solidFill>
            <a:schemeClr val="bg1"/>
          </a:solidFill>
        </a:ln>
      </dgm:spPr>
      <dgm:t>
        <a:bodyPr/>
        <a:lstStyle/>
        <a:p>
          <a:r>
            <a:rPr lang="de-DE" dirty="0"/>
            <a:t>Datenknoten speichern die Pakete und leiten sie an den nächsten Knoten in der Pipeline</a:t>
          </a:r>
        </a:p>
      </dgm:t>
    </dgm:pt>
    <dgm:pt modelId="{2D575651-638A-4F62-B344-A9B0512D3A15}" type="parTrans" cxnId="{3304EA1E-E529-4D6D-BBFD-E54D56FD50A8}">
      <dgm:prSet/>
      <dgm:spPr/>
      <dgm:t>
        <a:bodyPr/>
        <a:lstStyle/>
        <a:p>
          <a:endParaRPr lang="de-DE"/>
        </a:p>
      </dgm:t>
    </dgm:pt>
    <dgm:pt modelId="{8A8214EF-77FD-409D-AF96-03914790FC59}" type="sibTrans" cxnId="{3304EA1E-E529-4D6D-BBFD-E54D56FD50A8}">
      <dgm:prSet/>
      <dgm:spPr>
        <a:solidFill>
          <a:schemeClr val="tx1">
            <a:lumMod val="95000"/>
          </a:schemeClr>
        </a:solidFill>
      </dgm:spPr>
      <dgm:t>
        <a:bodyPr/>
        <a:lstStyle/>
        <a:p>
          <a:endParaRPr lang="de-DE"/>
        </a:p>
      </dgm:t>
    </dgm:pt>
    <dgm:pt modelId="{744BFD85-3301-471C-BD17-F823472E21F6}">
      <dgm:prSet/>
      <dgm:spPr>
        <a:solidFill>
          <a:schemeClr val="bg1"/>
        </a:solidFill>
        <a:ln>
          <a:solidFill>
            <a:schemeClr val="bg1"/>
          </a:solidFill>
        </a:ln>
      </dgm:spPr>
      <dgm:t>
        <a:bodyPr/>
        <a:lstStyle/>
        <a:p>
          <a:r>
            <a:rPr lang="de-DE" dirty="0" err="1"/>
            <a:t>DFSOutputStream</a:t>
          </a:r>
          <a:r>
            <a:rPr lang="de-DE" dirty="0"/>
            <a:t> hält  interne Warteschlange von Paketen, die auf Bestätigung von den Datenknoten wartet</a:t>
          </a:r>
        </a:p>
      </dgm:t>
    </dgm:pt>
    <dgm:pt modelId="{5FCB0A06-7A31-4705-83E0-49EAE6F66A61}" type="parTrans" cxnId="{39FAFBCD-71DB-4209-96FF-795C8AC38A45}">
      <dgm:prSet/>
      <dgm:spPr/>
      <dgm:t>
        <a:bodyPr/>
        <a:lstStyle/>
        <a:p>
          <a:endParaRPr lang="de-DE"/>
        </a:p>
      </dgm:t>
    </dgm:pt>
    <dgm:pt modelId="{477864F9-971B-495D-9446-1480CF5B2F95}" type="sibTrans" cxnId="{39FAFBCD-71DB-4209-96FF-795C8AC38A45}">
      <dgm:prSet/>
      <dgm:spPr>
        <a:solidFill>
          <a:schemeClr val="tx1">
            <a:lumMod val="95000"/>
          </a:schemeClr>
        </a:solidFill>
      </dgm:spPr>
      <dgm:t>
        <a:bodyPr/>
        <a:lstStyle/>
        <a:p>
          <a:endParaRPr lang="de-DE"/>
        </a:p>
      </dgm:t>
    </dgm:pt>
    <dgm:pt modelId="{54E78016-A73F-4012-A8E0-178DD8FA9F47}">
      <dgm:prSet/>
      <dgm:spPr>
        <a:solidFill>
          <a:schemeClr val="bg1"/>
        </a:solidFill>
        <a:ln>
          <a:solidFill>
            <a:schemeClr val="bg1"/>
          </a:solidFill>
        </a:ln>
      </dgm:spPr>
      <dgm:t>
        <a:bodyPr/>
        <a:lstStyle/>
        <a:p>
          <a:r>
            <a:rPr lang="de-DE" dirty="0" err="1"/>
            <a:t>DFSOutputStream</a:t>
          </a:r>
          <a:r>
            <a:rPr lang="de-DE" dirty="0"/>
            <a:t> wartet auf Bestätigungen und informiert Namenknoten</a:t>
          </a:r>
        </a:p>
      </dgm:t>
    </dgm:pt>
    <dgm:pt modelId="{E0566439-D880-427C-B54F-74B4436B6A64}" type="parTrans" cxnId="{CE2BDD3E-094F-46DE-8663-061BA39DE0CE}">
      <dgm:prSet/>
      <dgm:spPr/>
      <dgm:t>
        <a:bodyPr/>
        <a:lstStyle/>
        <a:p>
          <a:endParaRPr lang="de-DE"/>
        </a:p>
      </dgm:t>
    </dgm:pt>
    <dgm:pt modelId="{45303BA2-8D20-4E5B-829B-B808F496419B}" type="sibTrans" cxnId="{CE2BDD3E-094F-46DE-8663-061BA39DE0CE}">
      <dgm:prSet/>
      <dgm:spPr/>
      <dgm:t>
        <a:bodyPr/>
        <a:lstStyle/>
        <a:p>
          <a:endParaRPr lang="de-DE"/>
        </a:p>
      </dgm:t>
    </dgm:pt>
    <dgm:pt modelId="{FA09B552-3A85-4232-B6FF-DF3563A1DFF6}" type="pres">
      <dgm:prSet presAssocID="{A9A32984-5676-4294-A6D8-16C1D026B335}" presName="Name0" presStyleCnt="0">
        <dgm:presLayoutVars>
          <dgm:dir/>
          <dgm:resizeHandles/>
        </dgm:presLayoutVars>
      </dgm:prSet>
      <dgm:spPr/>
    </dgm:pt>
    <dgm:pt modelId="{8245156E-2838-4C00-9BE7-A26568950597}" type="pres">
      <dgm:prSet presAssocID="{D44F1E7B-4451-4651-ADC0-DB235E54D250}" presName="compNode" presStyleCnt="0"/>
      <dgm:spPr/>
    </dgm:pt>
    <dgm:pt modelId="{9C22C2D5-511F-4D31-B63B-27766FAE3989}" type="pres">
      <dgm:prSet presAssocID="{D44F1E7B-4451-4651-ADC0-DB235E54D250}" presName="dummyConnPt" presStyleCnt="0"/>
      <dgm:spPr/>
    </dgm:pt>
    <dgm:pt modelId="{E90CD8FC-D4B2-424C-A890-032E2DBBA110}" type="pres">
      <dgm:prSet presAssocID="{D44F1E7B-4451-4651-ADC0-DB235E54D250}" presName="node" presStyleLbl="node1" presStyleIdx="0" presStyleCnt="6">
        <dgm:presLayoutVars>
          <dgm:bulletEnabled val="1"/>
        </dgm:presLayoutVars>
      </dgm:prSet>
      <dgm:spPr/>
    </dgm:pt>
    <dgm:pt modelId="{8AC4BAB0-D815-46D2-814C-7AA96B054B4B}" type="pres">
      <dgm:prSet presAssocID="{99707CD4-0A55-4081-8AEF-26091CC98E55}" presName="sibTrans" presStyleLbl="bgSibTrans2D1" presStyleIdx="0" presStyleCnt="5"/>
      <dgm:spPr/>
    </dgm:pt>
    <dgm:pt modelId="{83B889F4-2307-4D25-A57D-D1E5ED6EA823}" type="pres">
      <dgm:prSet presAssocID="{CBE06459-6E9B-40FF-A30C-72FD7A824ED6}" presName="compNode" presStyleCnt="0"/>
      <dgm:spPr/>
    </dgm:pt>
    <dgm:pt modelId="{A799A9A1-6CDA-4811-A1F1-60559FDF3158}" type="pres">
      <dgm:prSet presAssocID="{CBE06459-6E9B-40FF-A30C-72FD7A824ED6}" presName="dummyConnPt" presStyleCnt="0"/>
      <dgm:spPr/>
    </dgm:pt>
    <dgm:pt modelId="{F2AF9DBE-E481-4C2C-A2FE-10F2ED1DACE0}" type="pres">
      <dgm:prSet presAssocID="{CBE06459-6E9B-40FF-A30C-72FD7A824ED6}" presName="node" presStyleLbl="node1" presStyleIdx="1" presStyleCnt="6">
        <dgm:presLayoutVars>
          <dgm:bulletEnabled val="1"/>
        </dgm:presLayoutVars>
      </dgm:prSet>
      <dgm:spPr/>
    </dgm:pt>
    <dgm:pt modelId="{97D6EA4C-E7F8-4D2C-8992-7C889F27295F}" type="pres">
      <dgm:prSet presAssocID="{25E6CCBE-BDF7-483C-9A8E-DE366AD9D907}" presName="sibTrans" presStyleLbl="bgSibTrans2D1" presStyleIdx="1" presStyleCnt="5"/>
      <dgm:spPr/>
    </dgm:pt>
    <dgm:pt modelId="{F6BEB952-39C2-41DF-AF7A-9AC9EA1BF156}" type="pres">
      <dgm:prSet presAssocID="{241C054C-2FA7-4D52-918D-37AC9C0C087A}" presName="compNode" presStyleCnt="0"/>
      <dgm:spPr/>
    </dgm:pt>
    <dgm:pt modelId="{9155E0B1-BC08-407C-9A83-EA0F7BC3CDD1}" type="pres">
      <dgm:prSet presAssocID="{241C054C-2FA7-4D52-918D-37AC9C0C087A}" presName="dummyConnPt" presStyleCnt="0"/>
      <dgm:spPr/>
    </dgm:pt>
    <dgm:pt modelId="{36B498EE-6CDE-4612-871C-D50420B9C640}" type="pres">
      <dgm:prSet presAssocID="{241C054C-2FA7-4D52-918D-37AC9C0C087A}" presName="node" presStyleLbl="node1" presStyleIdx="2" presStyleCnt="6">
        <dgm:presLayoutVars>
          <dgm:bulletEnabled val="1"/>
        </dgm:presLayoutVars>
      </dgm:prSet>
      <dgm:spPr/>
    </dgm:pt>
    <dgm:pt modelId="{A19E34F5-90F2-4A17-9EC7-5C82EC9E6131}" type="pres">
      <dgm:prSet presAssocID="{6E8CA3F5-AC47-4EB4-92BE-7DC92FE8BDF5}" presName="sibTrans" presStyleLbl="bgSibTrans2D1" presStyleIdx="2" presStyleCnt="5"/>
      <dgm:spPr/>
    </dgm:pt>
    <dgm:pt modelId="{1FE76F4F-51AC-42FE-8B03-D332611455A3}" type="pres">
      <dgm:prSet presAssocID="{4F2AFC50-FFDC-4B5A-9D04-AF90DD0EBF40}" presName="compNode" presStyleCnt="0"/>
      <dgm:spPr/>
    </dgm:pt>
    <dgm:pt modelId="{A8B0ED90-A9CC-43EF-BC22-35845BCC7060}" type="pres">
      <dgm:prSet presAssocID="{4F2AFC50-FFDC-4B5A-9D04-AF90DD0EBF40}" presName="dummyConnPt" presStyleCnt="0"/>
      <dgm:spPr/>
    </dgm:pt>
    <dgm:pt modelId="{FE7B112F-EFCC-40F5-9DF1-0189AAF05AE2}" type="pres">
      <dgm:prSet presAssocID="{4F2AFC50-FFDC-4B5A-9D04-AF90DD0EBF40}" presName="node" presStyleLbl="node1" presStyleIdx="3" presStyleCnt="6">
        <dgm:presLayoutVars>
          <dgm:bulletEnabled val="1"/>
        </dgm:presLayoutVars>
      </dgm:prSet>
      <dgm:spPr/>
    </dgm:pt>
    <dgm:pt modelId="{8CD92F4B-4AF3-4DA5-AD96-8D7B9376D24E}" type="pres">
      <dgm:prSet presAssocID="{8A8214EF-77FD-409D-AF96-03914790FC59}" presName="sibTrans" presStyleLbl="bgSibTrans2D1" presStyleIdx="3" presStyleCnt="5"/>
      <dgm:spPr/>
    </dgm:pt>
    <dgm:pt modelId="{A241F9A5-E02B-454B-A13F-A496BD905328}" type="pres">
      <dgm:prSet presAssocID="{744BFD85-3301-471C-BD17-F823472E21F6}" presName="compNode" presStyleCnt="0"/>
      <dgm:spPr/>
    </dgm:pt>
    <dgm:pt modelId="{121924D8-9D20-41E2-A8A6-1C6E07B60F5C}" type="pres">
      <dgm:prSet presAssocID="{744BFD85-3301-471C-BD17-F823472E21F6}" presName="dummyConnPt" presStyleCnt="0"/>
      <dgm:spPr/>
    </dgm:pt>
    <dgm:pt modelId="{703D7EAE-4CB9-448D-8337-3D650A7EAF97}" type="pres">
      <dgm:prSet presAssocID="{744BFD85-3301-471C-BD17-F823472E21F6}" presName="node" presStyleLbl="node1" presStyleIdx="4" presStyleCnt="6">
        <dgm:presLayoutVars>
          <dgm:bulletEnabled val="1"/>
        </dgm:presLayoutVars>
      </dgm:prSet>
      <dgm:spPr/>
    </dgm:pt>
    <dgm:pt modelId="{6A5AEEFD-4F65-4B6A-B15C-5F4AA49A6660}" type="pres">
      <dgm:prSet presAssocID="{477864F9-971B-495D-9446-1480CF5B2F95}" presName="sibTrans" presStyleLbl="bgSibTrans2D1" presStyleIdx="4" presStyleCnt="5"/>
      <dgm:spPr/>
    </dgm:pt>
    <dgm:pt modelId="{61DCEA73-1890-47CD-9CF1-8E3121B8DFB7}" type="pres">
      <dgm:prSet presAssocID="{54E78016-A73F-4012-A8E0-178DD8FA9F47}" presName="compNode" presStyleCnt="0"/>
      <dgm:spPr/>
    </dgm:pt>
    <dgm:pt modelId="{C5C1243D-6A2A-470A-B407-8FE1E4ACB644}" type="pres">
      <dgm:prSet presAssocID="{54E78016-A73F-4012-A8E0-178DD8FA9F47}" presName="dummyConnPt" presStyleCnt="0"/>
      <dgm:spPr/>
    </dgm:pt>
    <dgm:pt modelId="{2A8FC2BC-6733-43BE-B03E-404DB2A827CB}" type="pres">
      <dgm:prSet presAssocID="{54E78016-A73F-4012-A8E0-178DD8FA9F47}" presName="node" presStyleLbl="node1" presStyleIdx="5" presStyleCnt="6">
        <dgm:presLayoutVars>
          <dgm:bulletEnabled val="1"/>
        </dgm:presLayoutVars>
      </dgm:prSet>
      <dgm:spPr/>
    </dgm:pt>
  </dgm:ptLst>
  <dgm:cxnLst>
    <dgm:cxn modelId="{3304EA1E-E529-4D6D-BBFD-E54D56FD50A8}" srcId="{A9A32984-5676-4294-A6D8-16C1D026B335}" destId="{4F2AFC50-FFDC-4B5A-9D04-AF90DD0EBF40}" srcOrd="3" destOrd="0" parTransId="{2D575651-638A-4F62-B344-A9B0512D3A15}" sibTransId="{8A8214EF-77FD-409D-AF96-03914790FC59}"/>
    <dgm:cxn modelId="{5011D538-ABE2-4BCE-A2E9-58059CCD4342}" srcId="{A9A32984-5676-4294-A6D8-16C1D026B335}" destId="{D44F1E7B-4451-4651-ADC0-DB235E54D250}" srcOrd="0" destOrd="0" parTransId="{D3C59AE5-978E-4578-99F4-4F5AAF7C1329}" sibTransId="{99707CD4-0A55-4081-8AEF-26091CC98E55}"/>
    <dgm:cxn modelId="{CE2BDD3E-094F-46DE-8663-061BA39DE0CE}" srcId="{A9A32984-5676-4294-A6D8-16C1D026B335}" destId="{54E78016-A73F-4012-A8E0-178DD8FA9F47}" srcOrd="5" destOrd="0" parTransId="{E0566439-D880-427C-B54F-74B4436B6A64}" sibTransId="{45303BA2-8D20-4E5B-829B-B808F496419B}"/>
    <dgm:cxn modelId="{C14BD86A-56AA-4D97-A8EA-FF6A623198C0}" type="presOf" srcId="{6E8CA3F5-AC47-4EB4-92BE-7DC92FE8BDF5}" destId="{A19E34F5-90F2-4A17-9EC7-5C82EC9E6131}" srcOrd="0" destOrd="0" presId="urn:microsoft.com/office/officeart/2005/8/layout/bProcess4"/>
    <dgm:cxn modelId="{3DA63F4C-8576-4992-A968-2E071F4815A2}" type="presOf" srcId="{8A8214EF-77FD-409D-AF96-03914790FC59}" destId="{8CD92F4B-4AF3-4DA5-AD96-8D7B9376D24E}" srcOrd="0" destOrd="0" presId="urn:microsoft.com/office/officeart/2005/8/layout/bProcess4"/>
    <dgm:cxn modelId="{32FED64E-D91F-43E4-9D95-2C8A89A9011A}" type="presOf" srcId="{A9A32984-5676-4294-A6D8-16C1D026B335}" destId="{FA09B552-3A85-4232-B6FF-DF3563A1DFF6}" srcOrd="0" destOrd="0" presId="urn:microsoft.com/office/officeart/2005/8/layout/bProcess4"/>
    <dgm:cxn modelId="{CA58A276-B076-4071-808C-F4C20B06F451}" type="presOf" srcId="{CBE06459-6E9B-40FF-A30C-72FD7A824ED6}" destId="{F2AF9DBE-E481-4C2C-A2FE-10F2ED1DACE0}" srcOrd="0" destOrd="0" presId="urn:microsoft.com/office/officeart/2005/8/layout/bProcess4"/>
    <dgm:cxn modelId="{EEF97282-B6E6-4AC0-8147-13CAA3BD385F}" type="presOf" srcId="{D44F1E7B-4451-4651-ADC0-DB235E54D250}" destId="{E90CD8FC-D4B2-424C-A890-032E2DBBA110}" srcOrd="0" destOrd="0" presId="urn:microsoft.com/office/officeart/2005/8/layout/bProcess4"/>
    <dgm:cxn modelId="{D6BDF494-D343-4E82-9B3A-465DD313F01C}" type="presOf" srcId="{241C054C-2FA7-4D52-918D-37AC9C0C087A}" destId="{36B498EE-6CDE-4612-871C-D50420B9C640}" srcOrd="0" destOrd="0" presId="urn:microsoft.com/office/officeart/2005/8/layout/bProcess4"/>
    <dgm:cxn modelId="{D2EAF996-1F64-456B-88F5-A1424A47B427}" srcId="{A9A32984-5676-4294-A6D8-16C1D026B335}" destId="{241C054C-2FA7-4D52-918D-37AC9C0C087A}" srcOrd="2" destOrd="0" parTransId="{7AD2FA26-2D22-4937-98E4-C99C9E4B1EE0}" sibTransId="{6E8CA3F5-AC47-4EB4-92BE-7DC92FE8BDF5}"/>
    <dgm:cxn modelId="{B31D319F-CC90-44BE-85AB-7C38DB79E510}" type="presOf" srcId="{54E78016-A73F-4012-A8E0-178DD8FA9F47}" destId="{2A8FC2BC-6733-43BE-B03E-404DB2A827CB}" srcOrd="0" destOrd="0" presId="urn:microsoft.com/office/officeart/2005/8/layout/bProcess4"/>
    <dgm:cxn modelId="{9F7246AD-C623-4693-8AC9-D5888A4CC837}" type="presOf" srcId="{25E6CCBE-BDF7-483C-9A8E-DE366AD9D907}" destId="{97D6EA4C-E7F8-4D2C-8992-7C889F27295F}" srcOrd="0" destOrd="0" presId="urn:microsoft.com/office/officeart/2005/8/layout/bProcess4"/>
    <dgm:cxn modelId="{0EFB6CAF-9473-4E23-9F89-29D346235A6B}" type="presOf" srcId="{4F2AFC50-FFDC-4B5A-9D04-AF90DD0EBF40}" destId="{FE7B112F-EFCC-40F5-9DF1-0189AAF05AE2}" srcOrd="0" destOrd="0" presId="urn:microsoft.com/office/officeart/2005/8/layout/bProcess4"/>
    <dgm:cxn modelId="{7A40F3C3-E8C8-4FFE-863E-CC69A1EEB045}" srcId="{A9A32984-5676-4294-A6D8-16C1D026B335}" destId="{CBE06459-6E9B-40FF-A30C-72FD7A824ED6}" srcOrd="1" destOrd="0" parTransId="{83DFAC49-17F9-4A92-A193-65E186A0F2D0}" sibTransId="{25E6CCBE-BDF7-483C-9A8E-DE366AD9D907}"/>
    <dgm:cxn modelId="{6DE91EC8-78DF-4CF1-9B97-BEC252350A01}" type="presOf" srcId="{477864F9-971B-495D-9446-1480CF5B2F95}" destId="{6A5AEEFD-4F65-4B6A-B15C-5F4AA49A6660}" srcOrd="0" destOrd="0" presId="urn:microsoft.com/office/officeart/2005/8/layout/bProcess4"/>
    <dgm:cxn modelId="{39FAFBCD-71DB-4209-96FF-795C8AC38A45}" srcId="{A9A32984-5676-4294-A6D8-16C1D026B335}" destId="{744BFD85-3301-471C-BD17-F823472E21F6}" srcOrd="4" destOrd="0" parTransId="{5FCB0A06-7A31-4705-83E0-49EAE6F66A61}" sibTransId="{477864F9-971B-495D-9446-1480CF5B2F95}"/>
    <dgm:cxn modelId="{FD5C70F6-FB9B-447B-AE6C-96D5E8314E3C}" type="presOf" srcId="{744BFD85-3301-471C-BD17-F823472E21F6}" destId="{703D7EAE-4CB9-448D-8337-3D650A7EAF97}" srcOrd="0" destOrd="0" presId="urn:microsoft.com/office/officeart/2005/8/layout/bProcess4"/>
    <dgm:cxn modelId="{96548BFF-BF3E-4CC0-B0F7-785602B81565}" type="presOf" srcId="{99707CD4-0A55-4081-8AEF-26091CC98E55}" destId="{8AC4BAB0-D815-46D2-814C-7AA96B054B4B}" srcOrd="0" destOrd="0" presId="urn:microsoft.com/office/officeart/2005/8/layout/bProcess4"/>
    <dgm:cxn modelId="{719F2B9E-CDFE-49A4-9E5C-321FFF64CF14}" type="presParOf" srcId="{FA09B552-3A85-4232-B6FF-DF3563A1DFF6}" destId="{8245156E-2838-4C00-9BE7-A26568950597}" srcOrd="0" destOrd="0" presId="urn:microsoft.com/office/officeart/2005/8/layout/bProcess4"/>
    <dgm:cxn modelId="{BE20F035-7736-402A-A5EA-EBA2F9D91FDD}" type="presParOf" srcId="{8245156E-2838-4C00-9BE7-A26568950597}" destId="{9C22C2D5-511F-4D31-B63B-27766FAE3989}" srcOrd="0" destOrd="0" presId="urn:microsoft.com/office/officeart/2005/8/layout/bProcess4"/>
    <dgm:cxn modelId="{BB200374-6346-4B44-B138-1DE7496643EE}" type="presParOf" srcId="{8245156E-2838-4C00-9BE7-A26568950597}" destId="{E90CD8FC-D4B2-424C-A890-032E2DBBA110}" srcOrd="1" destOrd="0" presId="urn:microsoft.com/office/officeart/2005/8/layout/bProcess4"/>
    <dgm:cxn modelId="{BFCAB56E-B25F-453A-B3D8-70DD37E8153D}" type="presParOf" srcId="{FA09B552-3A85-4232-B6FF-DF3563A1DFF6}" destId="{8AC4BAB0-D815-46D2-814C-7AA96B054B4B}" srcOrd="1" destOrd="0" presId="urn:microsoft.com/office/officeart/2005/8/layout/bProcess4"/>
    <dgm:cxn modelId="{120D55FC-EEE2-4A00-9627-66E1B094D850}" type="presParOf" srcId="{FA09B552-3A85-4232-B6FF-DF3563A1DFF6}" destId="{83B889F4-2307-4D25-A57D-D1E5ED6EA823}" srcOrd="2" destOrd="0" presId="urn:microsoft.com/office/officeart/2005/8/layout/bProcess4"/>
    <dgm:cxn modelId="{C233D98F-1C2C-48FC-888B-56133B6D2753}" type="presParOf" srcId="{83B889F4-2307-4D25-A57D-D1E5ED6EA823}" destId="{A799A9A1-6CDA-4811-A1F1-60559FDF3158}" srcOrd="0" destOrd="0" presId="urn:microsoft.com/office/officeart/2005/8/layout/bProcess4"/>
    <dgm:cxn modelId="{11B8DE61-0636-4851-9757-7B3C3C3CEDD6}" type="presParOf" srcId="{83B889F4-2307-4D25-A57D-D1E5ED6EA823}" destId="{F2AF9DBE-E481-4C2C-A2FE-10F2ED1DACE0}" srcOrd="1" destOrd="0" presId="urn:microsoft.com/office/officeart/2005/8/layout/bProcess4"/>
    <dgm:cxn modelId="{F99D8ACB-B8C6-4D72-BD85-A6A75EEEE172}" type="presParOf" srcId="{FA09B552-3A85-4232-B6FF-DF3563A1DFF6}" destId="{97D6EA4C-E7F8-4D2C-8992-7C889F27295F}" srcOrd="3" destOrd="0" presId="urn:microsoft.com/office/officeart/2005/8/layout/bProcess4"/>
    <dgm:cxn modelId="{87A03C74-A610-487D-81A8-B1E6A054BEF1}" type="presParOf" srcId="{FA09B552-3A85-4232-B6FF-DF3563A1DFF6}" destId="{F6BEB952-39C2-41DF-AF7A-9AC9EA1BF156}" srcOrd="4" destOrd="0" presId="urn:microsoft.com/office/officeart/2005/8/layout/bProcess4"/>
    <dgm:cxn modelId="{A1B548CA-EAB3-43CE-A094-9DC5E3BA84F0}" type="presParOf" srcId="{F6BEB952-39C2-41DF-AF7A-9AC9EA1BF156}" destId="{9155E0B1-BC08-407C-9A83-EA0F7BC3CDD1}" srcOrd="0" destOrd="0" presId="urn:microsoft.com/office/officeart/2005/8/layout/bProcess4"/>
    <dgm:cxn modelId="{087CF50A-FA26-4AF4-93C2-EE5FD4D4BD96}" type="presParOf" srcId="{F6BEB952-39C2-41DF-AF7A-9AC9EA1BF156}" destId="{36B498EE-6CDE-4612-871C-D50420B9C640}" srcOrd="1" destOrd="0" presId="urn:microsoft.com/office/officeart/2005/8/layout/bProcess4"/>
    <dgm:cxn modelId="{4998F33D-B1D5-4B70-99A1-F3CFD532D971}" type="presParOf" srcId="{FA09B552-3A85-4232-B6FF-DF3563A1DFF6}" destId="{A19E34F5-90F2-4A17-9EC7-5C82EC9E6131}" srcOrd="5" destOrd="0" presId="urn:microsoft.com/office/officeart/2005/8/layout/bProcess4"/>
    <dgm:cxn modelId="{8D3312BD-2351-4876-94D4-5D4001B43714}" type="presParOf" srcId="{FA09B552-3A85-4232-B6FF-DF3563A1DFF6}" destId="{1FE76F4F-51AC-42FE-8B03-D332611455A3}" srcOrd="6" destOrd="0" presId="urn:microsoft.com/office/officeart/2005/8/layout/bProcess4"/>
    <dgm:cxn modelId="{A95422A1-66EB-41C9-A026-06A4EB42CD18}" type="presParOf" srcId="{1FE76F4F-51AC-42FE-8B03-D332611455A3}" destId="{A8B0ED90-A9CC-43EF-BC22-35845BCC7060}" srcOrd="0" destOrd="0" presId="urn:microsoft.com/office/officeart/2005/8/layout/bProcess4"/>
    <dgm:cxn modelId="{ED090034-25A2-4DEA-9068-49C2EA762FBF}" type="presParOf" srcId="{1FE76F4F-51AC-42FE-8B03-D332611455A3}" destId="{FE7B112F-EFCC-40F5-9DF1-0189AAF05AE2}" srcOrd="1" destOrd="0" presId="urn:microsoft.com/office/officeart/2005/8/layout/bProcess4"/>
    <dgm:cxn modelId="{C9FDB1F9-847E-47FD-8136-84D9D222C764}" type="presParOf" srcId="{FA09B552-3A85-4232-B6FF-DF3563A1DFF6}" destId="{8CD92F4B-4AF3-4DA5-AD96-8D7B9376D24E}" srcOrd="7" destOrd="0" presId="urn:microsoft.com/office/officeart/2005/8/layout/bProcess4"/>
    <dgm:cxn modelId="{4801981A-4156-4278-B6EF-5D32E8DAB54C}" type="presParOf" srcId="{FA09B552-3A85-4232-B6FF-DF3563A1DFF6}" destId="{A241F9A5-E02B-454B-A13F-A496BD905328}" srcOrd="8" destOrd="0" presId="urn:microsoft.com/office/officeart/2005/8/layout/bProcess4"/>
    <dgm:cxn modelId="{11D386BD-9C82-4EF0-99D6-B3AC6D42B51C}" type="presParOf" srcId="{A241F9A5-E02B-454B-A13F-A496BD905328}" destId="{121924D8-9D20-41E2-A8A6-1C6E07B60F5C}" srcOrd="0" destOrd="0" presId="urn:microsoft.com/office/officeart/2005/8/layout/bProcess4"/>
    <dgm:cxn modelId="{DB7A0D59-F361-4225-87DF-D80BD355DBAA}" type="presParOf" srcId="{A241F9A5-E02B-454B-A13F-A496BD905328}" destId="{703D7EAE-4CB9-448D-8337-3D650A7EAF97}" srcOrd="1" destOrd="0" presId="urn:microsoft.com/office/officeart/2005/8/layout/bProcess4"/>
    <dgm:cxn modelId="{E728E33E-9B18-47D2-B358-30624FD9FFDA}" type="presParOf" srcId="{FA09B552-3A85-4232-B6FF-DF3563A1DFF6}" destId="{6A5AEEFD-4F65-4B6A-B15C-5F4AA49A6660}" srcOrd="9" destOrd="0" presId="urn:microsoft.com/office/officeart/2005/8/layout/bProcess4"/>
    <dgm:cxn modelId="{FC26BB00-CD26-42B6-87D0-31A2DB4B63A3}" type="presParOf" srcId="{FA09B552-3A85-4232-B6FF-DF3563A1DFF6}" destId="{61DCEA73-1890-47CD-9CF1-8E3121B8DFB7}" srcOrd="10" destOrd="0" presId="urn:microsoft.com/office/officeart/2005/8/layout/bProcess4"/>
    <dgm:cxn modelId="{42131D37-03A2-4AE4-AF9F-45F1E567F4DA}" type="presParOf" srcId="{61DCEA73-1890-47CD-9CF1-8E3121B8DFB7}" destId="{C5C1243D-6A2A-470A-B407-8FE1E4ACB644}" srcOrd="0" destOrd="0" presId="urn:microsoft.com/office/officeart/2005/8/layout/bProcess4"/>
    <dgm:cxn modelId="{A870D005-8A3F-43D6-B179-C817B09F531B}" type="presParOf" srcId="{61DCEA73-1890-47CD-9CF1-8E3121B8DFB7}" destId="{2A8FC2BC-6733-43BE-B03E-404DB2A827CB}" srcOrd="1" destOrd="0" presId="urn:microsoft.com/office/officeart/2005/8/layout/b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C979E8A-E53F-4216-9515-365E37C7FD6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de-DE"/>
        </a:p>
      </dgm:t>
    </dgm:pt>
    <dgm:pt modelId="{2A3FEA19-F993-4017-A1C4-CDA08D14C31E}">
      <dgm:prSet/>
      <dgm:spPr>
        <a:solidFill>
          <a:schemeClr val="bg1">
            <a:alpha val="80000"/>
          </a:schemeClr>
        </a:solidFill>
        <a:ln>
          <a:solidFill>
            <a:schemeClr val="bg1"/>
          </a:solidFill>
        </a:ln>
      </dgm:spPr>
      <dgm:t>
        <a:bodyPr/>
        <a:lstStyle/>
        <a:p>
          <a:r>
            <a:rPr lang="de-DE"/>
            <a:t>Long</a:t>
          </a:r>
        </a:p>
      </dgm:t>
    </dgm:pt>
    <dgm:pt modelId="{83B9B04E-1490-49A2-A4D2-27F068CB9617}" type="parTrans" cxnId="{6748EB75-3AB2-4A40-8CFC-F756E184BC65}">
      <dgm:prSet/>
      <dgm:spPr/>
      <dgm:t>
        <a:bodyPr/>
        <a:lstStyle/>
        <a:p>
          <a:endParaRPr lang="de-DE"/>
        </a:p>
      </dgm:t>
    </dgm:pt>
    <dgm:pt modelId="{DF96CB8D-A75C-40CC-B544-187CBBCFA27C}" type="sibTrans" cxnId="{6748EB75-3AB2-4A40-8CFC-F756E184BC65}">
      <dgm:prSet/>
      <dgm:spPr/>
      <dgm:t>
        <a:bodyPr/>
        <a:lstStyle/>
        <a:p>
          <a:endParaRPr lang="de-DE"/>
        </a:p>
      </dgm:t>
    </dgm:pt>
    <dgm:pt modelId="{778CF562-359E-4753-A22C-E468C9911E57}">
      <dgm:prSet/>
      <dgm:spPr>
        <a:solidFill>
          <a:schemeClr val="tx1">
            <a:lumMod val="85000"/>
            <a:alpha val="70000"/>
          </a:schemeClr>
        </a:solidFill>
        <a:ln>
          <a:noFill/>
        </a:ln>
      </dgm:spPr>
      <dgm:t>
        <a:bodyPr/>
        <a:lstStyle/>
        <a:p>
          <a:r>
            <a:rPr lang="de-DE" dirty="0" err="1"/>
            <a:t>LongWritable</a:t>
          </a:r>
          <a:endParaRPr lang="de-DE" dirty="0"/>
        </a:p>
      </dgm:t>
    </dgm:pt>
    <dgm:pt modelId="{392CACBE-4825-4E9D-90B6-2F96A5737E09}" type="parTrans" cxnId="{6932D116-D679-45B0-AFBB-1722FC947322}">
      <dgm:prSet/>
      <dgm:spPr/>
      <dgm:t>
        <a:bodyPr/>
        <a:lstStyle/>
        <a:p>
          <a:endParaRPr lang="de-DE"/>
        </a:p>
      </dgm:t>
    </dgm:pt>
    <dgm:pt modelId="{8150D31D-860F-4EF1-92B2-1A02E03DC127}" type="sibTrans" cxnId="{6932D116-D679-45B0-AFBB-1722FC947322}">
      <dgm:prSet/>
      <dgm:spPr/>
      <dgm:t>
        <a:bodyPr/>
        <a:lstStyle/>
        <a:p>
          <a:endParaRPr lang="de-DE"/>
        </a:p>
      </dgm:t>
    </dgm:pt>
    <dgm:pt modelId="{8C89C255-A17E-4ABB-9DB1-148824008B7D}">
      <dgm:prSet/>
      <dgm:spPr>
        <a:solidFill>
          <a:schemeClr val="bg1">
            <a:alpha val="80000"/>
          </a:schemeClr>
        </a:solidFill>
        <a:ln>
          <a:solidFill>
            <a:schemeClr val="bg1"/>
          </a:solidFill>
        </a:ln>
      </dgm:spPr>
      <dgm:t>
        <a:bodyPr/>
        <a:lstStyle/>
        <a:p>
          <a:r>
            <a:rPr lang="de-DE"/>
            <a:t>Integer </a:t>
          </a:r>
        </a:p>
      </dgm:t>
    </dgm:pt>
    <dgm:pt modelId="{84398FCC-06EC-488C-A549-BB873AC79911}" type="parTrans" cxnId="{CCC5728E-115C-44CA-801E-6F5359F42A66}">
      <dgm:prSet/>
      <dgm:spPr/>
      <dgm:t>
        <a:bodyPr/>
        <a:lstStyle/>
        <a:p>
          <a:endParaRPr lang="de-DE"/>
        </a:p>
      </dgm:t>
    </dgm:pt>
    <dgm:pt modelId="{56BD08F9-E9EB-4596-81D1-E017FEACFAF3}" type="sibTrans" cxnId="{CCC5728E-115C-44CA-801E-6F5359F42A66}">
      <dgm:prSet/>
      <dgm:spPr/>
      <dgm:t>
        <a:bodyPr/>
        <a:lstStyle/>
        <a:p>
          <a:endParaRPr lang="de-DE"/>
        </a:p>
      </dgm:t>
    </dgm:pt>
    <dgm:pt modelId="{F69E0388-D6A6-4F5B-BDB5-F16C07624E91}">
      <dgm:prSet/>
      <dgm:spPr>
        <a:solidFill>
          <a:schemeClr val="tx1">
            <a:lumMod val="85000"/>
            <a:alpha val="70000"/>
          </a:schemeClr>
        </a:solidFill>
        <a:ln>
          <a:noFill/>
        </a:ln>
      </dgm:spPr>
      <dgm:t>
        <a:bodyPr/>
        <a:lstStyle/>
        <a:p>
          <a:r>
            <a:rPr lang="de-DE" dirty="0" err="1"/>
            <a:t>IntWritable</a:t>
          </a:r>
          <a:endParaRPr lang="de-DE" dirty="0"/>
        </a:p>
      </dgm:t>
    </dgm:pt>
    <dgm:pt modelId="{BA1F7DE8-C20B-4BDD-8B27-E027FA90FCBE}" type="parTrans" cxnId="{04B24D81-752D-4F39-8CF7-1E63D68B015A}">
      <dgm:prSet/>
      <dgm:spPr/>
      <dgm:t>
        <a:bodyPr/>
        <a:lstStyle/>
        <a:p>
          <a:endParaRPr lang="de-DE"/>
        </a:p>
      </dgm:t>
    </dgm:pt>
    <dgm:pt modelId="{8C65A515-3749-4F94-AC06-DAA6D3DA0F8E}" type="sibTrans" cxnId="{04B24D81-752D-4F39-8CF7-1E63D68B015A}">
      <dgm:prSet/>
      <dgm:spPr/>
      <dgm:t>
        <a:bodyPr/>
        <a:lstStyle/>
        <a:p>
          <a:endParaRPr lang="de-DE"/>
        </a:p>
      </dgm:t>
    </dgm:pt>
    <dgm:pt modelId="{D6072C2D-2B05-425C-AA28-7C5809EA4A64}">
      <dgm:prSet/>
      <dgm:spPr>
        <a:solidFill>
          <a:schemeClr val="bg1">
            <a:alpha val="80000"/>
          </a:schemeClr>
        </a:solidFill>
        <a:ln>
          <a:solidFill>
            <a:schemeClr val="bg1"/>
          </a:solidFill>
        </a:ln>
      </dgm:spPr>
      <dgm:t>
        <a:bodyPr/>
        <a:lstStyle/>
        <a:p>
          <a:r>
            <a:rPr lang="de-DE"/>
            <a:t>String </a:t>
          </a:r>
        </a:p>
      </dgm:t>
    </dgm:pt>
    <dgm:pt modelId="{1EE37CCB-29DD-46AD-B543-28D75811C814}" type="parTrans" cxnId="{0C723348-09C0-4DA4-AC7C-45FE11589D61}">
      <dgm:prSet/>
      <dgm:spPr/>
      <dgm:t>
        <a:bodyPr/>
        <a:lstStyle/>
        <a:p>
          <a:endParaRPr lang="de-DE"/>
        </a:p>
      </dgm:t>
    </dgm:pt>
    <dgm:pt modelId="{DBC4A93F-8F24-4653-8E0D-73BF4B6B520A}" type="sibTrans" cxnId="{0C723348-09C0-4DA4-AC7C-45FE11589D61}">
      <dgm:prSet/>
      <dgm:spPr/>
      <dgm:t>
        <a:bodyPr/>
        <a:lstStyle/>
        <a:p>
          <a:endParaRPr lang="de-DE"/>
        </a:p>
      </dgm:t>
    </dgm:pt>
    <dgm:pt modelId="{7DC1125B-59E7-402C-83C8-874AD2805F33}">
      <dgm:prSet/>
      <dgm:spPr>
        <a:solidFill>
          <a:schemeClr val="tx1">
            <a:lumMod val="85000"/>
            <a:alpha val="70000"/>
          </a:schemeClr>
        </a:solidFill>
        <a:ln>
          <a:noFill/>
        </a:ln>
      </dgm:spPr>
      <dgm:t>
        <a:bodyPr/>
        <a:lstStyle/>
        <a:p>
          <a:r>
            <a:rPr lang="de-DE" dirty="0"/>
            <a:t>Text</a:t>
          </a:r>
        </a:p>
      </dgm:t>
    </dgm:pt>
    <dgm:pt modelId="{640B555A-4706-4F33-B7AE-615AE7BC19C5}" type="parTrans" cxnId="{96A04B45-E926-4618-B91C-F5460B4478C8}">
      <dgm:prSet/>
      <dgm:spPr/>
      <dgm:t>
        <a:bodyPr/>
        <a:lstStyle/>
        <a:p>
          <a:endParaRPr lang="de-DE"/>
        </a:p>
      </dgm:t>
    </dgm:pt>
    <dgm:pt modelId="{CCD7FEB8-7F82-4634-9321-CF2F8C33A670}" type="sibTrans" cxnId="{96A04B45-E926-4618-B91C-F5460B4478C8}">
      <dgm:prSet/>
      <dgm:spPr/>
      <dgm:t>
        <a:bodyPr/>
        <a:lstStyle/>
        <a:p>
          <a:endParaRPr lang="de-DE"/>
        </a:p>
      </dgm:t>
    </dgm:pt>
    <dgm:pt modelId="{2DCD9FB4-E899-4D20-B579-351F2F1C01DE}" type="pres">
      <dgm:prSet presAssocID="{4C979E8A-E53F-4216-9515-365E37C7FD6F}" presName="Name0" presStyleCnt="0">
        <dgm:presLayoutVars>
          <dgm:dir/>
          <dgm:animLvl val="lvl"/>
          <dgm:resizeHandles val="exact"/>
        </dgm:presLayoutVars>
      </dgm:prSet>
      <dgm:spPr/>
    </dgm:pt>
    <dgm:pt modelId="{FA24447B-E05D-4356-8980-8E5DD934CC80}" type="pres">
      <dgm:prSet presAssocID="{2A3FEA19-F993-4017-A1C4-CDA08D14C31E}" presName="linNode" presStyleCnt="0"/>
      <dgm:spPr/>
    </dgm:pt>
    <dgm:pt modelId="{EE9CFB12-C13E-431A-9C04-F33E98522841}" type="pres">
      <dgm:prSet presAssocID="{2A3FEA19-F993-4017-A1C4-CDA08D14C31E}" presName="parentText" presStyleLbl="node1" presStyleIdx="0" presStyleCnt="3">
        <dgm:presLayoutVars>
          <dgm:chMax val="1"/>
          <dgm:bulletEnabled val="1"/>
        </dgm:presLayoutVars>
      </dgm:prSet>
      <dgm:spPr/>
    </dgm:pt>
    <dgm:pt modelId="{61624857-E50B-455A-8B36-B2198A383B8A}" type="pres">
      <dgm:prSet presAssocID="{2A3FEA19-F993-4017-A1C4-CDA08D14C31E}" presName="descendantText" presStyleLbl="alignAccFollowNode1" presStyleIdx="0" presStyleCnt="3">
        <dgm:presLayoutVars>
          <dgm:bulletEnabled val="1"/>
        </dgm:presLayoutVars>
      </dgm:prSet>
      <dgm:spPr/>
    </dgm:pt>
    <dgm:pt modelId="{75734350-2074-4A0B-9372-7C39AFE7FE6D}" type="pres">
      <dgm:prSet presAssocID="{DF96CB8D-A75C-40CC-B544-187CBBCFA27C}" presName="sp" presStyleCnt="0"/>
      <dgm:spPr/>
    </dgm:pt>
    <dgm:pt modelId="{3442356D-A319-4CA7-AA3E-B050AAAD45BF}" type="pres">
      <dgm:prSet presAssocID="{8C89C255-A17E-4ABB-9DB1-148824008B7D}" presName="linNode" presStyleCnt="0"/>
      <dgm:spPr/>
    </dgm:pt>
    <dgm:pt modelId="{A36EEA28-5A16-4F17-9A7F-5E6006B118B1}" type="pres">
      <dgm:prSet presAssocID="{8C89C255-A17E-4ABB-9DB1-148824008B7D}" presName="parentText" presStyleLbl="node1" presStyleIdx="1" presStyleCnt="3">
        <dgm:presLayoutVars>
          <dgm:chMax val="1"/>
          <dgm:bulletEnabled val="1"/>
        </dgm:presLayoutVars>
      </dgm:prSet>
      <dgm:spPr/>
    </dgm:pt>
    <dgm:pt modelId="{AE0F872A-880E-4FFE-BF0F-CEB7B717813C}" type="pres">
      <dgm:prSet presAssocID="{8C89C255-A17E-4ABB-9DB1-148824008B7D}" presName="descendantText" presStyleLbl="alignAccFollowNode1" presStyleIdx="1" presStyleCnt="3">
        <dgm:presLayoutVars>
          <dgm:bulletEnabled val="1"/>
        </dgm:presLayoutVars>
      </dgm:prSet>
      <dgm:spPr/>
    </dgm:pt>
    <dgm:pt modelId="{6682981F-3257-4CC5-8CF9-8512CBFEACCB}" type="pres">
      <dgm:prSet presAssocID="{56BD08F9-E9EB-4596-81D1-E017FEACFAF3}" presName="sp" presStyleCnt="0"/>
      <dgm:spPr/>
    </dgm:pt>
    <dgm:pt modelId="{3F43FB27-4011-4A7F-866B-4DBD8EAD2028}" type="pres">
      <dgm:prSet presAssocID="{D6072C2D-2B05-425C-AA28-7C5809EA4A64}" presName="linNode" presStyleCnt="0"/>
      <dgm:spPr/>
    </dgm:pt>
    <dgm:pt modelId="{C997309B-D106-4C0A-AB11-A54E09C7C35C}" type="pres">
      <dgm:prSet presAssocID="{D6072C2D-2B05-425C-AA28-7C5809EA4A64}" presName="parentText" presStyleLbl="node1" presStyleIdx="2" presStyleCnt="3">
        <dgm:presLayoutVars>
          <dgm:chMax val="1"/>
          <dgm:bulletEnabled val="1"/>
        </dgm:presLayoutVars>
      </dgm:prSet>
      <dgm:spPr/>
    </dgm:pt>
    <dgm:pt modelId="{37751DE7-704E-42A1-B774-0F0CB8413B9A}" type="pres">
      <dgm:prSet presAssocID="{D6072C2D-2B05-425C-AA28-7C5809EA4A64}" presName="descendantText" presStyleLbl="alignAccFollowNode1" presStyleIdx="2" presStyleCnt="3">
        <dgm:presLayoutVars>
          <dgm:bulletEnabled val="1"/>
        </dgm:presLayoutVars>
      </dgm:prSet>
      <dgm:spPr/>
    </dgm:pt>
  </dgm:ptLst>
  <dgm:cxnLst>
    <dgm:cxn modelId="{6932D116-D679-45B0-AFBB-1722FC947322}" srcId="{2A3FEA19-F993-4017-A1C4-CDA08D14C31E}" destId="{778CF562-359E-4753-A22C-E468C9911E57}" srcOrd="0" destOrd="0" parTransId="{392CACBE-4825-4E9D-90B6-2F96A5737E09}" sibTransId="{8150D31D-860F-4EF1-92B2-1A02E03DC127}"/>
    <dgm:cxn modelId="{96A04B45-E926-4618-B91C-F5460B4478C8}" srcId="{D6072C2D-2B05-425C-AA28-7C5809EA4A64}" destId="{7DC1125B-59E7-402C-83C8-874AD2805F33}" srcOrd="0" destOrd="0" parTransId="{640B555A-4706-4F33-B7AE-615AE7BC19C5}" sibTransId="{CCD7FEB8-7F82-4634-9321-CF2F8C33A670}"/>
    <dgm:cxn modelId="{74C58165-C02E-4F49-976E-5D85EAE7C5D3}" type="presOf" srcId="{D6072C2D-2B05-425C-AA28-7C5809EA4A64}" destId="{C997309B-D106-4C0A-AB11-A54E09C7C35C}" srcOrd="0" destOrd="0" presId="urn:microsoft.com/office/officeart/2005/8/layout/vList5"/>
    <dgm:cxn modelId="{0C723348-09C0-4DA4-AC7C-45FE11589D61}" srcId="{4C979E8A-E53F-4216-9515-365E37C7FD6F}" destId="{D6072C2D-2B05-425C-AA28-7C5809EA4A64}" srcOrd="2" destOrd="0" parTransId="{1EE37CCB-29DD-46AD-B543-28D75811C814}" sibTransId="{DBC4A93F-8F24-4653-8E0D-73BF4B6B520A}"/>
    <dgm:cxn modelId="{6748EB75-3AB2-4A40-8CFC-F756E184BC65}" srcId="{4C979E8A-E53F-4216-9515-365E37C7FD6F}" destId="{2A3FEA19-F993-4017-A1C4-CDA08D14C31E}" srcOrd="0" destOrd="0" parTransId="{83B9B04E-1490-49A2-A4D2-27F068CB9617}" sibTransId="{DF96CB8D-A75C-40CC-B544-187CBBCFA27C}"/>
    <dgm:cxn modelId="{4D8E2A7B-24E6-46A0-A023-E0A1A8D4090B}" type="presOf" srcId="{7DC1125B-59E7-402C-83C8-874AD2805F33}" destId="{37751DE7-704E-42A1-B774-0F0CB8413B9A}" srcOrd="0" destOrd="0" presId="urn:microsoft.com/office/officeart/2005/8/layout/vList5"/>
    <dgm:cxn modelId="{04B24D81-752D-4F39-8CF7-1E63D68B015A}" srcId="{8C89C255-A17E-4ABB-9DB1-148824008B7D}" destId="{F69E0388-D6A6-4F5B-BDB5-F16C07624E91}" srcOrd="0" destOrd="0" parTransId="{BA1F7DE8-C20B-4BDD-8B27-E027FA90FCBE}" sibTransId="{8C65A515-3749-4F94-AC06-DAA6D3DA0F8E}"/>
    <dgm:cxn modelId="{CCC5728E-115C-44CA-801E-6F5359F42A66}" srcId="{4C979E8A-E53F-4216-9515-365E37C7FD6F}" destId="{8C89C255-A17E-4ABB-9DB1-148824008B7D}" srcOrd="1" destOrd="0" parTransId="{84398FCC-06EC-488C-A549-BB873AC79911}" sibTransId="{56BD08F9-E9EB-4596-81D1-E017FEACFAF3}"/>
    <dgm:cxn modelId="{F31446C9-FEDF-459E-965C-EC9673C2D8D1}" type="presOf" srcId="{4C979E8A-E53F-4216-9515-365E37C7FD6F}" destId="{2DCD9FB4-E899-4D20-B579-351F2F1C01DE}" srcOrd="0" destOrd="0" presId="urn:microsoft.com/office/officeart/2005/8/layout/vList5"/>
    <dgm:cxn modelId="{908C53CD-B6D0-4148-AC1A-16440E310910}" type="presOf" srcId="{F69E0388-D6A6-4F5B-BDB5-F16C07624E91}" destId="{AE0F872A-880E-4FFE-BF0F-CEB7B717813C}" srcOrd="0" destOrd="0" presId="urn:microsoft.com/office/officeart/2005/8/layout/vList5"/>
    <dgm:cxn modelId="{B1CD23D1-D14E-4BEB-B8B4-5A73BBCF1301}" type="presOf" srcId="{2A3FEA19-F993-4017-A1C4-CDA08D14C31E}" destId="{EE9CFB12-C13E-431A-9C04-F33E98522841}" srcOrd="0" destOrd="0" presId="urn:microsoft.com/office/officeart/2005/8/layout/vList5"/>
    <dgm:cxn modelId="{432617D3-C211-4013-AFC8-82A04D0207B9}" type="presOf" srcId="{8C89C255-A17E-4ABB-9DB1-148824008B7D}" destId="{A36EEA28-5A16-4F17-9A7F-5E6006B118B1}" srcOrd="0" destOrd="0" presId="urn:microsoft.com/office/officeart/2005/8/layout/vList5"/>
    <dgm:cxn modelId="{CA212DE4-5B85-4157-AF8F-2180BA45F24B}" type="presOf" srcId="{778CF562-359E-4753-A22C-E468C9911E57}" destId="{61624857-E50B-455A-8B36-B2198A383B8A}" srcOrd="0" destOrd="0" presId="urn:microsoft.com/office/officeart/2005/8/layout/vList5"/>
    <dgm:cxn modelId="{00FB2BDE-156F-4888-ABAF-2CEF27D80407}" type="presParOf" srcId="{2DCD9FB4-E899-4D20-B579-351F2F1C01DE}" destId="{FA24447B-E05D-4356-8980-8E5DD934CC80}" srcOrd="0" destOrd="0" presId="urn:microsoft.com/office/officeart/2005/8/layout/vList5"/>
    <dgm:cxn modelId="{49555045-EAFE-4D56-996D-E4B9533F5C56}" type="presParOf" srcId="{FA24447B-E05D-4356-8980-8E5DD934CC80}" destId="{EE9CFB12-C13E-431A-9C04-F33E98522841}" srcOrd="0" destOrd="0" presId="urn:microsoft.com/office/officeart/2005/8/layout/vList5"/>
    <dgm:cxn modelId="{5A649526-48BF-4020-A28D-777FA1039EF4}" type="presParOf" srcId="{FA24447B-E05D-4356-8980-8E5DD934CC80}" destId="{61624857-E50B-455A-8B36-B2198A383B8A}" srcOrd="1" destOrd="0" presId="urn:microsoft.com/office/officeart/2005/8/layout/vList5"/>
    <dgm:cxn modelId="{4F5ACDCA-E461-4757-B20D-4BC65C22972B}" type="presParOf" srcId="{2DCD9FB4-E899-4D20-B579-351F2F1C01DE}" destId="{75734350-2074-4A0B-9372-7C39AFE7FE6D}" srcOrd="1" destOrd="0" presId="urn:microsoft.com/office/officeart/2005/8/layout/vList5"/>
    <dgm:cxn modelId="{EE2D0BF0-76E9-474E-989C-CDE89A723F30}" type="presParOf" srcId="{2DCD9FB4-E899-4D20-B579-351F2F1C01DE}" destId="{3442356D-A319-4CA7-AA3E-B050AAAD45BF}" srcOrd="2" destOrd="0" presId="urn:microsoft.com/office/officeart/2005/8/layout/vList5"/>
    <dgm:cxn modelId="{69CCE79A-D080-401D-A87D-4FF56D26DC72}" type="presParOf" srcId="{3442356D-A319-4CA7-AA3E-B050AAAD45BF}" destId="{A36EEA28-5A16-4F17-9A7F-5E6006B118B1}" srcOrd="0" destOrd="0" presId="urn:microsoft.com/office/officeart/2005/8/layout/vList5"/>
    <dgm:cxn modelId="{0C11ED82-04B4-4A80-8B67-BE9D576DCAFC}" type="presParOf" srcId="{3442356D-A319-4CA7-AA3E-B050AAAD45BF}" destId="{AE0F872A-880E-4FFE-BF0F-CEB7B717813C}" srcOrd="1" destOrd="0" presId="urn:microsoft.com/office/officeart/2005/8/layout/vList5"/>
    <dgm:cxn modelId="{FF0F7405-61F0-4823-B731-93EF0397E3CC}" type="presParOf" srcId="{2DCD9FB4-E899-4D20-B579-351F2F1C01DE}" destId="{6682981F-3257-4CC5-8CF9-8512CBFEACCB}" srcOrd="3" destOrd="0" presId="urn:microsoft.com/office/officeart/2005/8/layout/vList5"/>
    <dgm:cxn modelId="{40B2A254-7DEE-4D20-BAFD-BC6C2CAECC4B}" type="presParOf" srcId="{2DCD9FB4-E899-4D20-B579-351F2F1C01DE}" destId="{3F43FB27-4011-4A7F-866B-4DBD8EAD2028}" srcOrd="4" destOrd="0" presId="urn:microsoft.com/office/officeart/2005/8/layout/vList5"/>
    <dgm:cxn modelId="{8C1FE378-EF42-49C3-AD43-1488AB202A54}" type="presParOf" srcId="{3F43FB27-4011-4A7F-866B-4DBD8EAD2028}" destId="{C997309B-D106-4C0A-AB11-A54E09C7C35C}" srcOrd="0" destOrd="0" presId="urn:microsoft.com/office/officeart/2005/8/layout/vList5"/>
    <dgm:cxn modelId="{F0C2F4F4-7D46-4B87-BB4F-F2C6538DE7A9}" type="presParOf" srcId="{3F43FB27-4011-4A7F-866B-4DBD8EAD2028}" destId="{37751DE7-704E-42A1-B774-0F0CB8413B9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9353265-3900-4675-89CA-39D57E33EB18}"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de-DE"/>
        </a:p>
      </dgm:t>
    </dgm:pt>
    <dgm:pt modelId="{687E3F95-1B87-4D11-A56F-4FA817AD27AF}">
      <dgm:prSet phldrT="[Text]"/>
      <dgm:spPr>
        <a:solidFill>
          <a:schemeClr val="bg1"/>
        </a:solidFill>
        <a:ln>
          <a:solidFill>
            <a:schemeClr val="bg1"/>
          </a:solidFill>
        </a:ln>
      </dgm:spPr>
      <dgm:t>
        <a:bodyPr/>
        <a:lstStyle/>
        <a:p>
          <a:r>
            <a:rPr lang="de-DE" dirty="0"/>
            <a:t>(This,1), (is,1), (an,1), (Apple,1);</a:t>
          </a:r>
        </a:p>
        <a:p>
          <a:r>
            <a:rPr lang="de-DE" dirty="0"/>
            <a:t>(The,1),(Apple,1),(is,1),(red,1)</a:t>
          </a:r>
        </a:p>
      </dgm:t>
    </dgm:pt>
    <dgm:pt modelId="{A31F7217-C771-42DE-AB52-4939897C4809}" type="parTrans" cxnId="{5237F414-1128-4F30-8E7A-52BEE29A924B}">
      <dgm:prSet/>
      <dgm:spPr/>
      <dgm:t>
        <a:bodyPr/>
        <a:lstStyle/>
        <a:p>
          <a:endParaRPr lang="de-DE"/>
        </a:p>
      </dgm:t>
    </dgm:pt>
    <dgm:pt modelId="{1DD4EBD1-4C12-4F5C-940D-2C2427213C2E}" type="sibTrans" cxnId="{5237F414-1128-4F30-8E7A-52BEE29A924B}">
      <dgm:prSet/>
      <dgm:spPr/>
      <dgm:t>
        <a:bodyPr/>
        <a:lstStyle/>
        <a:p>
          <a:endParaRPr lang="de-DE"/>
        </a:p>
      </dgm:t>
    </dgm:pt>
    <dgm:pt modelId="{E019ED0C-299B-4E31-B140-1F7186C7145E}">
      <dgm:prSet phldrT="[Text]"/>
      <dgm:spPr>
        <a:solidFill>
          <a:schemeClr val="bg1"/>
        </a:solidFill>
        <a:ln>
          <a:solidFill>
            <a:schemeClr val="bg1"/>
          </a:solidFill>
        </a:ln>
      </dgm:spPr>
      <dgm:t>
        <a:bodyPr/>
        <a:lstStyle/>
        <a:p>
          <a:r>
            <a:rPr lang="de-DE" dirty="0"/>
            <a:t>(This,1), [(is,1),(is,1)], (an,1), [(Apple,1), (Apple,1)], (The,1) (red,1)</a:t>
          </a:r>
        </a:p>
      </dgm:t>
    </dgm:pt>
    <dgm:pt modelId="{2D6CC7E8-9098-42B7-B8E6-E039FDB8678C}" type="parTrans" cxnId="{407DF7A6-BF99-4EED-9241-A5087533D172}">
      <dgm:prSet/>
      <dgm:spPr/>
      <dgm:t>
        <a:bodyPr/>
        <a:lstStyle/>
        <a:p>
          <a:endParaRPr lang="de-DE"/>
        </a:p>
      </dgm:t>
    </dgm:pt>
    <dgm:pt modelId="{81D54013-BC90-49B3-B89F-17CCE9695D13}" type="sibTrans" cxnId="{407DF7A6-BF99-4EED-9241-A5087533D172}">
      <dgm:prSet/>
      <dgm:spPr/>
      <dgm:t>
        <a:bodyPr/>
        <a:lstStyle/>
        <a:p>
          <a:endParaRPr lang="de-DE"/>
        </a:p>
      </dgm:t>
    </dgm:pt>
    <dgm:pt modelId="{616964A0-5F33-446E-A388-79B7B064635A}">
      <dgm:prSet phldrT="[Text]"/>
      <dgm:spPr>
        <a:solidFill>
          <a:schemeClr val="bg1"/>
        </a:solidFill>
        <a:ln>
          <a:solidFill>
            <a:schemeClr val="bg1"/>
          </a:solidFill>
        </a:ln>
      </dgm:spPr>
      <dgm:t>
        <a:bodyPr/>
        <a:lstStyle/>
        <a:p>
          <a:r>
            <a:rPr lang="de-DE" dirty="0"/>
            <a:t>(This,1), (is,2), (an,1), (Apple,2), (The,1), (red,1)</a:t>
          </a:r>
        </a:p>
      </dgm:t>
    </dgm:pt>
    <dgm:pt modelId="{A4C4BBF4-1B41-400E-BF6E-17F685D8CA39}" type="parTrans" cxnId="{8557C013-8BB3-4917-BDA1-C32A61080018}">
      <dgm:prSet/>
      <dgm:spPr/>
      <dgm:t>
        <a:bodyPr/>
        <a:lstStyle/>
        <a:p>
          <a:endParaRPr lang="de-DE"/>
        </a:p>
      </dgm:t>
    </dgm:pt>
    <dgm:pt modelId="{E1BEEEFA-033E-4915-B1BC-BC541DD67E9A}" type="sibTrans" cxnId="{8557C013-8BB3-4917-BDA1-C32A61080018}">
      <dgm:prSet/>
      <dgm:spPr/>
      <dgm:t>
        <a:bodyPr/>
        <a:lstStyle/>
        <a:p>
          <a:endParaRPr lang="de-DE"/>
        </a:p>
      </dgm:t>
    </dgm:pt>
    <dgm:pt modelId="{63932CD7-A936-4CE1-95F7-AEA09F149394}" type="pres">
      <dgm:prSet presAssocID="{B9353265-3900-4675-89CA-39D57E33EB18}" presName="outerComposite" presStyleCnt="0">
        <dgm:presLayoutVars>
          <dgm:chMax val="5"/>
          <dgm:dir/>
          <dgm:resizeHandles val="exact"/>
        </dgm:presLayoutVars>
      </dgm:prSet>
      <dgm:spPr/>
    </dgm:pt>
    <dgm:pt modelId="{6DA29134-591D-4E5A-BF3D-F4F3E57E038F}" type="pres">
      <dgm:prSet presAssocID="{B9353265-3900-4675-89CA-39D57E33EB18}" presName="dummyMaxCanvas" presStyleCnt="0">
        <dgm:presLayoutVars/>
      </dgm:prSet>
      <dgm:spPr/>
    </dgm:pt>
    <dgm:pt modelId="{C2FB4F28-562A-4FAC-9288-D9B7492FBFD3}" type="pres">
      <dgm:prSet presAssocID="{B9353265-3900-4675-89CA-39D57E33EB18}" presName="ThreeNodes_1" presStyleLbl="node1" presStyleIdx="0" presStyleCnt="3">
        <dgm:presLayoutVars>
          <dgm:bulletEnabled val="1"/>
        </dgm:presLayoutVars>
      </dgm:prSet>
      <dgm:spPr/>
    </dgm:pt>
    <dgm:pt modelId="{6A02BFCF-3644-4B32-83D0-5B2D3175A44C}" type="pres">
      <dgm:prSet presAssocID="{B9353265-3900-4675-89CA-39D57E33EB18}" presName="ThreeNodes_2" presStyleLbl="node1" presStyleIdx="1" presStyleCnt="3">
        <dgm:presLayoutVars>
          <dgm:bulletEnabled val="1"/>
        </dgm:presLayoutVars>
      </dgm:prSet>
      <dgm:spPr/>
    </dgm:pt>
    <dgm:pt modelId="{3FE7667F-53CA-4B51-96EC-B82DF2614C2D}" type="pres">
      <dgm:prSet presAssocID="{B9353265-3900-4675-89CA-39D57E33EB18}" presName="ThreeNodes_3" presStyleLbl="node1" presStyleIdx="2" presStyleCnt="3">
        <dgm:presLayoutVars>
          <dgm:bulletEnabled val="1"/>
        </dgm:presLayoutVars>
      </dgm:prSet>
      <dgm:spPr/>
    </dgm:pt>
    <dgm:pt modelId="{F70E1C96-DD6F-4003-8636-7FBEBE7022E4}" type="pres">
      <dgm:prSet presAssocID="{B9353265-3900-4675-89CA-39D57E33EB18}" presName="ThreeConn_1-2" presStyleLbl="fgAccFollowNode1" presStyleIdx="0" presStyleCnt="2">
        <dgm:presLayoutVars>
          <dgm:bulletEnabled val="1"/>
        </dgm:presLayoutVars>
      </dgm:prSet>
      <dgm:spPr/>
    </dgm:pt>
    <dgm:pt modelId="{A9FDD45A-CC21-47DD-9466-D2C9A75D420F}" type="pres">
      <dgm:prSet presAssocID="{B9353265-3900-4675-89CA-39D57E33EB18}" presName="ThreeConn_2-3" presStyleLbl="fgAccFollowNode1" presStyleIdx="1" presStyleCnt="2">
        <dgm:presLayoutVars>
          <dgm:bulletEnabled val="1"/>
        </dgm:presLayoutVars>
      </dgm:prSet>
      <dgm:spPr/>
    </dgm:pt>
    <dgm:pt modelId="{D4636A5A-86D9-40F4-83DF-3974D9430EBB}" type="pres">
      <dgm:prSet presAssocID="{B9353265-3900-4675-89CA-39D57E33EB18}" presName="ThreeNodes_1_text" presStyleLbl="node1" presStyleIdx="2" presStyleCnt="3">
        <dgm:presLayoutVars>
          <dgm:bulletEnabled val="1"/>
        </dgm:presLayoutVars>
      </dgm:prSet>
      <dgm:spPr/>
    </dgm:pt>
    <dgm:pt modelId="{63F4D624-1218-4F8F-A30B-79C2F25DAC5D}" type="pres">
      <dgm:prSet presAssocID="{B9353265-3900-4675-89CA-39D57E33EB18}" presName="ThreeNodes_2_text" presStyleLbl="node1" presStyleIdx="2" presStyleCnt="3">
        <dgm:presLayoutVars>
          <dgm:bulletEnabled val="1"/>
        </dgm:presLayoutVars>
      </dgm:prSet>
      <dgm:spPr/>
    </dgm:pt>
    <dgm:pt modelId="{F58B05DB-CCD2-4C5F-86EB-C6FCDDC88E25}" type="pres">
      <dgm:prSet presAssocID="{B9353265-3900-4675-89CA-39D57E33EB18}" presName="ThreeNodes_3_text" presStyleLbl="node1" presStyleIdx="2" presStyleCnt="3">
        <dgm:presLayoutVars>
          <dgm:bulletEnabled val="1"/>
        </dgm:presLayoutVars>
      </dgm:prSet>
      <dgm:spPr/>
    </dgm:pt>
  </dgm:ptLst>
  <dgm:cxnLst>
    <dgm:cxn modelId="{4045D900-0A5F-45C8-AA5F-E7C854138E02}" type="presOf" srcId="{81D54013-BC90-49B3-B89F-17CCE9695D13}" destId="{A9FDD45A-CC21-47DD-9466-D2C9A75D420F}" srcOrd="0" destOrd="0" presId="urn:microsoft.com/office/officeart/2005/8/layout/vProcess5"/>
    <dgm:cxn modelId="{8557C013-8BB3-4917-BDA1-C32A61080018}" srcId="{B9353265-3900-4675-89CA-39D57E33EB18}" destId="{616964A0-5F33-446E-A388-79B7B064635A}" srcOrd="2" destOrd="0" parTransId="{A4C4BBF4-1B41-400E-BF6E-17F685D8CA39}" sibTransId="{E1BEEEFA-033E-4915-B1BC-BC541DD67E9A}"/>
    <dgm:cxn modelId="{5237F414-1128-4F30-8E7A-52BEE29A924B}" srcId="{B9353265-3900-4675-89CA-39D57E33EB18}" destId="{687E3F95-1B87-4D11-A56F-4FA817AD27AF}" srcOrd="0" destOrd="0" parTransId="{A31F7217-C771-42DE-AB52-4939897C4809}" sibTransId="{1DD4EBD1-4C12-4F5C-940D-2C2427213C2E}"/>
    <dgm:cxn modelId="{05204F3F-1D38-49C4-A01D-C3FADF9B20B4}" type="presOf" srcId="{687E3F95-1B87-4D11-A56F-4FA817AD27AF}" destId="{D4636A5A-86D9-40F4-83DF-3974D9430EBB}" srcOrd="1" destOrd="0" presId="urn:microsoft.com/office/officeart/2005/8/layout/vProcess5"/>
    <dgm:cxn modelId="{B512A54D-5A29-4F66-AD0F-91AB30E0764D}" type="presOf" srcId="{616964A0-5F33-446E-A388-79B7B064635A}" destId="{F58B05DB-CCD2-4C5F-86EB-C6FCDDC88E25}" srcOrd="1" destOrd="0" presId="urn:microsoft.com/office/officeart/2005/8/layout/vProcess5"/>
    <dgm:cxn modelId="{9110AB93-D24B-4F9C-B542-83773C9D22CF}" type="presOf" srcId="{E019ED0C-299B-4E31-B140-1F7186C7145E}" destId="{6A02BFCF-3644-4B32-83D0-5B2D3175A44C}" srcOrd="0" destOrd="0" presId="urn:microsoft.com/office/officeart/2005/8/layout/vProcess5"/>
    <dgm:cxn modelId="{407DF7A6-BF99-4EED-9241-A5087533D172}" srcId="{B9353265-3900-4675-89CA-39D57E33EB18}" destId="{E019ED0C-299B-4E31-B140-1F7186C7145E}" srcOrd="1" destOrd="0" parTransId="{2D6CC7E8-9098-42B7-B8E6-E039FDB8678C}" sibTransId="{81D54013-BC90-49B3-B89F-17CCE9695D13}"/>
    <dgm:cxn modelId="{938856AC-B58C-4E92-8E64-2FE9E2BACB91}" type="presOf" srcId="{E019ED0C-299B-4E31-B140-1F7186C7145E}" destId="{63F4D624-1218-4F8F-A30B-79C2F25DAC5D}" srcOrd="1" destOrd="0" presId="urn:microsoft.com/office/officeart/2005/8/layout/vProcess5"/>
    <dgm:cxn modelId="{58D233B5-B482-4F4D-A7E4-1429ACE198A1}" type="presOf" srcId="{687E3F95-1B87-4D11-A56F-4FA817AD27AF}" destId="{C2FB4F28-562A-4FAC-9288-D9B7492FBFD3}" srcOrd="0" destOrd="0" presId="urn:microsoft.com/office/officeart/2005/8/layout/vProcess5"/>
    <dgm:cxn modelId="{EB2236C6-FA6F-489A-90E1-F47A21EA996C}" type="presOf" srcId="{1DD4EBD1-4C12-4F5C-940D-2C2427213C2E}" destId="{F70E1C96-DD6F-4003-8636-7FBEBE7022E4}" srcOrd="0" destOrd="0" presId="urn:microsoft.com/office/officeart/2005/8/layout/vProcess5"/>
    <dgm:cxn modelId="{FBC481DA-0735-4E93-B8AF-4755F22CCDCB}" type="presOf" srcId="{B9353265-3900-4675-89CA-39D57E33EB18}" destId="{63932CD7-A936-4CE1-95F7-AEA09F149394}" srcOrd="0" destOrd="0" presId="urn:microsoft.com/office/officeart/2005/8/layout/vProcess5"/>
    <dgm:cxn modelId="{1EEAD2F7-5ADF-452C-8CAF-778AFA991047}" type="presOf" srcId="{616964A0-5F33-446E-A388-79B7B064635A}" destId="{3FE7667F-53CA-4B51-96EC-B82DF2614C2D}" srcOrd="0" destOrd="0" presId="urn:microsoft.com/office/officeart/2005/8/layout/vProcess5"/>
    <dgm:cxn modelId="{D18BDB78-D5C6-4C9B-84CD-21DF0198D8C9}" type="presParOf" srcId="{63932CD7-A936-4CE1-95F7-AEA09F149394}" destId="{6DA29134-591D-4E5A-BF3D-F4F3E57E038F}" srcOrd="0" destOrd="0" presId="urn:microsoft.com/office/officeart/2005/8/layout/vProcess5"/>
    <dgm:cxn modelId="{7B3CBE5A-BCEA-4436-96D9-7A3B4E6AF21E}" type="presParOf" srcId="{63932CD7-A936-4CE1-95F7-AEA09F149394}" destId="{C2FB4F28-562A-4FAC-9288-D9B7492FBFD3}" srcOrd="1" destOrd="0" presId="urn:microsoft.com/office/officeart/2005/8/layout/vProcess5"/>
    <dgm:cxn modelId="{7A29640D-7D6D-44C4-BE8B-AE1DDB76B3C3}" type="presParOf" srcId="{63932CD7-A936-4CE1-95F7-AEA09F149394}" destId="{6A02BFCF-3644-4B32-83D0-5B2D3175A44C}" srcOrd="2" destOrd="0" presId="urn:microsoft.com/office/officeart/2005/8/layout/vProcess5"/>
    <dgm:cxn modelId="{299330A6-7700-4328-BB48-703694807355}" type="presParOf" srcId="{63932CD7-A936-4CE1-95F7-AEA09F149394}" destId="{3FE7667F-53CA-4B51-96EC-B82DF2614C2D}" srcOrd="3" destOrd="0" presId="urn:microsoft.com/office/officeart/2005/8/layout/vProcess5"/>
    <dgm:cxn modelId="{07A3F989-D8AD-4DC4-9C9C-022904288E10}" type="presParOf" srcId="{63932CD7-A936-4CE1-95F7-AEA09F149394}" destId="{F70E1C96-DD6F-4003-8636-7FBEBE7022E4}" srcOrd="4" destOrd="0" presId="urn:microsoft.com/office/officeart/2005/8/layout/vProcess5"/>
    <dgm:cxn modelId="{0D22E139-A1C3-4F0C-9361-EBACE5242EF3}" type="presParOf" srcId="{63932CD7-A936-4CE1-95F7-AEA09F149394}" destId="{A9FDD45A-CC21-47DD-9466-D2C9A75D420F}" srcOrd="5" destOrd="0" presId="urn:microsoft.com/office/officeart/2005/8/layout/vProcess5"/>
    <dgm:cxn modelId="{F16FC9F8-2C85-44B7-9D01-EFF1A9C210AF}" type="presParOf" srcId="{63932CD7-A936-4CE1-95F7-AEA09F149394}" destId="{D4636A5A-86D9-40F4-83DF-3974D9430EBB}" srcOrd="6" destOrd="0" presId="urn:microsoft.com/office/officeart/2005/8/layout/vProcess5"/>
    <dgm:cxn modelId="{19967BC9-20A0-492C-9AA2-FBAC904D7151}" type="presParOf" srcId="{63932CD7-A936-4CE1-95F7-AEA09F149394}" destId="{63F4D624-1218-4F8F-A30B-79C2F25DAC5D}" srcOrd="7" destOrd="0" presId="urn:microsoft.com/office/officeart/2005/8/layout/vProcess5"/>
    <dgm:cxn modelId="{59208389-6066-464D-9E50-8D779DC9A70D}" type="presParOf" srcId="{63932CD7-A936-4CE1-95F7-AEA09F149394}" destId="{F58B05DB-CCD2-4C5F-86EB-C6FCDDC88E2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9F4FC-F2C6-4911-AA82-5B3FC83D97B0}">
      <dsp:nvSpPr>
        <dsp:cNvPr id="0" name=""/>
        <dsp:cNvSpPr/>
      </dsp:nvSpPr>
      <dsp:spPr>
        <a:xfrm>
          <a:off x="0" y="2766"/>
          <a:ext cx="9906000" cy="589363"/>
        </a:xfrm>
        <a:prstGeom prst="roundRect">
          <a:avLst>
            <a:gd name="adj" fmla="val 10000"/>
          </a:avLst>
        </a:prstGeom>
        <a:solidFill>
          <a:schemeClr val="bg1">
            <a:lumMod val="95000"/>
            <a:hueOff val="0"/>
            <a:satOff val="0"/>
            <a:lumOff val="0"/>
            <a:alpha val="80000"/>
          </a:schemeClr>
        </a:solidFill>
        <a:ln>
          <a:noFill/>
        </a:ln>
        <a:effectLst/>
      </dsp:spPr>
      <dsp:style>
        <a:lnRef idx="0">
          <a:scrgbClr r="0" g="0" b="0"/>
        </a:lnRef>
        <a:fillRef idx="1">
          <a:scrgbClr r="0" g="0" b="0"/>
        </a:fillRef>
        <a:effectRef idx="0">
          <a:scrgbClr r="0" g="0" b="0"/>
        </a:effectRef>
        <a:fontRef idx="minor"/>
      </dsp:style>
    </dsp:sp>
    <dsp:sp modelId="{56AFB29D-E554-4D31-8F25-A867F3F99E01}">
      <dsp:nvSpPr>
        <dsp:cNvPr id="0" name=""/>
        <dsp:cNvSpPr/>
      </dsp:nvSpPr>
      <dsp:spPr>
        <a:xfrm>
          <a:off x="178282" y="135373"/>
          <a:ext cx="324149" cy="3241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6BF917-202C-4FE3-93AB-51FBCE401398}">
      <dsp:nvSpPr>
        <dsp:cNvPr id="0" name=""/>
        <dsp:cNvSpPr/>
      </dsp:nvSpPr>
      <dsp:spPr>
        <a:xfrm>
          <a:off x="680714" y="2766"/>
          <a:ext cx="9225285" cy="58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374" tIns="62374" rIns="62374" bIns="62374" numCol="1" spcCol="1270" anchor="ctr" anchorCtr="0">
          <a:noAutofit/>
        </a:bodyPr>
        <a:lstStyle/>
        <a:p>
          <a:pPr marL="0" lvl="0" indent="0" algn="l" defTabSz="844550">
            <a:lnSpc>
              <a:spcPct val="90000"/>
            </a:lnSpc>
            <a:spcBef>
              <a:spcPct val="0"/>
            </a:spcBef>
            <a:spcAft>
              <a:spcPct val="35000"/>
            </a:spcAft>
            <a:buNone/>
          </a:pPr>
          <a:r>
            <a:rPr lang="de-DE" sz="1900" kern="1200" dirty="0"/>
            <a:t>Überblick über Hadoop/MapReduce</a:t>
          </a:r>
          <a:endParaRPr lang="en-US" sz="1900" kern="1200" dirty="0"/>
        </a:p>
      </dsp:txBody>
      <dsp:txXfrm>
        <a:off x="680714" y="2766"/>
        <a:ext cx="9225285" cy="589363"/>
      </dsp:txXfrm>
    </dsp:sp>
    <dsp:sp modelId="{58C64EC4-4B59-4257-B7B2-F1FC8529519C}">
      <dsp:nvSpPr>
        <dsp:cNvPr id="0" name=""/>
        <dsp:cNvSpPr/>
      </dsp:nvSpPr>
      <dsp:spPr>
        <a:xfrm>
          <a:off x="0" y="739470"/>
          <a:ext cx="9906000" cy="589363"/>
        </a:xfrm>
        <a:prstGeom prst="roundRect">
          <a:avLst>
            <a:gd name="adj" fmla="val 10000"/>
          </a:avLst>
        </a:prstGeom>
        <a:solidFill>
          <a:schemeClr val="bg1">
            <a:lumMod val="95000"/>
            <a:hueOff val="0"/>
            <a:satOff val="0"/>
            <a:lumOff val="0"/>
            <a:alpha val="80000"/>
          </a:schemeClr>
        </a:solidFill>
        <a:ln>
          <a:noFill/>
        </a:ln>
        <a:effectLst/>
      </dsp:spPr>
      <dsp:style>
        <a:lnRef idx="0">
          <a:scrgbClr r="0" g="0" b="0"/>
        </a:lnRef>
        <a:fillRef idx="1">
          <a:scrgbClr r="0" g="0" b="0"/>
        </a:fillRef>
        <a:effectRef idx="0">
          <a:scrgbClr r="0" g="0" b="0"/>
        </a:effectRef>
        <a:fontRef idx="minor"/>
      </dsp:style>
    </dsp:sp>
    <dsp:sp modelId="{E29D1361-1283-49AD-B32C-2AC0725E2F46}">
      <dsp:nvSpPr>
        <dsp:cNvPr id="0" name=""/>
        <dsp:cNvSpPr/>
      </dsp:nvSpPr>
      <dsp:spPr>
        <a:xfrm>
          <a:off x="178282" y="872077"/>
          <a:ext cx="324149" cy="3241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6810EB-D270-4895-ADF4-4398623D5665}">
      <dsp:nvSpPr>
        <dsp:cNvPr id="0" name=""/>
        <dsp:cNvSpPr/>
      </dsp:nvSpPr>
      <dsp:spPr>
        <a:xfrm>
          <a:off x="680714" y="739470"/>
          <a:ext cx="9225285" cy="58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374" tIns="62374" rIns="62374" bIns="62374" numCol="1" spcCol="1270" anchor="ctr" anchorCtr="0">
          <a:noAutofit/>
        </a:bodyPr>
        <a:lstStyle/>
        <a:p>
          <a:pPr marL="0" lvl="0" indent="0" algn="l" defTabSz="844550">
            <a:lnSpc>
              <a:spcPct val="90000"/>
            </a:lnSpc>
            <a:spcBef>
              <a:spcPct val="0"/>
            </a:spcBef>
            <a:spcAft>
              <a:spcPct val="35000"/>
            </a:spcAft>
            <a:buNone/>
          </a:pPr>
          <a:r>
            <a:rPr lang="de-DE" sz="1900" kern="1200"/>
            <a:t>Hadoop Ökosystem</a:t>
          </a:r>
          <a:endParaRPr lang="en-US" sz="1900" kern="1200"/>
        </a:p>
      </dsp:txBody>
      <dsp:txXfrm>
        <a:off x="680714" y="739470"/>
        <a:ext cx="9225285" cy="589363"/>
      </dsp:txXfrm>
    </dsp:sp>
    <dsp:sp modelId="{2678C53B-8D3F-438C-9F6D-11E4DA44D67F}">
      <dsp:nvSpPr>
        <dsp:cNvPr id="0" name=""/>
        <dsp:cNvSpPr/>
      </dsp:nvSpPr>
      <dsp:spPr>
        <a:xfrm>
          <a:off x="0" y="1466650"/>
          <a:ext cx="9906000" cy="589363"/>
        </a:xfrm>
        <a:prstGeom prst="roundRect">
          <a:avLst>
            <a:gd name="adj" fmla="val 10000"/>
          </a:avLst>
        </a:prstGeom>
        <a:solidFill>
          <a:schemeClr val="bg1">
            <a:lumMod val="95000"/>
            <a:hueOff val="0"/>
            <a:satOff val="0"/>
            <a:lumOff val="0"/>
            <a:alpha val="80000"/>
          </a:schemeClr>
        </a:solidFill>
        <a:ln>
          <a:noFill/>
        </a:ln>
        <a:effectLst/>
      </dsp:spPr>
      <dsp:style>
        <a:lnRef idx="0">
          <a:scrgbClr r="0" g="0" b="0"/>
        </a:lnRef>
        <a:fillRef idx="1">
          <a:scrgbClr r="0" g="0" b="0"/>
        </a:fillRef>
        <a:effectRef idx="0">
          <a:scrgbClr r="0" g="0" b="0"/>
        </a:effectRef>
        <a:fontRef idx="minor"/>
      </dsp:style>
    </dsp:sp>
    <dsp:sp modelId="{23741003-BD76-489E-A33A-C225C2AF1F22}">
      <dsp:nvSpPr>
        <dsp:cNvPr id="0" name=""/>
        <dsp:cNvSpPr/>
      </dsp:nvSpPr>
      <dsp:spPr>
        <a:xfrm>
          <a:off x="178282" y="1608781"/>
          <a:ext cx="324149" cy="3241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CDFB81-86AF-4346-B223-9984EFF31DE1}">
      <dsp:nvSpPr>
        <dsp:cNvPr id="0" name=""/>
        <dsp:cNvSpPr/>
      </dsp:nvSpPr>
      <dsp:spPr>
        <a:xfrm>
          <a:off x="680714" y="1476174"/>
          <a:ext cx="9225285" cy="58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374" tIns="62374" rIns="62374" bIns="62374" numCol="1" spcCol="1270" anchor="ctr" anchorCtr="0">
          <a:noAutofit/>
        </a:bodyPr>
        <a:lstStyle/>
        <a:p>
          <a:pPr marL="0" lvl="0" indent="0" algn="l" defTabSz="844550">
            <a:lnSpc>
              <a:spcPct val="90000"/>
            </a:lnSpc>
            <a:spcBef>
              <a:spcPct val="0"/>
            </a:spcBef>
            <a:spcAft>
              <a:spcPct val="35000"/>
            </a:spcAft>
            <a:buNone/>
          </a:pPr>
          <a:r>
            <a:rPr lang="de-DE" sz="1900" kern="1200"/>
            <a:t>Einführung in das MapReduce-Programmiermodel</a:t>
          </a:r>
          <a:endParaRPr lang="en-US" sz="1900" kern="1200"/>
        </a:p>
      </dsp:txBody>
      <dsp:txXfrm>
        <a:off x="680714" y="1476174"/>
        <a:ext cx="9225285" cy="589363"/>
      </dsp:txXfrm>
    </dsp:sp>
    <dsp:sp modelId="{19248C12-EEAE-4CCD-A1AE-BEE5785DB5E7}">
      <dsp:nvSpPr>
        <dsp:cNvPr id="0" name=""/>
        <dsp:cNvSpPr/>
      </dsp:nvSpPr>
      <dsp:spPr>
        <a:xfrm>
          <a:off x="0" y="2216744"/>
          <a:ext cx="9906000" cy="589363"/>
        </a:xfrm>
        <a:prstGeom prst="roundRect">
          <a:avLst>
            <a:gd name="adj" fmla="val 10000"/>
          </a:avLst>
        </a:prstGeom>
        <a:solidFill>
          <a:schemeClr val="bg1">
            <a:lumMod val="95000"/>
            <a:hueOff val="0"/>
            <a:satOff val="0"/>
            <a:lumOff val="0"/>
            <a:alpha val="80000"/>
          </a:schemeClr>
        </a:solidFill>
        <a:ln>
          <a:noFill/>
        </a:ln>
        <a:effectLst/>
      </dsp:spPr>
      <dsp:style>
        <a:lnRef idx="0">
          <a:scrgbClr r="0" g="0" b="0"/>
        </a:lnRef>
        <a:fillRef idx="1">
          <a:scrgbClr r="0" g="0" b="0"/>
        </a:fillRef>
        <a:effectRef idx="0">
          <a:scrgbClr r="0" g="0" b="0"/>
        </a:effectRef>
        <a:fontRef idx="minor"/>
      </dsp:style>
    </dsp:sp>
    <dsp:sp modelId="{45AEC138-45CF-4512-BF97-1B7CD61CFB04}">
      <dsp:nvSpPr>
        <dsp:cNvPr id="0" name=""/>
        <dsp:cNvSpPr/>
      </dsp:nvSpPr>
      <dsp:spPr>
        <a:xfrm>
          <a:off x="178282" y="2345484"/>
          <a:ext cx="324149" cy="3241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5FBA5A-BA07-4074-81CA-C97F847653C2}">
      <dsp:nvSpPr>
        <dsp:cNvPr id="0" name=""/>
        <dsp:cNvSpPr/>
      </dsp:nvSpPr>
      <dsp:spPr>
        <a:xfrm>
          <a:off x="680714" y="2212878"/>
          <a:ext cx="9225285" cy="58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374" tIns="62374" rIns="62374" bIns="62374" numCol="1" spcCol="1270" anchor="ctr" anchorCtr="0">
          <a:noAutofit/>
        </a:bodyPr>
        <a:lstStyle/>
        <a:p>
          <a:pPr marL="0" lvl="0" indent="0" algn="l" defTabSz="844550">
            <a:lnSpc>
              <a:spcPct val="90000"/>
            </a:lnSpc>
            <a:spcBef>
              <a:spcPct val="0"/>
            </a:spcBef>
            <a:spcAft>
              <a:spcPct val="35000"/>
            </a:spcAft>
            <a:buNone/>
          </a:pPr>
          <a:r>
            <a:rPr lang="de-DE" sz="1900" kern="1200"/>
            <a:t>Übungsaufgabe MapReduce Algorithmus</a:t>
          </a:r>
          <a:endParaRPr lang="en-US" sz="1900" kern="1200"/>
        </a:p>
      </dsp:txBody>
      <dsp:txXfrm>
        <a:off x="680714" y="2212878"/>
        <a:ext cx="9225285" cy="589363"/>
      </dsp:txXfrm>
    </dsp:sp>
    <dsp:sp modelId="{BC41E99C-32F0-4459-8579-C6C66C5F2FE9}">
      <dsp:nvSpPr>
        <dsp:cNvPr id="0" name=""/>
        <dsp:cNvSpPr/>
      </dsp:nvSpPr>
      <dsp:spPr>
        <a:xfrm>
          <a:off x="0" y="2949582"/>
          <a:ext cx="9906000" cy="589363"/>
        </a:xfrm>
        <a:prstGeom prst="roundRect">
          <a:avLst>
            <a:gd name="adj" fmla="val 10000"/>
          </a:avLst>
        </a:prstGeom>
        <a:solidFill>
          <a:schemeClr val="bg1">
            <a:lumMod val="95000"/>
            <a:hueOff val="0"/>
            <a:satOff val="0"/>
            <a:lumOff val="0"/>
            <a:alpha val="80000"/>
          </a:schemeClr>
        </a:solidFill>
        <a:ln>
          <a:noFill/>
        </a:ln>
        <a:effectLst/>
      </dsp:spPr>
      <dsp:style>
        <a:lnRef idx="0">
          <a:scrgbClr r="0" g="0" b="0"/>
        </a:lnRef>
        <a:fillRef idx="1">
          <a:scrgbClr r="0" g="0" b="0"/>
        </a:fillRef>
        <a:effectRef idx="0">
          <a:scrgbClr r="0" g="0" b="0"/>
        </a:effectRef>
        <a:fontRef idx="minor"/>
      </dsp:style>
    </dsp:sp>
    <dsp:sp modelId="{448D1995-BBC4-471A-B972-BB026A9F50F6}">
      <dsp:nvSpPr>
        <dsp:cNvPr id="0" name=""/>
        <dsp:cNvSpPr/>
      </dsp:nvSpPr>
      <dsp:spPr>
        <a:xfrm>
          <a:off x="178282" y="3082188"/>
          <a:ext cx="324149" cy="3241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C68029-1D2D-4210-90EC-5A6F1573FC93}">
      <dsp:nvSpPr>
        <dsp:cNvPr id="0" name=""/>
        <dsp:cNvSpPr/>
      </dsp:nvSpPr>
      <dsp:spPr>
        <a:xfrm>
          <a:off x="680714" y="2949582"/>
          <a:ext cx="9225285" cy="589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374" tIns="62374" rIns="62374" bIns="62374" numCol="1" spcCol="1270" anchor="ctr" anchorCtr="0">
          <a:noAutofit/>
        </a:bodyPr>
        <a:lstStyle/>
        <a:p>
          <a:pPr marL="0" lvl="0" indent="0" algn="l" defTabSz="844550">
            <a:lnSpc>
              <a:spcPct val="90000"/>
            </a:lnSpc>
            <a:spcBef>
              <a:spcPct val="0"/>
            </a:spcBef>
            <a:spcAft>
              <a:spcPct val="35000"/>
            </a:spcAft>
            <a:buNone/>
          </a:pPr>
          <a:r>
            <a:rPr lang="de-DE" sz="1900" kern="1200" dirty="0"/>
            <a:t>Apache Hadoop und MapReduce in der Praxis </a:t>
          </a:r>
          <a:endParaRPr lang="en-US" sz="1900" kern="1200" dirty="0"/>
        </a:p>
      </dsp:txBody>
      <dsp:txXfrm>
        <a:off x="680714" y="2949582"/>
        <a:ext cx="9225285" cy="5893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9B11C-0DC4-4048-9802-4C747DC98CA6}">
      <dsp:nvSpPr>
        <dsp:cNvPr id="0" name=""/>
        <dsp:cNvSpPr/>
      </dsp:nvSpPr>
      <dsp:spPr>
        <a:xfrm>
          <a:off x="580657" y="1571"/>
          <a:ext cx="2723182" cy="1633909"/>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b="0" i="0" kern="1200" dirty="0"/>
            <a:t>Speicherung großer Datenmengen</a:t>
          </a:r>
          <a:endParaRPr lang="en-US" sz="1800" kern="1200" dirty="0"/>
        </a:p>
      </dsp:txBody>
      <dsp:txXfrm>
        <a:off x="660418" y="81332"/>
        <a:ext cx="2563660" cy="1474387"/>
      </dsp:txXfrm>
    </dsp:sp>
    <dsp:sp modelId="{4D3E86EB-B179-431C-BB36-1DF934C94A0C}">
      <dsp:nvSpPr>
        <dsp:cNvPr id="0" name=""/>
        <dsp:cNvSpPr/>
      </dsp:nvSpPr>
      <dsp:spPr>
        <a:xfrm>
          <a:off x="3576158" y="1571"/>
          <a:ext cx="2723182" cy="1633909"/>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b="0" i="0" kern="1200" dirty="0"/>
            <a:t>Zugriffsgeschwindigkeiten</a:t>
          </a:r>
          <a:endParaRPr lang="en-US" sz="1800" kern="1200" dirty="0"/>
        </a:p>
      </dsp:txBody>
      <dsp:txXfrm>
        <a:off x="3655919" y="81332"/>
        <a:ext cx="2563660" cy="1474387"/>
      </dsp:txXfrm>
    </dsp:sp>
    <dsp:sp modelId="{42F5EDA8-870A-44E0-A274-9D0D82DF68B1}">
      <dsp:nvSpPr>
        <dsp:cNvPr id="0" name=""/>
        <dsp:cNvSpPr/>
      </dsp:nvSpPr>
      <dsp:spPr>
        <a:xfrm>
          <a:off x="6596086" y="3"/>
          <a:ext cx="2723182" cy="1633909"/>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b="0" i="0" kern="1200" dirty="0"/>
            <a:t>Parallelisierung von Datenspeicherung und -zugriffen</a:t>
          </a:r>
          <a:endParaRPr lang="en-US" sz="1800" kern="1200" dirty="0"/>
        </a:p>
      </dsp:txBody>
      <dsp:txXfrm>
        <a:off x="6675847" y="79764"/>
        <a:ext cx="2563660" cy="1474387"/>
      </dsp:txXfrm>
    </dsp:sp>
    <dsp:sp modelId="{A37771EF-E8B7-471D-A6C8-77A6BF9D6872}">
      <dsp:nvSpPr>
        <dsp:cNvPr id="0" name=""/>
        <dsp:cNvSpPr/>
      </dsp:nvSpPr>
      <dsp:spPr>
        <a:xfrm>
          <a:off x="580657" y="1907799"/>
          <a:ext cx="2723182" cy="1633909"/>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b="0" i="0" kern="1200" dirty="0"/>
            <a:t>Ausfallrisiko durch viele Hardwarekomponenten</a:t>
          </a:r>
          <a:endParaRPr lang="en-US" sz="1800" kern="1200" dirty="0"/>
        </a:p>
      </dsp:txBody>
      <dsp:txXfrm>
        <a:off x="660418" y="1987560"/>
        <a:ext cx="2563660" cy="1474387"/>
      </dsp:txXfrm>
    </dsp:sp>
    <dsp:sp modelId="{13A4A04A-A253-4D31-AFEE-3D448569A864}">
      <dsp:nvSpPr>
        <dsp:cNvPr id="0" name=""/>
        <dsp:cNvSpPr/>
      </dsp:nvSpPr>
      <dsp:spPr>
        <a:xfrm>
          <a:off x="3577738" y="1907799"/>
          <a:ext cx="2723182" cy="1633909"/>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b="0" i="0" kern="1200" dirty="0"/>
            <a:t>Lösungen für Datenreplikation</a:t>
          </a:r>
          <a:endParaRPr lang="en-US" sz="1800" kern="1200" dirty="0"/>
        </a:p>
      </dsp:txBody>
      <dsp:txXfrm>
        <a:off x="3657499" y="1987560"/>
        <a:ext cx="2563660" cy="1474387"/>
      </dsp:txXfrm>
    </dsp:sp>
    <dsp:sp modelId="{D0E3740E-5F94-4EA0-9834-2D1171C670C9}">
      <dsp:nvSpPr>
        <dsp:cNvPr id="0" name=""/>
        <dsp:cNvSpPr/>
      </dsp:nvSpPr>
      <dsp:spPr>
        <a:xfrm>
          <a:off x="6573239" y="1907799"/>
          <a:ext cx="2723182" cy="1633909"/>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b="0" i="0" kern="1200" dirty="0"/>
            <a:t>Kombination von Daten verteilten.</a:t>
          </a:r>
          <a:endParaRPr lang="en-US" sz="1800" kern="1200" dirty="0"/>
        </a:p>
      </dsp:txBody>
      <dsp:txXfrm>
        <a:off x="6653000" y="1987560"/>
        <a:ext cx="2563660" cy="14743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C4BAB0-D815-46D2-814C-7AA96B054B4B}">
      <dsp:nvSpPr>
        <dsp:cNvPr id="0" name=""/>
        <dsp:cNvSpPr/>
      </dsp:nvSpPr>
      <dsp:spPr>
        <a:xfrm rot="5400000">
          <a:off x="701319" y="807871"/>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E90CD8FC-D4B2-424C-A890-032E2DBBA110}">
      <dsp:nvSpPr>
        <dsp:cNvPr id="0" name=""/>
        <dsp:cNvSpPr/>
      </dsp:nvSpPr>
      <dsp:spPr>
        <a:xfrm>
          <a:off x="985683" y="2972"/>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Client öffnet die zu lesende Datei mittels open() auf dem Distributed File System </a:t>
          </a:r>
        </a:p>
      </dsp:txBody>
      <dsp:txXfrm>
        <a:off x="1015271" y="32560"/>
        <a:ext cx="1624523" cy="951043"/>
      </dsp:txXfrm>
    </dsp:sp>
    <dsp:sp modelId="{97D6EA4C-E7F8-4D2C-8992-7C889F27295F}">
      <dsp:nvSpPr>
        <dsp:cNvPr id="0" name=""/>
        <dsp:cNvSpPr/>
      </dsp:nvSpPr>
      <dsp:spPr>
        <a:xfrm rot="5400000">
          <a:off x="701319" y="2070646"/>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F2AF9DBE-E481-4C2C-A2FE-10F2ED1DACE0}">
      <dsp:nvSpPr>
        <dsp:cNvPr id="0" name=""/>
        <dsp:cNvSpPr/>
      </dsp:nvSpPr>
      <dsp:spPr>
        <a:xfrm>
          <a:off x="985683" y="1265747"/>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DFS bestimmt </a:t>
          </a:r>
          <a:r>
            <a:rPr lang="de-DE" sz="1200" kern="1200" dirty="0" err="1"/>
            <a:t>Datanodes</a:t>
          </a:r>
          <a:r>
            <a:rPr lang="de-DE" sz="1200" kern="1200" dirty="0"/>
            <a:t> mit </a:t>
          </a:r>
          <a:r>
            <a:rPr lang="de-DE" sz="1200" kern="1200" dirty="0" err="1"/>
            <a:t>Namenode</a:t>
          </a:r>
          <a:r>
            <a:rPr lang="de-DE" sz="1200" kern="1200" dirty="0"/>
            <a:t> und gibt ein </a:t>
          </a:r>
          <a:r>
            <a:rPr lang="de-DE" sz="1200" kern="1200" dirty="0" err="1"/>
            <a:t>FSDataInputStream</a:t>
          </a:r>
          <a:r>
            <a:rPr lang="de-DE" sz="1200" kern="1200" dirty="0"/>
            <a:t> an den Client zurück.</a:t>
          </a:r>
        </a:p>
      </dsp:txBody>
      <dsp:txXfrm>
        <a:off x="1015271" y="1295335"/>
        <a:ext cx="1624523" cy="951043"/>
      </dsp:txXfrm>
    </dsp:sp>
    <dsp:sp modelId="{A19E34F5-90F2-4A17-9EC7-5C82EC9E6131}">
      <dsp:nvSpPr>
        <dsp:cNvPr id="0" name=""/>
        <dsp:cNvSpPr/>
      </dsp:nvSpPr>
      <dsp:spPr>
        <a:xfrm>
          <a:off x="1332706" y="2702033"/>
          <a:ext cx="2229037"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36B498EE-6CDE-4612-871C-D50420B9C640}">
      <dsp:nvSpPr>
        <dsp:cNvPr id="0" name=""/>
        <dsp:cNvSpPr/>
      </dsp:nvSpPr>
      <dsp:spPr>
        <a:xfrm>
          <a:off x="985683" y="2528521"/>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Client ruft read() auf dem Stream auf, wobei das </a:t>
          </a:r>
          <a:r>
            <a:rPr lang="de-DE" sz="1200" kern="1200" dirty="0" err="1"/>
            <a:t>DFSInputStream</a:t>
          </a:r>
          <a:r>
            <a:rPr lang="de-DE" sz="1200" kern="1200" dirty="0"/>
            <a:t> eine Verbindung zum ersten Datenknoten herstellt.</a:t>
          </a:r>
        </a:p>
      </dsp:txBody>
      <dsp:txXfrm>
        <a:off x="1015271" y="2558109"/>
        <a:ext cx="1624523" cy="951043"/>
      </dsp:txXfrm>
    </dsp:sp>
    <dsp:sp modelId="{8CD92F4B-4AF3-4DA5-AD96-8D7B9376D24E}">
      <dsp:nvSpPr>
        <dsp:cNvPr id="0" name=""/>
        <dsp:cNvSpPr/>
      </dsp:nvSpPr>
      <dsp:spPr>
        <a:xfrm rot="16200000">
          <a:off x="2940640" y="2070646"/>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FE7B112F-EFCC-40F5-9DF1-0189AAF05AE2}">
      <dsp:nvSpPr>
        <dsp:cNvPr id="0" name=""/>
        <dsp:cNvSpPr/>
      </dsp:nvSpPr>
      <dsp:spPr>
        <a:xfrm>
          <a:off x="3225004" y="2528521"/>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Daten werden vom Datenknoten zum Client gestreamt.</a:t>
          </a:r>
        </a:p>
      </dsp:txBody>
      <dsp:txXfrm>
        <a:off x="3254592" y="2558109"/>
        <a:ext cx="1624523" cy="951043"/>
      </dsp:txXfrm>
    </dsp:sp>
    <dsp:sp modelId="{6A5AEEFD-4F65-4B6A-B15C-5F4AA49A6660}">
      <dsp:nvSpPr>
        <dsp:cNvPr id="0" name=""/>
        <dsp:cNvSpPr/>
      </dsp:nvSpPr>
      <dsp:spPr>
        <a:xfrm rot="16200000">
          <a:off x="2940640" y="807871"/>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703D7EAE-4CB9-448D-8337-3D650A7EAF97}">
      <dsp:nvSpPr>
        <dsp:cNvPr id="0" name=""/>
        <dsp:cNvSpPr/>
      </dsp:nvSpPr>
      <dsp:spPr>
        <a:xfrm>
          <a:off x="3225004" y="1265747"/>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Blockende: </a:t>
          </a:r>
          <a:r>
            <a:rPr lang="de-DE" sz="1200" kern="1200" dirty="0" err="1"/>
            <a:t>DFSInputStream</a:t>
          </a:r>
          <a:r>
            <a:rPr lang="de-DE" sz="1200" kern="1200" dirty="0"/>
            <a:t> schließt die Verbindung und sucht den nächsten Datenknoten. </a:t>
          </a:r>
        </a:p>
      </dsp:txBody>
      <dsp:txXfrm>
        <a:off x="3254592" y="1295335"/>
        <a:ext cx="1624523" cy="951043"/>
      </dsp:txXfrm>
    </dsp:sp>
    <dsp:sp modelId="{2A8FC2BC-6733-43BE-B03E-404DB2A827CB}">
      <dsp:nvSpPr>
        <dsp:cNvPr id="0" name=""/>
        <dsp:cNvSpPr/>
      </dsp:nvSpPr>
      <dsp:spPr>
        <a:xfrm>
          <a:off x="3225004" y="2972"/>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dirty="0"/>
            <a:t>Der Client ruft </a:t>
          </a:r>
          <a:r>
            <a:rPr lang="de-DE" sz="1200" kern="1200" dirty="0" err="1"/>
            <a:t>close</a:t>
          </a:r>
          <a:r>
            <a:rPr lang="de-DE" sz="1200" kern="1200" dirty="0"/>
            <a:t>() auf dem </a:t>
          </a:r>
          <a:r>
            <a:rPr lang="de-DE" sz="1200" kern="1200" dirty="0" err="1"/>
            <a:t>FSDataInputStream</a:t>
          </a:r>
          <a:r>
            <a:rPr lang="de-DE" sz="1200" kern="1200" dirty="0"/>
            <a:t> auf.</a:t>
          </a:r>
        </a:p>
      </dsp:txBody>
      <dsp:txXfrm>
        <a:off x="3254592" y="32560"/>
        <a:ext cx="1624523" cy="951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C4BAB0-D815-46D2-814C-7AA96B054B4B}">
      <dsp:nvSpPr>
        <dsp:cNvPr id="0" name=""/>
        <dsp:cNvSpPr/>
      </dsp:nvSpPr>
      <dsp:spPr>
        <a:xfrm rot="5400000">
          <a:off x="701319" y="807871"/>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E90CD8FC-D4B2-424C-A890-032E2DBBA110}">
      <dsp:nvSpPr>
        <dsp:cNvPr id="0" name=""/>
        <dsp:cNvSpPr/>
      </dsp:nvSpPr>
      <dsp:spPr>
        <a:xfrm>
          <a:off x="985683" y="2972"/>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a:t>Client erstellt die Datei, indem mit </a:t>
          </a:r>
          <a:r>
            <a:rPr lang="de-DE" sz="1300" kern="1200" dirty="0" err="1"/>
            <a:t>create</a:t>
          </a:r>
          <a:r>
            <a:rPr lang="de-DE" sz="1300" kern="1200" dirty="0"/>
            <a:t>() an </a:t>
          </a:r>
          <a:r>
            <a:rPr lang="de-DE" sz="1300" kern="1200" dirty="0" err="1"/>
            <a:t>DistributedFileSystem</a:t>
          </a:r>
          <a:r>
            <a:rPr lang="de-DE" sz="1300" kern="1200" dirty="0"/>
            <a:t> </a:t>
          </a:r>
        </a:p>
      </dsp:txBody>
      <dsp:txXfrm>
        <a:off x="1015271" y="32560"/>
        <a:ext cx="1624523" cy="951043"/>
      </dsp:txXfrm>
    </dsp:sp>
    <dsp:sp modelId="{97D6EA4C-E7F8-4D2C-8992-7C889F27295F}">
      <dsp:nvSpPr>
        <dsp:cNvPr id="0" name=""/>
        <dsp:cNvSpPr/>
      </dsp:nvSpPr>
      <dsp:spPr>
        <a:xfrm rot="5400000">
          <a:off x="701319" y="2070646"/>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F2AF9DBE-E481-4C2C-A2FE-10F2ED1DACE0}">
      <dsp:nvSpPr>
        <dsp:cNvPr id="0" name=""/>
        <dsp:cNvSpPr/>
      </dsp:nvSpPr>
      <dsp:spPr>
        <a:xfrm>
          <a:off x="985683" y="1265747"/>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a:t>DFS sendet einen RPC-Aufruf an den Namenknoten, um eine neue Datei zu erstellen</a:t>
          </a:r>
        </a:p>
      </dsp:txBody>
      <dsp:txXfrm>
        <a:off x="1015271" y="1295335"/>
        <a:ext cx="1624523" cy="951043"/>
      </dsp:txXfrm>
    </dsp:sp>
    <dsp:sp modelId="{A19E34F5-90F2-4A17-9EC7-5C82EC9E6131}">
      <dsp:nvSpPr>
        <dsp:cNvPr id="0" name=""/>
        <dsp:cNvSpPr/>
      </dsp:nvSpPr>
      <dsp:spPr>
        <a:xfrm>
          <a:off x="1332706" y="2702033"/>
          <a:ext cx="2229037"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36B498EE-6CDE-4612-871C-D50420B9C640}">
      <dsp:nvSpPr>
        <dsp:cNvPr id="0" name=""/>
        <dsp:cNvSpPr/>
      </dsp:nvSpPr>
      <dsp:spPr>
        <a:xfrm>
          <a:off x="985683" y="2528521"/>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err="1"/>
            <a:t>DFSOutputStream</a:t>
          </a:r>
          <a:r>
            <a:rPr lang="de-DE" sz="1300" kern="1200" dirty="0"/>
            <a:t> sendet Pakete an eine interne Daten-Warteschlange</a:t>
          </a:r>
        </a:p>
      </dsp:txBody>
      <dsp:txXfrm>
        <a:off x="1015271" y="2558109"/>
        <a:ext cx="1624523" cy="951043"/>
      </dsp:txXfrm>
    </dsp:sp>
    <dsp:sp modelId="{8CD92F4B-4AF3-4DA5-AD96-8D7B9376D24E}">
      <dsp:nvSpPr>
        <dsp:cNvPr id="0" name=""/>
        <dsp:cNvSpPr/>
      </dsp:nvSpPr>
      <dsp:spPr>
        <a:xfrm rot="16200000">
          <a:off x="2940640" y="2070646"/>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FE7B112F-EFCC-40F5-9DF1-0189AAF05AE2}">
      <dsp:nvSpPr>
        <dsp:cNvPr id="0" name=""/>
        <dsp:cNvSpPr/>
      </dsp:nvSpPr>
      <dsp:spPr>
        <a:xfrm>
          <a:off x="3225004" y="2528521"/>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a:t>Datenknoten speichern die Pakete und leiten sie an den nächsten Knoten in der Pipeline</a:t>
          </a:r>
        </a:p>
      </dsp:txBody>
      <dsp:txXfrm>
        <a:off x="3254592" y="2558109"/>
        <a:ext cx="1624523" cy="951043"/>
      </dsp:txXfrm>
    </dsp:sp>
    <dsp:sp modelId="{6A5AEEFD-4F65-4B6A-B15C-5F4AA49A6660}">
      <dsp:nvSpPr>
        <dsp:cNvPr id="0" name=""/>
        <dsp:cNvSpPr/>
      </dsp:nvSpPr>
      <dsp:spPr>
        <a:xfrm rot="16200000">
          <a:off x="2940640" y="807871"/>
          <a:ext cx="1252491" cy="151532"/>
        </a:xfrm>
        <a:prstGeom prst="rect">
          <a:avLst/>
        </a:prstGeom>
        <a:solidFill>
          <a:schemeClr val="tx1">
            <a:lumMod val="95000"/>
          </a:schemeClr>
        </a:solidFill>
        <a:ln>
          <a:noFill/>
        </a:ln>
        <a:effectLst/>
      </dsp:spPr>
      <dsp:style>
        <a:lnRef idx="0">
          <a:scrgbClr r="0" g="0" b="0"/>
        </a:lnRef>
        <a:fillRef idx="1">
          <a:scrgbClr r="0" g="0" b="0"/>
        </a:fillRef>
        <a:effectRef idx="0">
          <a:scrgbClr r="0" g="0" b="0"/>
        </a:effectRef>
        <a:fontRef idx="minor">
          <a:schemeClr val="lt1"/>
        </a:fontRef>
      </dsp:style>
    </dsp:sp>
    <dsp:sp modelId="{703D7EAE-4CB9-448D-8337-3D650A7EAF97}">
      <dsp:nvSpPr>
        <dsp:cNvPr id="0" name=""/>
        <dsp:cNvSpPr/>
      </dsp:nvSpPr>
      <dsp:spPr>
        <a:xfrm>
          <a:off x="3225004" y="1265747"/>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err="1"/>
            <a:t>DFSOutputStream</a:t>
          </a:r>
          <a:r>
            <a:rPr lang="de-DE" sz="1300" kern="1200" dirty="0"/>
            <a:t> hält  interne Warteschlange von Paketen, die auf Bestätigung von den Datenknoten wartet</a:t>
          </a:r>
        </a:p>
      </dsp:txBody>
      <dsp:txXfrm>
        <a:off x="3254592" y="1295335"/>
        <a:ext cx="1624523" cy="951043"/>
      </dsp:txXfrm>
    </dsp:sp>
    <dsp:sp modelId="{2A8FC2BC-6733-43BE-B03E-404DB2A827CB}">
      <dsp:nvSpPr>
        <dsp:cNvPr id="0" name=""/>
        <dsp:cNvSpPr/>
      </dsp:nvSpPr>
      <dsp:spPr>
        <a:xfrm>
          <a:off x="3225004" y="2972"/>
          <a:ext cx="1683699" cy="1010219"/>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err="1"/>
            <a:t>DFSOutputStream</a:t>
          </a:r>
          <a:r>
            <a:rPr lang="de-DE" sz="1300" kern="1200" dirty="0"/>
            <a:t> wartet auf Bestätigungen und informiert Namenknoten</a:t>
          </a:r>
        </a:p>
      </dsp:txBody>
      <dsp:txXfrm>
        <a:off x="3254592" y="32560"/>
        <a:ext cx="1624523" cy="9510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24857-E50B-455A-8B36-B2198A383B8A}">
      <dsp:nvSpPr>
        <dsp:cNvPr id="0" name=""/>
        <dsp:cNvSpPr/>
      </dsp:nvSpPr>
      <dsp:spPr>
        <a:xfrm rot="5400000">
          <a:off x="6737926" y="-2993673"/>
          <a:ext cx="452287" cy="6554419"/>
        </a:xfrm>
        <a:prstGeom prst="round2SameRect">
          <a:avLst/>
        </a:prstGeom>
        <a:solidFill>
          <a:schemeClr val="tx1">
            <a:lumMod val="85000"/>
            <a:alpha val="7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de-DE" sz="2500" kern="1200" dirty="0" err="1"/>
            <a:t>LongWritable</a:t>
          </a:r>
          <a:endParaRPr lang="de-DE" sz="2500" kern="1200" dirty="0"/>
        </a:p>
      </dsp:txBody>
      <dsp:txXfrm rot="-5400000">
        <a:off x="3686861" y="79471"/>
        <a:ext cx="6532340" cy="408129"/>
      </dsp:txXfrm>
    </dsp:sp>
    <dsp:sp modelId="{EE9CFB12-C13E-431A-9C04-F33E98522841}">
      <dsp:nvSpPr>
        <dsp:cNvPr id="0" name=""/>
        <dsp:cNvSpPr/>
      </dsp:nvSpPr>
      <dsp:spPr>
        <a:xfrm>
          <a:off x="0" y="856"/>
          <a:ext cx="3686860" cy="565358"/>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a:t>Long</a:t>
          </a:r>
        </a:p>
      </dsp:txBody>
      <dsp:txXfrm>
        <a:off x="27599" y="28455"/>
        <a:ext cx="3631662" cy="510160"/>
      </dsp:txXfrm>
    </dsp:sp>
    <dsp:sp modelId="{AE0F872A-880E-4FFE-BF0F-CEB7B717813C}">
      <dsp:nvSpPr>
        <dsp:cNvPr id="0" name=""/>
        <dsp:cNvSpPr/>
      </dsp:nvSpPr>
      <dsp:spPr>
        <a:xfrm rot="5400000">
          <a:off x="6737926" y="-2400046"/>
          <a:ext cx="452287" cy="6554419"/>
        </a:xfrm>
        <a:prstGeom prst="round2SameRect">
          <a:avLst/>
        </a:prstGeom>
        <a:solidFill>
          <a:schemeClr val="tx1">
            <a:lumMod val="85000"/>
            <a:alpha val="7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de-DE" sz="2500" kern="1200" dirty="0" err="1"/>
            <a:t>IntWritable</a:t>
          </a:r>
          <a:endParaRPr lang="de-DE" sz="2500" kern="1200" dirty="0"/>
        </a:p>
      </dsp:txBody>
      <dsp:txXfrm rot="-5400000">
        <a:off x="3686861" y="673098"/>
        <a:ext cx="6532340" cy="408129"/>
      </dsp:txXfrm>
    </dsp:sp>
    <dsp:sp modelId="{A36EEA28-5A16-4F17-9A7F-5E6006B118B1}">
      <dsp:nvSpPr>
        <dsp:cNvPr id="0" name=""/>
        <dsp:cNvSpPr/>
      </dsp:nvSpPr>
      <dsp:spPr>
        <a:xfrm>
          <a:off x="0" y="594483"/>
          <a:ext cx="3686860" cy="565358"/>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a:t>Integer </a:t>
          </a:r>
        </a:p>
      </dsp:txBody>
      <dsp:txXfrm>
        <a:off x="27599" y="622082"/>
        <a:ext cx="3631662" cy="510160"/>
      </dsp:txXfrm>
    </dsp:sp>
    <dsp:sp modelId="{37751DE7-704E-42A1-B774-0F0CB8413B9A}">
      <dsp:nvSpPr>
        <dsp:cNvPr id="0" name=""/>
        <dsp:cNvSpPr/>
      </dsp:nvSpPr>
      <dsp:spPr>
        <a:xfrm rot="5400000">
          <a:off x="6737926" y="-1806419"/>
          <a:ext cx="452287" cy="6554419"/>
        </a:xfrm>
        <a:prstGeom prst="round2SameRect">
          <a:avLst/>
        </a:prstGeom>
        <a:solidFill>
          <a:schemeClr val="tx1">
            <a:lumMod val="85000"/>
            <a:alpha val="7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de-DE" sz="2500" kern="1200" dirty="0"/>
            <a:t>Text</a:t>
          </a:r>
        </a:p>
      </dsp:txBody>
      <dsp:txXfrm rot="-5400000">
        <a:off x="3686861" y="1266725"/>
        <a:ext cx="6532340" cy="408129"/>
      </dsp:txXfrm>
    </dsp:sp>
    <dsp:sp modelId="{C997309B-D106-4C0A-AB11-A54E09C7C35C}">
      <dsp:nvSpPr>
        <dsp:cNvPr id="0" name=""/>
        <dsp:cNvSpPr/>
      </dsp:nvSpPr>
      <dsp:spPr>
        <a:xfrm>
          <a:off x="0" y="1188110"/>
          <a:ext cx="3686860" cy="565358"/>
        </a:xfrm>
        <a:prstGeom prst="roundRect">
          <a:avLst/>
        </a:prstGeom>
        <a:solidFill>
          <a:schemeClr val="bg1">
            <a:alpha val="80000"/>
          </a:schemeClr>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a:t>String </a:t>
          </a:r>
        </a:p>
      </dsp:txBody>
      <dsp:txXfrm>
        <a:off x="27599" y="1215709"/>
        <a:ext cx="3631662" cy="5101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FB4F28-562A-4FAC-9288-D9B7492FBFD3}">
      <dsp:nvSpPr>
        <dsp:cNvPr id="0" name=""/>
        <dsp:cNvSpPr/>
      </dsp:nvSpPr>
      <dsp:spPr>
        <a:xfrm>
          <a:off x="0" y="0"/>
          <a:ext cx="4663440" cy="960120"/>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e-DE" sz="2000" kern="1200" dirty="0"/>
            <a:t>(This,1), (is,1), (an,1), (Apple,1);</a:t>
          </a:r>
        </a:p>
        <a:p>
          <a:pPr marL="0" lvl="0" indent="0" algn="l" defTabSz="889000">
            <a:lnSpc>
              <a:spcPct val="90000"/>
            </a:lnSpc>
            <a:spcBef>
              <a:spcPct val="0"/>
            </a:spcBef>
            <a:spcAft>
              <a:spcPct val="35000"/>
            </a:spcAft>
            <a:buNone/>
          </a:pPr>
          <a:r>
            <a:rPr lang="de-DE" sz="2000" kern="1200" dirty="0"/>
            <a:t>(The,1),(Apple,1),(is,1),(red,1)</a:t>
          </a:r>
        </a:p>
      </dsp:txBody>
      <dsp:txXfrm>
        <a:off x="28121" y="28121"/>
        <a:ext cx="3627395" cy="903878"/>
      </dsp:txXfrm>
    </dsp:sp>
    <dsp:sp modelId="{6A02BFCF-3644-4B32-83D0-5B2D3175A44C}">
      <dsp:nvSpPr>
        <dsp:cNvPr id="0" name=""/>
        <dsp:cNvSpPr/>
      </dsp:nvSpPr>
      <dsp:spPr>
        <a:xfrm>
          <a:off x="411479" y="1120140"/>
          <a:ext cx="4663440" cy="960120"/>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e-DE" sz="2000" kern="1200" dirty="0"/>
            <a:t>(This,1), [(is,1),(is,1)], (an,1), [(Apple,1), (Apple,1)], (The,1) (red,1)</a:t>
          </a:r>
        </a:p>
      </dsp:txBody>
      <dsp:txXfrm>
        <a:off x="439600" y="1148261"/>
        <a:ext cx="3571640" cy="903878"/>
      </dsp:txXfrm>
    </dsp:sp>
    <dsp:sp modelId="{3FE7667F-53CA-4B51-96EC-B82DF2614C2D}">
      <dsp:nvSpPr>
        <dsp:cNvPr id="0" name=""/>
        <dsp:cNvSpPr/>
      </dsp:nvSpPr>
      <dsp:spPr>
        <a:xfrm>
          <a:off x="822959" y="2240280"/>
          <a:ext cx="4663440" cy="960120"/>
        </a:xfrm>
        <a:prstGeom prst="roundRect">
          <a:avLst>
            <a:gd name="adj" fmla="val 10000"/>
          </a:avLst>
        </a:prstGeom>
        <a:solidFill>
          <a:schemeClr val="bg1"/>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e-DE" sz="2000" kern="1200" dirty="0"/>
            <a:t>(This,1), (is,2), (an,1), (Apple,2), (The,1), (red,1)</a:t>
          </a:r>
        </a:p>
      </dsp:txBody>
      <dsp:txXfrm>
        <a:off x="851080" y="2268401"/>
        <a:ext cx="3571640" cy="903878"/>
      </dsp:txXfrm>
    </dsp:sp>
    <dsp:sp modelId="{F70E1C96-DD6F-4003-8636-7FBEBE7022E4}">
      <dsp:nvSpPr>
        <dsp:cNvPr id="0" name=""/>
        <dsp:cNvSpPr/>
      </dsp:nvSpPr>
      <dsp:spPr>
        <a:xfrm>
          <a:off x="4039362" y="728091"/>
          <a:ext cx="624078" cy="624078"/>
        </a:xfrm>
        <a:prstGeom prst="downArrow">
          <a:avLst>
            <a:gd name="adj1" fmla="val 55000"/>
            <a:gd name="adj2" fmla="val 45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4179780" y="728091"/>
        <a:ext cx="343242" cy="469619"/>
      </dsp:txXfrm>
    </dsp:sp>
    <dsp:sp modelId="{A9FDD45A-CC21-47DD-9466-D2C9A75D420F}">
      <dsp:nvSpPr>
        <dsp:cNvPr id="0" name=""/>
        <dsp:cNvSpPr/>
      </dsp:nvSpPr>
      <dsp:spPr>
        <a:xfrm>
          <a:off x="4450842" y="1841830"/>
          <a:ext cx="624078" cy="624078"/>
        </a:xfrm>
        <a:prstGeom prst="downArrow">
          <a:avLst>
            <a:gd name="adj1" fmla="val 55000"/>
            <a:gd name="adj2" fmla="val 45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4591260" y="1841830"/>
        <a:ext cx="343242" cy="46961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A667F7-27CD-4BCD-9FBD-324186CEB823}" type="datetimeFigureOut">
              <a:rPr lang="de-DE" smtClean="0"/>
              <a:t>05.06.2023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8AFB0-9261-4BF2-A629-FAD4823D46DA}" type="slidenum">
              <a:rPr lang="de-DE" smtClean="0"/>
              <a:t>‹Nr.›</a:t>
            </a:fld>
            <a:endParaRPr lang="de-DE"/>
          </a:p>
        </p:txBody>
      </p:sp>
    </p:spTree>
    <p:extLst>
      <p:ext uri="{BB962C8B-B14F-4D97-AF65-F5344CB8AC3E}">
        <p14:creationId xmlns:p14="http://schemas.microsoft.com/office/powerpoint/2010/main" val="4206428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1</a:t>
            </a:fld>
            <a:endParaRPr lang="de-DE"/>
          </a:p>
        </p:txBody>
      </p:sp>
    </p:spTree>
    <p:extLst>
      <p:ext uri="{BB962C8B-B14F-4D97-AF65-F5344CB8AC3E}">
        <p14:creationId xmlns:p14="http://schemas.microsoft.com/office/powerpoint/2010/main" val="1540708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32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HDFS ermöglicht Benutzeranwendungen den Zugriff auf das Dateisystem durch den HDFS-Client, eine Codebibliothek, die die HDFS-Dateisystem-Schnittstelle bereitstellt. Anders als herkömmliche Dateisysteme stellt HDFS eine API bereit, die die Positionen von Dateiblöcken anzeigt. Das verbessert die Leseleistung, da Anwendungen ähnlich dem MapReduce-Modell Aufgaben dort planen können, wo die Daten liegen.</a:t>
            </a:r>
          </a:p>
          <a:p>
            <a:endParaRPr lang="de-DE" sz="3200" dirty="0">
              <a:solidFill>
                <a:srgbClr val="000000"/>
              </a:solidFill>
              <a:effectLst/>
              <a:latin typeface="Century Gothic" panose="020B0502020202020204" pitchFamily="34"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Client öffnet die zu lesende Datei mittels open() auf dem Distributed File System (DFS).</a:t>
            </a: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DFS kommuniziert mit dem Namenknoten, um die Standorte der ersten Dateiblöcke zu bestimmen und gibt ein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FSDataInputStream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an den Client zurück.</a:t>
            </a: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Der Client ruft read() auf dem Stream auf, wobei das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DFSInputStream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eine Verbindung zum ersten Datenknoten herstellt.</a:t>
            </a: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Daten werden vom Datenknoten zum Client gestreamt.</a:t>
            </a: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Bei Erreichen des Blockendes schließt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DFSInputStream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die Verbindung und sucht den nächsten Datenknoten. Es holt auch bei Bedarf neue Datenknotenstandorte vom Namenknoten.</a:t>
            </a: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Nach dem Lesen der Datei ruft der Client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close</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auf dem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FSDataInputStream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auf.</a:t>
            </a:r>
          </a:p>
          <a:p>
            <a:endParaRPr lang="de-DE" sz="3200" dirty="0"/>
          </a:p>
        </p:txBody>
      </p:sp>
      <p:sp>
        <p:nvSpPr>
          <p:cNvPr id="4" name="Foliennummernplatzhalter 3"/>
          <p:cNvSpPr>
            <a:spLocks noGrp="1"/>
          </p:cNvSpPr>
          <p:nvPr>
            <p:ph type="sldNum" sz="quarter" idx="5"/>
          </p:nvPr>
        </p:nvSpPr>
        <p:spPr/>
        <p:txBody>
          <a:bodyPr/>
          <a:lstStyle/>
          <a:p>
            <a:fld id="{3DC8AFB0-9261-4BF2-A629-FAD4823D46DA}" type="slidenum">
              <a:rPr lang="de-DE" smtClean="0"/>
              <a:t>11</a:t>
            </a:fld>
            <a:endParaRPr lang="de-DE"/>
          </a:p>
        </p:txBody>
      </p:sp>
    </p:spTree>
    <p:extLst>
      <p:ext uri="{BB962C8B-B14F-4D97-AF65-F5344CB8AC3E}">
        <p14:creationId xmlns:p14="http://schemas.microsoft.com/office/powerpoint/2010/main" val="164034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Der Client erstellt die Datei, indem er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create</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auf dem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DistributedFileSystem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(DFS) aufruft.</a:t>
            </a:r>
          </a:p>
          <a:p>
            <a:pPr marL="342900" lvl="0" indent="-342900" algn="just">
              <a:lnSpc>
                <a:spcPct val="125000"/>
              </a:lnSpc>
              <a:spcAft>
                <a:spcPts val="800"/>
              </a:spcAft>
              <a:buFont typeface="+mj-lt"/>
              <a:buAutoNum type="arabicPeriod"/>
              <a:tabLst>
                <a:tab pos="228600" algn="l"/>
                <a:tab pos="457200" algn="l"/>
              </a:tabLs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DFS sendet einen RPC-Aufruf an den Namenknoten, um eine neue Datei zu erstellen, mit keinen zugeordneten Blöcken. Bei erfolgreicher Überprüfung erstellt der Namenknoten einen Eintrag für die neue Datei.</a:t>
            </a:r>
          </a:p>
          <a:p>
            <a:pPr marL="342900" lvl="0" indent="-342900" algn="just">
              <a:lnSpc>
                <a:spcPct val="125000"/>
              </a:lnSpc>
              <a:spcAft>
                <a:spcPts val="800"/>
              </a:spcAft>
              <a:buFont typeface="+mj-lt"/>
              <a:buAutoNum type="arabicPeriod"/>
              <a:tabLst>
                <a:tab pos="228600" algn="l"/>
                <a:tab pos="457200" algn="l"/>
              </a:tabLs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Wenn der Client Daten schreibt, teilt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DFSOutputStream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sie in Pakete und sendet sie an eine interne Daten-Warteschlange. Der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Datenstromer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fordert den Namenknoten auf, neue Blöcke zu allokieren und wählt dazu geeignete Datenknoten aus.</a:t>
            </a:r>
          </a:p>
          <a:p>
            <a:pPr marL="342900" lvl="0" indent="-342900" algn="just">
              <a:lnSpc>
                <a:spcPct val="125000"/>
              </a:lnSpc>
              <a:spcAft>
                <a:spcPts val="800"/>
              </a:spcAft>
              <a:buFont typeface="+mj-lt"/>
              <a:buAutoNum type="arabicPeriod"/>
              <a:tabLst>
                <a:tab pos="228600" algn="l"/>
                <a:tab pos="457200" algn="l"/>
              </a:tabLs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Die Datenknoten speichern die Pakete und leiten sie an den nächsten Knoten in der Pipeline weiter.</a:t>
            </a:r>
          </a:p>
          <a:p>
            <a:pPr marL="342900" lvl="0" indent="-342900" algn="just">
              <a:lnSpc>
                <a:spcPct val="125000"/>
              </a:lnSpc>
              <a:spcAft>
                <a:spcPts val="800"/>
              </a:spcAft>
              <a:buFont typeface="+mj-lt"/>
              <a:buAutoNum type="arabicPeriod"/>
              <a:tabLst>
                <a:tab pos="228600" algn="l"/>
                <a:tab pos="457200" algn="l"/>
              </a:tabLs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DFSOutputStream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hält eine interne Warteschlange von Paketen, die auf eine Bestätigung von den Datenknoten warten.</a:t>
            </a:r>
          </a:p>
          <a:p>
            <a:pPr marL="342900" lvl="0" indent="-342900" algn="just">
              <a:lnSpc>
                <a:spcPct val="125000"/>
              </a:lnSpc>
              <a:spcAft>
                <a:spcPts val="800"/>
              </a:spcAft>
              <a:buFont typeface="+mj-lt"/>
              <a:buAutoNum type="arabicPeriod"/>
              <a:tabLst>
                <a:tab pos="228600" algn="l"/>
                <a:tab pos="457200" algn="l"/>
              </a:tabLs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DFSOutputStream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sendet alle verbleibenden Pakete an die Datenknoten-Pipeline und wartet auf Bestätigungen, bevor es den Namenknoten informiert, ob die Datei vollständig ist oder nicht.</a:t>
            </a:r>
          </a:p>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12</a:t>
            </a:fld>
            <a:endParaRPr lang="de-DE"/>
          </a:p>
        </p:txBody>
      </p:sp>
    </p:spTree>
    <p:extLst>
      <p:ext uri="{BB962C8B-B14F-4D97-AF65-F5344CB8AC3E}">
        <p14:creationId xmlns:p14="http://schemas.microsoft.com/office/powerpoint/2010/main" val="1237634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just">
              <a:lnSpc>
                <a:spcPct val="125000"/>
              </a:lnSpc>
              <a:spcAft>
                <a:spcPts val="800"/>
              </a:spcAft>
            </a:pPr>
            <a:r>
              <a:rPr lang="de-DE" sz="18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YARN wurde entworfen, um viele der Einschränkungen in MapReduce 1 zu überwinden. Die Vorteile von YARN umfassen</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a:t>
            </a:r>
          </a:p>
          <a:p>
            <a:pPr algn="just">
              <a:lnSpc>
                <a:spcPct val="125000"/>
              </a:lnSpc>
              <a:spcAft>
                <a:spcPts val="800"/>
              </a:spcAf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Skalierbarkeit: YARN kann auf größeren Clustern als MapReduce 1 laufen. Es ist so konzipiert, dass es bis zu 10.000 Knoten und 100.000 Aufgaben skalieren kann.</a:t>
            </a:r>
          </a:p>
          <a:p>
            <a:pPr marL="342900" lvl="0" indent="-342900" algn="just">
              <a:lnSpc>
                <a:spcPct val="125000"/>
              </a:lnSpc>
              <a:spcAft>
                <a:spcPts val="800"/>
              </a:spcAft>
              <a:buFont typeface="+mj-lt"/>
              <a:buAutoNum type="arabicPeriod"/>
              <a:tabLst>
                <a:tab pos="228600" algn="l"/>
                <a:tab pos="457200" algn="l"/>
              </a:tabLs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Verfügbarkeit: Mit den Aufgaben des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JobTrackers</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die in YARN zwischen dem Ressourcenmanager und dem Anwendungsmaster aufgeteilt werden, wurde die Bereitstellung einer hohen Verfügbarkeit einfacher.</a:t>
            </a:r>
          </a:p>
          <a:p>
            <a:pPr marL="342900" lvl="0" indent="-342900" algn="just">
              <a:lnSpc>
                <a:spcPct val="125000"/>
              </a:lnSpc>
              <a:spcAft>
                <a:spcPts val="800"/>
              </a:spcAft>
              <a:buFont typeface="+mj-lt"/>
              <a:buAutoNum type="arabicPeriod"/>
              <a:tabLst>
                <a:tab pos="228600" algn="l"/>
                <a:tab pos="457200" algn="l"/>
              </a:tabLs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Auslastung: Im Gegensatz zu MapReduce 1, wo jeder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TaskTracker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mit einer statischen Zuweisung von festen "Slots" konfiguriert ist, verwaltet ein Node Manager in YARN einen Pool von Ressourcen.</a:t>
            </a:r>
          </a:p>
          <a:p>
            <a:pPr algn="just"/>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16</a:t>
            </a:fld>
            <a:endParaRPr lang="de-DE"/>
          </a:p>
        </p:txBody>
      </p:sp>
    </p:spTree>
    <p:extLst>
      <p:ext uri="{BB962C8B-B14F-4D97-AF65-F5344CB8AC3E}">
        <p14:creationId xmlns:p14="http://schemas.microsoft.com/office/powerpoint/2010/main" val="254047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just">
              <a:lnSpc>
                <a:spcPct val="125000"/>
              </a:lnSpc>
              <a:spcAft>
                <a:spcPts val="800"/>
              </a:spcAft>
              <a:tabLst>
                <a:tab pos="457200" algn="l"/>
              </a:tabLst>
            </a:pPr>
            <a:r>
              <a:rPr lang="de-DE" sz="105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Die Hauptkomponenten der YARN-Architektur umfassen</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a:t>
            </a:r>
          </a:p>
          <a:p>
            <a:pPr algn="just">
              <a:lnSpc>
                <a:spcPct val="125000"/>
              </a:lnSpc>
              <a:spcAft>
                <a:spcPts val="800"/>
              </a:spcAft>
              <a:tabLst>
                <a:tab pos="457200" algn="l"/>
              </a:tabLst>
            </a:pPr>
            <a:endParaRPr lang="de-DE" sz="105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050" b="1" dirty="0">
                <a:effectLst/>
                <a:latin typeface="Century Gothic" panose="020B0502020202020204" pitchFamily="34" charset="0"/>
                <a:ea typeface="Times New Roman" panose="02020603050405020304" pitchFamily="18" charset="0"/>
                <a:cs typeface="Times New Roman" panose="02020603050405020304" pitchFamily="18" charset="0"/>
              </a:rPr>
              <a:t>Client:</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 Er reicht MapReduce-Aufträge ein.</a:t>
            </a:r>
          </a:p>
          <a:p>
            <a:pPr marL="342900" lvl="0" indent="-342900" algn="just">
              <a:lnSpc>
                <a:spcPct val="125000"/>
              </a:lnSpc>
              <a:spcAft>
                <a:spcPts val="800"/>
              </a:spcAft>
              <a:buFont typeface="+mj-lt"/>
              <a:buAutoNum type="arabicPeriod"/>
              <a:tabLst>
                <a:tab pos="228600" algn="l"/>
                <a:tab pos="457200" algn="l"/>
              </a:tabLst>
            </a:pPr>
            <a:endParaRPr lang="de-DE" sz="105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050" b="1" dirty="0">
                <a:effectLst/>
                <a:latin typeface="Century Gothic" panose="020B0502020202020204" pitchFamily="34" charset="0"/>
                <a:ea typeface="Times New Roman" panose="02020603050405020304" pitchFamily="18" charset="0"/>
                <a:cs typeface="Times New Roman" panose="02020603050405020304" pitchFamily="18" charset="0"/>
              </a:rPr>
              <a:t>Ressourcenmanager</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 Dies ist die zentrale Komponente in YARN und ist für die Zuteilung und Verwaltung von Ressourcen unter allen Anwendungen verantwortlich. Er leitet Verarbeitungsanfragen an den entsprechenden Knotenmanager weiter und weist Ressourcen für deren Bearbeitung zu. Er besteht aus zwei Hauptkomponenten:</a:t>
            </a:r>
          </a:p>
          <a:p>
            <a:pPr marL="742950" lvl="1" indent="-285750" algn="just">
              <a:lnSpc>
                <a:spcPct val="125000"/>
              </a:lnSpc>
              <a:spcAft>
                <a:spcPts val="800"/>
              </a:spcAft>
              <a:buSzPts val="1000"/>
              <a:buFont typeface="Symbol" panose="05050102010706020507" pitchFamily="18" charset="2"/>
              <a:buChar char=""/>
              <a:tabLst>
                <a:tab pos="457200" algn="l"/>
                <a:tab pos="685800" algn="l"/>
                <a:tab pos="914400" algn="l"/>
              </a:tabLst>
            </a:pPr>
            <a:endParaRPr lang="de-DE" sz="1050" b="1"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742950" lvl="1" indent="-285750" algn="just">
              <a:lnSpc>
                <a:spcPct val="125000"/>
              </a:lnSpc>
              <a:spcAft>
                <a:spcPts val="800"/>
              </a:spcAft>
              <a:buSzPts val="1000"/>
              <a:buFont typeface="Symbol" panose="05050102010706020507" pitchFamily="18" charset="2"/>
              <a:buChar char=""/>
              <a:tabLst>
                <a:tab pos="457200" algn="l"/>
                <a:tab pos="685800" algn="l"/>
                <a:tab pos="914400" algn="l"/>
              </a:tabLst>
            </a:pPr>
            <a:r>
              <a:rPr lang="de-DE" sz="1050" b="1" dirty="0">
                <a:effectLst/>
                <a:latin typeface="Century Gothic" panose="020B0502020202020204" pitchFamily="34" charset="0"/>
                <a:ea typeface="Times New Roman" panose="02020603050405020304" pitchFamily="18" charset="0"/>
                <a:cs typeface="Times New Roman" panose="02020603050405020304" pitchFamily="18" charset="0"/>
              </a:rPr>
              <a:t>Scheduler:</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 Er plant die Ausführung von Aufträgen basierend auf der Anwendungsanforderung und den verfügbaren Ressourcen. Er unterstützt Plugins wie den </a:t>
            </a:r>
            <a:r>
              <a:rPr lang="de-DE" sz="1050" dirty="0" err="1">
                <a:effectLst/>
                <a:latin typeface="Century Gothic" panose="020B0502020202020204" pitchFamily="34" charset="0"/>
                <a:ea typeface="Times New Roman" panose="02020603050405020304" pitchFamily="18" charset="0"/>
                <a:cs typeface="Times New Roman" panose="02020603050405020304" pitchFamily="18" charset="0"/>
              </a:rPr>
              <a:t>Capacity</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 Scheduler und den Fair Scheduler.</a:t>
            </a:r>
          </a:p>
          <a:p>
            <a:pPr marL="742950" lvl="1" indent="-285750" algn="just">
              <a:lnSpc>
                <a:spcPct val="125000"/>
              </a:lnSpc>
              <a:spcAft>
                <a:spcPts val="800"/>
              </a:spcAft>
              <a:buSzPts val="1000"/>
              <a:buFont typeface="Symbol" panose="05050102010706020507" pitchFamily="18" charset="2"/>
              <a:buChar char=""/>
              <a:tabLst>
                <a:tab pos="457200" algn="l"/>
                <a:tab pos="685800" algn="l"/>
                <a:tab pos="914400" algn="l"/>
              </a:tabLst>
            </a:pPr>
            <a:endParaRPr lang="de-DE" sz="105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742950" lvl="1" indent="-285750" algn="just">
              <a:lnSpc>
                <a:spcPct val="125000"/>
              </a:lnSpc>
              <a:spcAft>
                <a:spcPts val="800"/>
              </a:spcAft>
              <a:buSzPts val="1000"/>
              <a:buFont typeface="Symbol" panose="05050102010706020507" pitchFamily="18" charset="2"/>
              <a:buChar char=""/>
              <a:tabLst>
                <a:tab pos="457200" algn="l"/>
                <a:tab pos="685800" algn="l"/>
                <a:tab pos="914400" algn="l"/>
              </a:tabLst>
            </a:pPr>
            <a:r>
              <a:rPr lang="de-DE" sz="1050" b="1" dirty="0">
                <a:effectLst/>
                <a:latin typeface="Century Gothic" panose="020B0502020202020204" pitchFamily="34" charset="0"/>
                <a:ea typeface="Times New Roman" panose="02020603050405020304" pitchFamily="18" charset="0"/>
                <a:cs typeface="Times New Roman" panose="02020603050405020304" pitchFamily="18" charset="0"/>
              </a:rPr>
              <a:t>Anwendungsmanager:</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 Er nimmt Anwendungen entgegen und handelt den ersten Container für die Ausführung der Anwendung aus.</a:t>
            </a:r>
          </a:p>
          <a:p>
            <a:pPr marL="742950" lvl="1" indent="-285750" algn="just">
              <a:lnSpc>
                <a:spcPct val="125000"/>
              </a:lnSpc>
              <a:spcAft>
                <a:spcPts val="800"/>
              </a:spcAft>
              <a:buSzPts val="1000"/>
              <a:buFont typeface="Symbol" panose="05050102010706020507" pitchFamily="18" charset="2"/>
              <a:buChar char=""/>
              <a:tabLst>
                <a:tab pos="457200" algn="l"/>
                <a:tab pos="685800" algn="l"/>
                <a:tab pos="914400" algn="l"/>
              </a:tabLst>
            </a:pPr>
            <a:endParaRPr lang="de-DE" sz="105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050" b="1" dirty="0">
                <a:effectLst/>
                <a:latin typeface="Century Gothic" panose="020B0502020202020204" pitchFamily="34" charset="0"/>
                <a:ea typeface="Times New Roman" panose="02020603050405020304" pitchFamily="18" charset="0"/>
                <a:cs typeface="Times New Roman" panose="02020603050405020304" pitchFamily="18" charset="0"/>
              </a:rPr>
              <a:t>Knotenmanager:</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 Dieser ist für die Verwaltung von einzelnen Knoten im Hadoop-Cluster zuständig und überwacht den Ressourcenverbrauch, führt die Protokollverwaltung durch und beendet Container auf Anweisung des Ressourcenmanagers.</a:t>
            </a:r>
          </a:p>
          <a:p>
            <a:pPr marL="342900" lvl="0" indent="-342900" algn="just">
              <a:lnSpc>
                <a:spcPct val="125000"/>
              </a:lnSpc>
              <a:spcAft>
                <a:spcPts val="800"/>
              </a:spcAft>
              <a:buFont typeface="+mj-lt"/>
              <a:buAutoNum type="arabicPeriod"/>
              <a:tabLst>
                <a:tab pos="228600" algn="l"/>
                <a:tab pos="457200" algn="l"/>
              </a:tabLst>
            </a:pPr>
            <a:endParaRPr lang="de-DE" sz="105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800"/>
              </a:spcAft>
              <a:buFont typeface="+mj-lt"/>
              <a:buAutoNum type="arabicPeriod"/>
              <a:tabLst>
                <a:tab pos="228600" algn="l"/>
                <a:tab pos="457200" algn="l"/>
              </a:tabLst>
            </a:pPr>
            <a:r>
              <a:rPr lang="de-DE" sz="1050" b="1" dirty="0">
                <a:effectLst/>
                <a:latin typeface="Century Gothic" panose="020B0502020202020204" pitchFamily="34" charset="0"/>
                <a:ea typeface="Times New Roman" panose="02020603050405020304" pitchFamily="18" charset="0"/>
                <a:cs typeface="Times New Roman" panose="02020603050405020304" pitchFamily="18" charset="0"/>
              </a:rPr>
              <a:t>Anwendungsmaster:</a:t>
            </a:r>
            <a:r>
              <a:rPr lang="de-DE" sz="1050" dirty="0">
                <a:effectLst/>
                <a:latin typeface="Century Gothic" panose="020B0502020202020204" pitchFamily="34" charset="0"/>
                <a:ea typeface="Times New Roman" panose="02020603050405020304" pitchFamily="18" charset="0"/>
                <a:cs typeface="Times New Roman" panose="02020603050405020304" pitchFamily="18" charset="0"/>
              </a:rPr>
              <a:t> Er ist für die Verhandlung von Ressourcen mit dem Ressourcenmanager und die Überwachung des Status und Fortschritts einer einzelnen Anwendung zuständig. Er fordert den Container vom Knotenmanager an und sendet dazu einen Container Launch Context (CLC), der alle notwendigen Informationen für die Ausführung der Anwendung enthält.</a:t>
            </a:r>
          </a:p>
          <a:p>
            <a:endParaRPr lang="de-DE" dirty="0"/>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5"/>
              <a:tabLst/>
              <a:defRPr/>
            </a:pPr>
            <a:r>
              <a:rPr lang="de-DE" sz="1800" b="1" dirty="0">
                <a:effectLst/>
                <a:latin typeface="Century Gothic" panose="020B0502020202020204" pitchFamily="34" charset="0"/>
                <a:ea typeface="Times New Roman" panose="02020603050405020304" pitchFamily="18" charset="0"/>
                <a:cs typeface="Times New Roman" panose="02020603050405020304" pitchFamily="18" charset="0"/>
              </a:rPr>
              <a:t>Container: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Dies ist eine Sammlung von physischen Ressourcen wie RAM, CPU-Kernen und Festplattenspeicher auf einem einzelnen Knoten. Die Container werden durch den Container Launch Context (CLC) aufgerufen, der Informationen wie Umgebungsvariablen, Sicherheitstokens und Abhängigkeiten enthält.</a:t>
            </a:r>
          </a:p>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17</a:t>
            </a:fld>
            <a:endParaRPr lang="de-DE"/>
          </a:p>
        </p:txBody>
      </p:sp>
    </p:spTree>
    <p:extLst>
      <p:ext uri="{BB962C8B-B14F-4D97-AF65-F5344CB8AC3E}">
        <p14:creationId xmlns:p14="http://schemas.microsoft.com/office/powerpoint/2010/main" val="1113891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b="1" dirty="0">
                <a:effectLst/>
                <a:latin typeface="Century Gothic" panose="020B0502020202020204" pitchFamily="34" charset="0"/>
                <a:ea typeface="Times New Roman" panose="02020603050405020304" pitchFamily="18" charset="0"/>
                <a:cs typeface="Times New Roman" panose="02020603050405020304" pitchFamily="18" charset="0"/>
              </a:rPr>
              <a:t>Mapper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Der Mapper nimmt Rohdaten des NCDC (National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Climatic</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Data Center) als Eingabe. Die einzige Information, die für diese Aufgabe von Interesse ist, sind das Jahr und die Lufttemperatur. Der Mapper bereitet die Daten so auf, dass die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Reduce</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-Funktion sie weiterverarbeiten kann. Er filtert außerdem ungültige, fehlende oder fehlerhafte Temperaturdaten aus. Der Code für den Mapper ist in der Klasse </a:t>
            </a:r>
            <a:r>
              <a:rPr lang="de-DE" sz="1800" b="1" dirty="0" err="1">
                <a:effectLst/>
                <a:latin typeface="Century Gothic" panose="020B0502020202020204" pitchFamily="34" charset="0"/>
                <a:ea typeface="Times New Roman" panose="02020603050405020304" pitchFamily="18" charset="0"/>
                <a:cs typeface="Times New Roman" panose="02020603050405020304" pitchFamily="18" charset="0"/>
              </a:rPr>
              <a:t>MaxTemperatureMapper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definiert.</a:t>
            </a:r>
          </a:p>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24</a:t>
            </a:fld>
            <a:endParaRPr lang="de-DE"/>
          </a:p>
        </p:txBody>
      </p:sp>
    </p:spTree>
    <p:extLst>
      <p:ext uri="{BB962C8B-B14F-4D97-AF65-F5344CB8AC3E}">
        <p14:creationId xmlns:p14="http://schemas.microsoft.com/office/powerpoint/2010/main" val="1806409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b="1" dirty="0" err="1">
                <a:effectLst/>
                <a:latin typeface="Century Gothic" panose="020B0502020202020204" pitchFamily="34" charset="0"/>
                <a:ea typeface="Times New Roman" panose="02020603050405020304" pitchFamily="18" charset="0"/>
                <a:cs typeface="Times New Roman" panose="02020603050405020304" pitchFamily="18" charset="0"/>
              </a:rPr>
              <a:t>Reducer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Die Hauptaufgabe des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Reducers</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ist es, die von der Map-Funktion generierten Tupel zu sammeln und die maximale Temperatur für jedes Jahr zu finden. Der Code für den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Reducer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ist in der Klasse </a:t>
            </a:r>
            <a:r>
              <a:rPr lang="de-DE" sz="1800" b="1" dirty="0" err="1">
                <a:effectLst/>
                <a:latin typeface="Century Gothic" panose="020B0502020202020204" pitchFamily="34" charset="0"/>
                <a:ea typeface="Times New Roman" panose="02020603050405020304" pitchFamily="18" charset="0"/>
                <a:cs typeface="Times New Roman" panose="02020603050405020304" pitchFamily="18" charset="0"/>
              </a:rPr>
              <a:t>MaxTemperatureReducer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definiert.</a:t>
            </a:r>
          </a:p>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25</a:t>
            </a:fld>
            <a:endParaRPr lang="de-DE"/>
          </a:p>
        </p:txBody>
      </p:sp>
    </p:spTree>
    <p:extLst>
      <p:ext uri="{BB962C8B-B14F-4D97-AF65-F5344CB8AC3E}">
        <p14:creationId xmlns:p14="http://schemas.microsoft.com/office/powerpoint/2010/main" val="2636740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b="1" dirty="0" err="1">
                <a:effectLst/>
                <a:latin typeface="Century Gothic" panose="020B0502020202020204" pitchFamily="34" charset="0"/>
                <a:ea typeface="Times New Roman" panose="02020603050405020304" pitchFamily="18" charset="0"/>
                <a:cs typeface="Times New Roman" panose="02020603050405020304" pitchFamily="18" charset="0"/>
              </a:rPr>
              <a:t>JobRunner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Dieser Teil des Codes ist verantwortlich für das Ausführen des MapReduce-Jobs. Es spezifiziert die Eingabe- und Ausgabepfade, die Mapper- und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Reducer</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-Klassen sowie die Ausgabe-Schlüssel- und Wertklassen. Der Code dafür ist in der Klasse </a:t>
            </a:r>
            <a:r>
              <a:rPr lang="de-DE" sz="1800" b="1" dirty="0" err="1">
                <a:effectLst/>
                <a:latin typeface="Century Gothic" panose="020B0502020202020204" pitchFamily="34" charset="0"/>
                <a:ea typeface="Times New Roman" panose="02020603050405020304" pitchFamily="18" charset="0"/>
                <a:cs typeface="Times New Roman" panose="02020603050405020304" pitchFamily="18" charset="0"/>
              </a:rPr>
              <a:t>MaxTemperature</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definiert.</a:t>
            </a:r>
          </a:p>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26</a:t>
            </a:fld>
            <a:endParaRPr lang="de-DE"/>
          </a:p>
        </p:txBody>
      </p:sp>
    </p:spTree>
    <p:extLst>
      <p:ext uri="{BB962C8B-B14F-4D97-AF65-F5344CB8AC3E}">
        <p14:creationId xmlns:p14="http://schemas.microsoft.com/office/powerpoint/2010/main" val="257808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3DC8AFB0-9261-4BF2-A629-FAD4823D46DA}" type="slidenum">
              <a:rPr lang="de-DE" smtClean="0"/>
              <a:t>28</a:t>
            </a:fld>
            <a:endParaRPr lang="de-DE"/>
          </a:p>
        </p:txBody>
      </p:sp>
    </p:spTree>
    <p:extLst>
      <p:ext uri="{BB962C8B-B14F-4D97-AF65-F5344CB8AC3E}">
        <p14:creationId xmlns:p14="http://schemas.microsoft.com/office/powerpoint/2010/main" val="3451540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just">
              <a:lnSpc>
                <a:spcPct val="125000"/>
              </a:lnSpc>
              <a:spcAft>
                <a:spcPts val="800"/>
              </a:spcAf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Netflix nutzt Hadoop in großem Maßstab in seiner Cloud-basierten Datenbankarchitektur, die es ihnen ermöglicht, ein Datenlager von praktisch unendlichem Umfang zu erstellen. Sie nutzen die Flexibilität der Cloud, um ein dynamisch skalierbares System zu erstellen.</a:t>
            </a:r>
          </a:p>
          <a:p>
            <a:pPr algn="just">
              <a:lnSpc>
                <a:spcPct val="125000"/>
              </a:lnSpc>
              <a:spcAft>
                <a:spcPts val="800"/>
              </a:spcAf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lnSpc>
                <a:spcPct val="125000"/>
              </a:lnSpc>
              <a:spcAft>
                <a:spcPts val="800"/>
              </a:spcAf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Netflix hat eine eigene Hadoop-Plattform als Service (PaaS) namens "Genie" entwickelt, die REST-APIs für Jobausführung und Ressourcenverwaltung bietet. Genie ermöglicht es Benutzern, einzelne Hadoop-, Hive- und Pig-Jobs über eine REST-API zu übermitteln, ohne neue Hadoop-Cluster bereitstellen oder Hadoop-, Hive- oder Pig-Clients installieren zu müssen. Darüber hinaus ermöglicht es Administratoren, die Konfigurationen verschiedener Hadoop-Ressourcen in der Cloud zu verwalten und zu abstrahieren.</a:t>
            </a:r>
          </a:p>
          <a:p>
            <a:pPr algn="just">
              <a:lnSpc>
                <a:spcPct val="125000"/>
              </a:lnSpc>
              <a:spcAft>
                <a:spcPts val="800"/>
              </a:spcAf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lnSpc>
                <a:spcPct val="125000"/>
              </a:lnSpc>
              <a:spcAft>
                <a:spcPts val="800"/>
              </a:spcAft>
            </a:pPr>
            <a:r>
              <a:rPr lang="de-DE" sz="18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Die Entwicklung von Genie war notwendig, da es keine bestehende Lösung in der Open-Source-Gemeinschaft gab, die ihre Anforderungen erfüllte: eine API für die Jobausführung, die Abstraktion von Backend-Clustern, die Möglichkeit, Jobs an mehrere Cluster zu senden, und die Skalierbarkeit zur Unterstützung ihres Nutzungsgrades. Andere Lösungen wie </a:t>
            </a:r>
            <a:r>
              <a:rPr lang="de-DE" sz="1800" dirty="0" err="1">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Oozie</a:t>
            </a:r>
            <a:r>
              <a:rPr lang="de-DE" sz="18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 oder Templeton wurden in Betracht gezogen, erfüllten jedoch nicht alle Anforderungen von Netflix, beispielsweise die Unterstützung von Hive oder die Möglichkeit, gleichzeitig Jobs an mehr als einen Cluster zu senden. </a:t>
            </a: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fld id="{3DC8AFB0-9261-4BF2-A629-FAD4823D46DA}" type="slidenum">
              <a:rPr lang="de-DE" smtClean="0"/>
              <a:t>31</a:t>
            </a:fld>
            <a:endParaRPr lang="de-DE"/>
          </a:p>
        </p:txBody>
      </p:sp>
    </p:spTree>
    <p:extLst>
      <p:ext uri="{BB962C8B-B14F-4D97-AF65-F5344CB8AC3E}">
        <p14:creationId xmlns:p14="http://schemas.microsoft.com/office/powerpoint/2010/main" val="3521643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just">
              <a:lnSpc>
                <a:spcPct val="125000"/>
              </a:lnSpc>
              <a:spcAft>
                <a:spcPts val="800"/>
              </a:spcAf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Twitter verwendet Apache Hadoop und hat aufgrund des Fehlens von standardisierten Cluster-Management-Tools den Data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Platform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Cluster Operator (DCO) Service entwickelt. Dieser in Python erstellte Service zielt darauf ab, die Betriebseffizienz zu erhöhen und robuste Lösungen für das Management von Hadoop-Clustern bereitzustellen.</a:t>
            </a:r>
          </a:p>
          <a:p>
            <a:pPr algn="just">
              <a:lnSpc>
                <a:spcPct val="125000"/>
              </a:lnSpc>
              <a:spcAft>
                <a:spcPts val="800"/>
              </a:spcAf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lnSpc>
                <a:spcPct val="125000"/>
              </a:lnSpc>
              <a:spcAft>
                <a:spcPts val="800"/>
              </a:spcAft>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Vor der Einführung des DCO mussten Site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Reliability</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Engineers (SREs) im Data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Platform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Team einen Großteil ihrer Zeit für das Management und die Wartung von Hadoop-Cluster-Operationen aufwenden. Dies umfasste das Hinzufügen oder Entfernen von Hosts zu Clustern, das Erfüllen von Kapazitätsanforderungen der Benutzer, das Leeren von Hosts vor der Entfernung, das Aufrechterhalten des Lebenszyklus der Hosts und das Gewährleisten der Cluster-Gesundheit.</a:t>
            </a:r>
          </a:p>
          <a:p>
            <a:pPr algn="just">
              <a:lnSpc>
                <a:spcPct val="125000"/>
              </a:lnSpc>
              <a:spcAft>
                <a:spcPts val="800"/>
              </a:spcAf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lnSpc>
                <a:spcPct val="125000"/>
              </a:lnSpc>
              <a:spcAft>
                <a:spcPts val="800"/>
              </a:spcAft>
            </a:pPr>
            <a:r>
              <a:rPr lang="de-DE" sz="18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Der DCO-Service hat diese Prozesse optimiert und das Cluster-Management zu einem nahtlosen Erlebnis gemacht. Zusammenfassend bringt der DCO-Service erhebliche Fortschritte in Bezug auf Betrieb, Wartung und Skalierbarkeit für das SRE-Team. Der Service hat umfassende Tests durchlaufen und wurde erfolgreich auf Produktionsclustern eingesetzt, wodurch die Infrastruktur robuster und zuverlässiger wurde. </a:t>
            </a: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lnSpc>
                <a:spcPct val="125000"/>
              </a:lnSpc>
              <a:spcAft>
                <a:spcPts val="800"/>
              </a:spcAft>
            </a:pP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fld id="{3DC8AFB0-9261-4BF2-A629-FAD4823D46DA}" type="slidenum">
              <a:rPr lang="de-DE" smtClean="0"/>
              <a:t>32</a:t>
            </a:fld>
            <a:endParaRPr lang="de-DE"/>
          </a:p>
        </p:txBody>
      </p:sp>
    </p:spTree>
    <p:extLst>
      <p:ext uri="{BB962C8B-B14F-4D97-AF65-F5344CB8AC3E}">
        <p14:creationId xmlns:p14="http://schemas.microsoft.com/office/powerpoint/2010/main" val="507735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just">
              <a:lnSpc>
                <a:spcPct val="125000"/>
              </a:lnSpc>
              <a:spcAft>
                <a:spcPts val="800"/>
              </a:spcAft>
            </a:pPr>
            <a:r>
              <a:rPr lang="de-DE" sz="1200" dirty="0">
                <a:effectLst/>
                <a:latin typeface="Century Gothic" panose="020B0502020202020204" pitchFamily="34" charset="0"/>
                <a:ea typeface="Times New Roman" panose="02020603050405020304" pitchFamily="18" charset="0"/>
                <a:cs typeface="Times New Roman" panose="02020603050405020304" pitchFamily="18" charset="0"/>
              </a:rPr>
              <a:t>Facebook Messages ist die erste benutzerorientierte Anwendung von Facebook, die auf der Apache Hadoop-Plattform basiert. Apache </a:t>
            </a:r>
            <a:r>
              <a:rPr lang="de-DE" sz="1200" dirty="0" err="1">
                <a:effectLst/>
                <a:latin typeface="Century Gothic" panose="020B0502020202020204" pitchFamily="34" charset="0"/>
                <a:ea typeface="Times New Roman" panose="02020603050405020304" pitchFamily="18" charset="0"/>
                <a:cs typeface="Times New Roman" panose="02020603050405020304" pitchFamily="18" charset="0"/>
              </a:rPr>
              <a:t>HBase</a:t>
            </a:r>
            <a:r>
              <a:rPr lang="de-DE" sz="1200" dirty="0">
                <a:effectLst/>
                <a:latin typeface="Century Gothic" panose="020B0502020202020204" pitchFamily="34" charset="0"/>
                <a:ea typeface="Times New Roman" panose="02020603050405020304" pitchFamily="18" charset="0"/>
                <a:cs typeface="Times New Roman" panose="02020603050405020304" pitchFamily="18" charset="0"/>
              </a:rPr>
              <a:t> ist eine datenbankähnliche Schicht, die auf Hadoop aufgebaut ist und dazu ausgelegt ist, Milliarden von Nachrichten pro Tag zu unterstützen.</a:t>
            </a:r>
          </a:p>
          <a:p>
            <a:pPr algn="just">
              <a:lnSpc>
                <a:spcPct val="125000"/>
              </a:lnSpc>
              <a:spcAft>
                <a:spcPts val="800"/>
              </a:spcAft>
            </a:pPr>
            <a:endParaRPr lang="de-DE" sz="12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lnSpc>
                <a:spcPct val="125000"/>
              </a:lnSpc>
              <a:spcAft>
                <a:spcPts val="800"/>
              </a:spcAft>
            </a:pPr>
            <a:r>
              <a:rPr lang="de-DE" sz="1200" dirty="0">
                <a:effectLst/>
                <a:latin typeface="Century Gothic" panose="020B0502020202020204" pitchFamily="34" charset="0"/>
                <a:ea typeface="Times New Roman" panose="02020603050405020304" pitchFamily="18" charset="0"/>
                <a:cs typeface="Times New Roman" panose="02020603050405020304" pitchFamily="18" charset="0"/>
              </a:rPr>
              <a:t>Facebook wählte Hadoop und </a:t>
            </a:r>
            <a:r>
              <a:rPr lang="de-DE" sz="1200" dirty="0" err="1">
                <a:effectLst/>
                <a:latin typeface="Century Gothic" panose="020B0502020202020204" pitchFamily="34" charset="0"/>
                <a:ea typeface="Times New Roman" panose="02020603050405020304" pitchFamily="18" charset="0"/>
                <a:cs typeface="Times New Roman" panose="02020603050405020304" pitchFamily="18" charset="0"/>
              </a:rPr>
              <a:t>HBase</a:t>
            </a:r>
            <a:r>
              <a:rPr lang="de-DE" sz="1200" dirty="0">
                <a:effectLst/>
                <a:latin typeface="Century Gothic" panose="020B0502020202020204" pitchFamily="34" charset="0"/>
                <a:ea typeface="Times New Roman" panose="02020603050405020304" pitchFamily="18" charset="0"/>
                <a:cs typeface="Times New Roman" panose="02020603050405020304" pitchFamily="18" charset="0"/>
              </a:rPr>
              <a:t> über andere Systeme wie Apache Cassandra und Voldemort aufgrund der Anforderungen der Anwendung an Konsistenz, Verfügbarkeit, Partitionstoleranz, Datenmodell und Skalierbarkeit. Facebook hat Verbesserungen an Hadoop vorgenommen, um es zu einem effektiveren Echtzeitsystem zu machen.</a:t>
            </a:r>
          </a:p>
          <a:p>
            <a:pPr algn="just">
              <a:lnSpc>
                <a:spcPct val="125000"/>
              </a:lnSpc>
              <a:spcAft>
                <a:spcPts val="800"/>
              </a:spcAft>
            </a:pPr>
            <a:endParaRPr lang="de-DE" sz="12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lnSpc>
                <a:spcPct val="125000"/>
              </a:lnSpc>
              <a:spcAft>
                <a:spcPts val="800"/>
              </a:spcAft>
            </a:pPr>
            <a:r>
              <a:rPr lang="de-DE" sz="12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Dieser Ansatz bietet bedeutende Vorteile gegenüber dem </a:t>
            </a:r>
            <a:r>
              <a:rPr lang="de-DE" sz="1200" dirty="0" err="1">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sharded</a:t>
            </a:r>
            <a:r>
              <a:rPr lang="de-DE" sz="12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 MySQL-Datenbankschema, das in anderen Anwendungen bei Facebook und vielen anderen Web-</a:t>
            </a:r>
            <a:r>
              <a:rPr lang="de-DE" sz="1200" dirty="0" err="1">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Scale</a:t>
            </a:r>
            <a:r>
              <a:rPr lang="de-DE" sz="1200"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-Unternehmen verwendet wird. </a:t>
            </a:r>
            <a:endParaRPr lang="de-DE" sz="1200" dirty="0">
              <a:effectLst/>
              <a:latin typeface="Century Gothic" panose="020B0502020202020204" pitchFamily="34" charset="0"/>
              <a:ea typeface="Times New Roman" panose="02020603050405020304" pitchFamily="18" charset="0"/>
              <a:cs typeface="Times New Roman" panose="02020603050405020304" pitchFamily="18" charset="0"/>
            </a:endParaRPr>
          </a:p>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33</a:t>
            </a:fld>
            <a:endParaRPr lang="de-DE"/>
          </a:p>
        </p:txBody>
      </p:sp>
    </p:spTree>
    <p:extLst>
      <p:ext uri="{BB962C8B-B14F-4D97-AF65-F5344CB8AC3E}">
        <p14:creationId xmlns:p14="http://schemas.microsoft.com/office/powerpoint/2010/main" val="1300719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3DC8AFB0-9261-4BF2-A629-FAD4823D46DA}" type="slidenum">
              <a:rPr lang="de-DE" smtClean="0"/>
              <a:t>36</a:t>
            </a:fld>
            <a:endParaRPr lang="de-DE"/>
          </a:p>
        </p:txBody>
      </p:sp>
    </p:spTree>
    <p:extLst>
      <p:ext uri="{BB962C8B-B14F-4D97-AF65-F5344CB8AC3E}">
        <p14:creationId xmlns:p14="http://schemas.microsoft.com/office/powerpoint/2010/main" val="29574641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de-DE"/>
              <a:t>Mastertitelformat bearbeiten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38FD6FB-03F9-423F-9666-4729F571B1E2}" type="datetime2">
              <a:rPr lang="en-US" smtClean="0"/>
              <a:t>Monday, June 5, 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lvl1pPr>
              <a:defRPr/>
            </a:lvl1pPr>
          </a:lstStyle>
          <a:p>
            <a:r>
              <a:rPr lang="en-US" spc="200"/>
              <a:t>Tobias Walter</a:t>
            </a:r>
            <a:endParaRPr lang="en-US" spc="200" dirty="0"/>
          </a:p>
        </p:txBody>
      </p:sp>
      <p:sp>
        <p:nvSpPr>
          <p:cNvPr id="6" name="Slide Number Placeholder 5"/>
          <p:cNvSpPr>
            <a:spLocks noGrp="1"/>
          </p:cNvSpPr>
          <p:nvPr>
            <p:ph type="sldNum" sz="quarter" idx="12"/>
          </p:nvPr>
        </p:nvSpPr>
        <p:spPr>
          <a:xfrm>
            <a:off x="9896911" y="5410199"/>
            <a:ext cx="771089" cy="365125"/>
          </a:xfrm>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256878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72A689F0-074D-4CD5-8FAA-E32E5D2B440F}" type="datetime2">
              <a:rPr lang="en-US" smtClean="0"/>
              <a:t>Monday, June 5, 2023</a:t>
            </a:fld>
            <a:endParaRPr lang="en-US" dirty="0"/>
          </a:p>
        </p:txBody>
      </p:sp>
      <p:sp>
        <p:nvSpPr>
          <p:cNvPr id="5" name="Footer Placeholder 4"/>
          <p:cNvSpPr>
            <a:spLocks noGrp="1"/>
          </p:cNvSpPr>
          <p:nvPr>
            <p:ph type="ftr" sz="quarter" idx="11"/>
          </p:nvPr>
        </p:nvSpPr>
        <p:spPr/>
        <p:txBody>
          <a:bodyPr/>
          <a:lstStyle/>
          <a:p>
            <a:r>
              <a:rPr lang="en-US" spc="200"/>
              <a:t>Tobias Walter</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78690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de-DE"/>
              <a:t>Mastertitelformat bearbeiten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7DAC8D6F-B587-404B-95C7-DC85FA10A798}" type="datetime2">
              <a:rPr lang="en-US" smtClean="0"/>
              <a:t>Monday, June 5, 2023</a:t>
            </a:fld>
            <a:endParaRPr lang="en-US" dirty="0"/>
          </a:p>
        </p:txBody>
      </p:sp>
      <p:sp>
        <p:nvSpPr>
          <p:cNvPr id="5" name="Footer Placeholder 4"/>
          <p:cNvSpPr>
            <a:spLocks noGrp="1"/>
          </p:cNvSpPr>
          <p:nvPr>
            <p:ph type="ftr" sz="quarter" idx="11"/>
          </p:nvPr>
        </p:nvSpPr>
        <p:spPr/>
        <p:txBody>
          <a:bodyPr/>
          <a:lstStyle/>
          <a:p>
            <a:r>
              <a:rPr lang="en-US" spc="200" dirty="0"/>
              <a:t>Tobias Walter</a:t>
            </a:r>
          </a:p>
        </p:txBody>
      </p:sp>
      <p:sp>
        <p:nvSpPr>
          <p:cNvPr id="6" name="Slide Number Placeholder 5"/>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1784242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49A7CBA5-E3EA-4315-88FE-66B50B1BE61D}" type="datetime2">
              <a:rPr lang="en-US" smtClean="0"/>
              <a:t>Monday, June 5, 2023</a:t>
            </a:fld>
            <a:endParaRPr lang="en-US" dirty="0"/>
          </a:p>
        </p:txBody>
      </p:sp>
      <p:sp>
        <p:nvSpPr>
          <p:cNvPr id="6" name="Footer Placeholder 5"/>
          <p:cNvSpPr>
            <a:spLocks noGrp="1"/>
          </p:cNvSpPr>
          <p:nvPr>
            <p:ph type="ftr" sz="quarter" idx="11"/>
          </p:nvPr>
        </p:nvSpPr>
        <p:spPr/>
        <p:txBody>
          <a:bodyPr/>
          <a:lstStyle/>
          <a:p>
            <a:r>
              <a:rPr lang="en-US" spc="200" dirty="0"/>
              <a:t>Tobias Walter</a:t>
            </a:r>
          </a:p>
        </p:txBody>
      </p:sp>
      <p:sp>
        <p:nvSpPr>
          <p:cNvPr id="7" name="Slide Number Placeholder 6"/>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4176927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de-DE"/>
              <a:t>Mastertitelformat bearbeiten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1141410" y="3073397"/>
            <a:ext cx="4878391" cy="27178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172200" y="3073397"/>
            <a:ext cx="4875210" cy="27178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131F0BE4-05BA-4671-AD24-EDD8A64338CC}" type="datetime2">
              <a:rPr lang="en-US" smtClean="0"/>
              <a:t>Monday, June 5, 2023</a:t>
            </a:fld>
            <a:endParaRPr lang="en-US" dirty="0"/>
          </a:p>
        </p:txBody>
      </p:sp>
      <p:sp>
        <p:nvSpPr>
          <p:cNvPr id="8" name="Footer Placeholder 7"/>
          <p:cNvSpPr>
            <a:spLocks noGrp="1"/>
          </p:cNvSpPr>
          <p:nvPr>
            <p:ph type="ftr" sz="quarter" idx="11"/>
          </p:nvPr>
        </p:nvSpPr>
        <p:spPr/>
        <p:txBody>
          <a:bodyPr/>
          <a:lstStyle/>
          <a:p>
            <a:r>
              <a:rPr lang="en-US" spc="200" dirty="0"/>
              <a:t>Tobias Walter</a:t>
            </a:r>
          </a:p>
        </p:txBody>
      </p:sp>
      <p:sp>
        <p:nvSpPr>
          <p:cNvPr id="9" name="Slide Number Placeholder 8"/>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1610556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05410194-C8BC-46C0-8365-5BAA24B0691F}" type="datetime2">
              <a:rPr lang="en-US" smtClean="0"/>
              <a:t>Monday, June 5, 2023</a:t>
            </a:fld>
            <a:endParaRPr lang="en-US" dirty="0"/>
          </a:p>
        </p:txBody>
      </p:sp>
      <p:sp>
        <p:nvSpPr>
          <p:cNvPr id="4" name="Footer Placeholder 3"/>
          <p:cNvSpPr>
            <a:spLocks noGrp="1"/>
          </p:cNvSpPr>
          <p:nvPr>
            <p:ph type="ftr" sz="quarter" idx="11"/>
          </p:nvPr>
        </p:nvSpPr>
        <p:spPr/>
        <p:txBody>
          <a:bodyPr/>
          <a:lstStyle/>
          <a:p>
            <a:r>
              <a:rPr lang="en-US" spc="200" dirty="0"/>
              <a:t>Tobias Walter</a:t>
            </a:r>
          </a:p>
        </p:txBody>
      </p:sp>
      <p:sp>
        <p:nvSpPr>
          <p:cNvPr id="5" name="Slide Number Placeholder 4"/>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3020479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351369-BE09-4CBC-9CC6-EAD83AED0F45}" type="datetime2">
              <a:rPr lang="en-US" smtClean="0"/>
              <a:t>Monday, June 5, 2023</a:t>
            </a:fld>
            <a:endParaRPr lang="en-US" dirty="0"/>
          </a:p>
        </p:txBody>
      </p:sp>
      <p:sp>
        <p:nvSpPr>
          <p:cNvPr id="3" name="Footer Placeholder 2"/>
          <p:cNvSpPr>
            <a:spLocks noGrp="1"/>
          </p:cNvSpPr>
          <p:nvPr>
            <p:ph type="ftr" sz="quarter" idx="11"/>
          </p:nvPr>
        </p:nvSpPr>
        <p:spPr/>
        <p:txBody>
          <a:bodyPr/>
          <a:lstStyle/>
          <a:p>
            <a:r>
              <a:rPr lang="en-US" spc="200"/>
              <a:t>Tobias Walter</a:t>
            </a:r>
            <a:endParaRPr lang="en-US" spc="200" dirty="0"/>
          </a:p>
        </p:txBody>
      </p:sp>
      <p:sp>
        <p:nvSpPr>
          <p:cNvPr id="4" name="Slide Number Placeholder 3"/>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402059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BF15B86A-9336-4456-B30E-C7DBE09D7A2C}" type="datetime2">
              <a:rPr lang="en-US" smtClean="0"/>
              <a:t>Monday, June 5, 2023</a:t>
            </a:fld>
            <a:endParaRPr lang="en-US" dirty="0"/>
          </a:p>
        </p:txBody>
      </p:sp>
      <p:sp>
        <p:nvSpPr>
          <p:cNvPr id="6" name="Footer Placeholder 5"/>
          <p:cNvSpPr>
            <a:spLocks noGrp="1"/>
          </p:cNvSpPr>
          <p:nvPr>
            <p:ph type="ftr" sz="quarter" idx="11"/>
          </p:nvPr>
        </p:nvSpPr>
        <p:spPr/>
        <p:txBody>
          <a:bodyPr/>
          <a:lstStyle/>
          <a:p>
            <a:r>
              <a:rPr lang="en-US" spc="200"/>
              <a:t>Tobias Walter</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85781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A5B550C5-F97E-4541-82B8-AA29AA22C513}" type="datetime2">
              <a:rPr lang="en-US" smtClean="0"/>
              <a:t>Monday, June 5, 2023</a:t>
            </a:fld>
            <a:endParaRPr lang="en-US" dirty="0"/>
          </a:p>
        </p:txBody>
      </p:sp>
      <p:sp>
        <p:nvSpPr>
          <p:cNvPr id="6" name="Footer Placeholder 5"/>
          <p:cNvSpPr>
            <a:spLocks noGrp="1"/>
          </p:cNvSpPr>
          <p:nvPr>
            <p:ph type="ftr" sz="quarter" idx="11"/>
          </p:nvPr>
        </p:nvSpPr>
        <p:spPr/>
        <p:txBody>
          <a:bodyPr/>
          <a:lstStyle/>
          <a:p>
            <a:r>
              <a:rPr lang="en-US" spc="200"/>
              <a:t>Tobias Walter</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2059855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de-DE"/>
              <a:t>Bild durch Klicken auf Symbol hinzufügen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9E305D33-4DC3-4F2B-A640-D6BBE6DB0EDA}" type="datetime2">
              <a:rPr lang="en-US" smtClean="0"/>
              <a:t>Monday, June 5, 2023</a:t>
            </a:fld>
            <a:endParaRPr lang="en-US" dirty="0"/>
          </a:p>
        </p:txBody>
      </p:sp>
      <p:sp>
        <p:nvSpPr>
          <p:cNvPr id="6" name="Footer Placeholder 5"/>
          <p:cNvSpPr>
            <a:spLocks noGrp="1"/>
          </p:cNvSpPr>
          <p:nvPr>
            <p:ph type="ftr" sz="quarter" idx="11"/>
          </p:nvPr>
        </p:nvSpPr>
        <p:spPr>
          <a:xfrm>
            <a:off x="1141364" y="5883274"/>
            <a:ext cx="6239309" cy="365125"/>
          </a:xfrm>
        </p:spPr>
        <p:txBody>
          <a:bodyPr/>
          <a:lstStyle/>
          <a:p>
            <a:r>
              <a:rPr lang="en-US" spc="200"/>
              <a:t>Tobias Walter</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549092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de-DE"/>
              <a:t>Mastertitelformat bearbeiten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F7458DBF-08AE-4673-9984-7080A0741C48}" type="datetime2">
              <a:rPr lang="en-US" smtClean="0"/>
              <a:t>Monday, June 5, 2023</a:t>
            </a:fld>
            <a:endParaRPr lang="en-US" dirty="0"/>
          </a:p>
        </p:txBody>
      </p:sp>
      <p:sp>
        <p:nvSpPr>
          <p:cNvPr id="6" name="Footer Placeholder 5"/>
          <p:cNvSpPr>
            <a:spLocks noGrp="1"/>
          </p:cNvSpPr>
          <p:nvPr>
            <p:ph type="ftr" sz="quarter" idx="11"/>
          </p:nvPr>
        </p:nvSpPr>
        <p:spPr/>
        <p:txBody>
          <a:bodyPr/>
          <a:lstStyle/>
          <a:p>
            <a:r>
              <a:rPr lang="en-US" spc="200"/>
              <a:t>Tobias Walter</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1273035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de-DE"/>
              <a:t>Mastertitelformat bearbeiten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10DE5AB-7C27-4B73-A2BB-930BC008F1D3}" type="datetime2">
              <a:rPr lang="en-US" smtClean="0"/>
              <a:t>Monday, June 5, 2023</a:t>
            </a:fld>
            <a:endParaRPr lang="en-US" dirty="0"/>
          </a:p>
        </p:txBody>
      </p:sp>
      <p:sp>
        <p:nvSpPr>
          <p:cNvPr id="6" name="Footer Placeholder 5"/>
          <p:cNvSpPr>
            <a:spLocks noGrp="1"/>
          </p:cNvSpPr>
          <p:nvPr>
            <p:ph type="ftr" sz="quarter" idx="11"/>
          </p:nvPr>
        </p:nvSpPr>
        <p:spPr/>
        <p:txBody>
          <a:bodyPr/>
          <a:lstStyle/>
          <a:p>
            <a:r>
              <a:rPr lang="en-US" spc="200"/>
              <a:t>Tobias Walter</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‹Nr.›</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16842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nskart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de-DE"/>
              <a:t>Mastertitelformat bearbeiten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12570969-BD18-47F4-AB6D-202AE425DFBB}" type="datetime2">
              <a:rPr lang="en-US" smtClean="0"/>
              <a:t>Monday, June 5, 2023</a:t>
            </a:fld>
            <a:endParaRPr lang="en-US" dirty="0"/>
          </a:p>
        </p:txBody>
      </p:sp>
      <p:sp>
        <p:nvSpPr>
          <p:cNvPr id="6" name="Footer Placeholder 5"/>
          <p:cNvSpPr>
            <a:spLocks noGrp="1"/>
          </p:cNvSpPr>
          <p:nvPr>
            <p:ph type="ftr" sz="quarter" idx="11"/>
          </p:nvPr>
        </p:nvSpPr>
        <p:spPr/>
        <p:txBody>
          <a:bodyPr/>
          <a:lstStyle/>
          <a:p>
            <a:r>
              <a:rPr lang="en-US" spc="200"/>
              <a:t>Tobias Walter</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1837941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palt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de-DE"/>
              <a:t>Mastertitelformat bearbeiten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Date Placeholder 2"/>
          <p:cNvSpPr>
            <a:spLocks noGrp="1"/>
          </p:cNvSpPr>
          <p:nvPr>
            <p:ph type="dt" sz="half" idx="10"/>
          </p:nvPr>
        </p:nvSpPr>
        <p:spPr/>
        <p:txBody>
          <a:bodyPr/>
          <a:lstStyle/>
          <a:p>
            <a:fld id="{65D11F9D-AFD4-4A1D-BEA1-CB008B36F1B6}" type="datetime2">
              <a:rPr lang="en-US" smtClean="0"/>
              <a:t>Monday, June 5, 2023</a:t>
            </a:fld>
            <a:endParaRPr lang="en-US" dirty="0"/>
          </a:p>
        </p:txBody>
      </p:sp>
      <p:sp>
        <p:nvSpPr>
          <p:cNvPr id="4" name="Footer Placeholder 3"/>
          <p:cNvSpPr>
            <a:spLocks noGrp="1"/>
          </p:cNvSpPr>
          <p:nvPr>
            <p:ph type="ftr" sz="quarter" idx="11"/>
          </p:nvPr>
        </p:nvSpPr>
        <p:spPr/>
        <p:txBody>
          <a:bodyPr/>
          <a:lstStyle/>
          <a:p>
            <a:r>
              <a:rPr lang="en-US" spc="200" dirty="0"/>
              <a:t>Tobias Walter</a:t>
            </a:r>
          </a:p>
        </p:txBody>
      </p:sp>
      <p:sp>
        <p:nvSpPr>
          <p:cNvPr id="5" name="Slide Number Placeholder 4"/>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994998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Bildspalt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de-DE"/>
              <a:t>Mastertitelformat bearbeiten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de-DE"/>
              <a:t>Bild durch Klicken auf Symbol hinzufügen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de-DE"/>
              <a:t>Bild durch Klicken auf Symbol hinzufügen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de-DE"/>
              <a:t>Bild durch Klicken auf Symbol hinzufügen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Date Placeholder 2"/>
          <p:cNvSpPr>
            <a:spLocks noGrp="1"/>
          </p:cNvSpPr>
          <p:nvPr>
            <p:ph type="dt" sz="half" idx="10"/>
          </p:nvPr>
        </p:nvSpPr>
        <p:spPr/>
        <p:txBody>
          <a:bodyPr/>
          <a:lstStyle/>
          <a:p>
            <a:fld id="{963803DD-EA42-4FA6-B5DC-D6DCDBDEF1CA}" type="datetime2">
              <a:rPr lang="en-US" smtClean="0"/>
              <a:t>Monday, June 5, 2023</a:t>
            </a:fld>
            <a:endParaRPr lang="en-US" dirty="0"/>
          </a:p>
        </p:txBody>
      </p:sp>
      <p:sp>
        <p:nvSpPr>
          <p:cNvPr id="4" name="Footer Placeholder 3"/>
          <p:cNvSpPr>
            <a:spLocks noGrp="1"/>
          </p:cNvSpPr>
          <p:nvPr>
            <p:ph type="ftr" sz="quarter" idx="11"/>
          </p:nvPr>
        </p:nvSpPr>
        <p:spPr/>
        <p:txBody>
          <a:bodyPr/>
          <a:lstStyle/>
          <a:p>
            <a:r>
              <a:rPr lang="en-US" spc="200"/>
              <a:t>Tobias Walter</a:t>
            </a:r>
            <a:endParaRPr lang="en-US" spc="200" dirty="0"/>
          </a:p>
        </p:txBody>
      </p:sp>
      <p:sp>
        <p:nvSpPr>
          <p:cNvPr id="5" name="Slide Number Placeholder 4"/>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24572558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ncho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1C4FA31-32E5-4912-BDA4-BA744C157A97}" type="datetime2">
              <a:rPr lang="en-US" smtClean="0"/>
              <a:t>Monday, June 5, 2023</a:t>
            </a:fld>
            <a:endParaRPr lang="en-US" dirty="0"/>
          </a:p>
        </p:txBody>
      </p:sp>
      <p:sp>
        <p:nvSpPr>
          <p:cNvPr id="5" name="Footer Placeholder 4"/>
          <p:cNvSpPr>
            <a:spLocks noGrp="1"/>
          </p:cNvSpPr>
          <p:nvPr>
            <p:ph type="ftr" sz="quarter" idx="11"/>
          </p:nvPr>
        </p:nvSpPr>
        <p:spPr/>
        <p:txBody>
          <a:bodyPr/>
          <a:lstStyle/>
          <a:p>
            <a:r>
              <a:rPr lang="en-US" spc="200"/>
              <a:t>Tobias Walter</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12481026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BC554FA0-F266-475D-8A2D-345F4030E337}" type="datetime2">
              <a:rPr lang="en-US" smtClean="0"/>
              <a:t>Monday, June 5, 2023</a:t>
            </a:fld>
            <a:endParaRPr lang="en-US" dirty="0"/>
          </a:p>
        </p:txBody>
      </p:sp>
      <p:sp>
        <p:nvSpPr>
          <p:cNvPr id="5" name="Footer Placeholder 4"/>
          <p:cNvSpPr>
            <a:spLocks noGrp="1"/>
          </p:cNvSpPr>
          <p:nvPr>
            <p:ph type="ftr" sz="quarter" idx="11"/>
          </p:nvPr>
        </p:nvSpPr>
        <p:spPr/>
        <p:txBody>
          <a:bodyPr/>
          <a:lstStyle/>
          <a:p>
            <a:r>
              <a:rPr lang="en-US" spc="200"/>
              <a:t>Tobias Walter</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738829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A353AFA-E6D9-4A59-8B13-5D36B3C8DC90}" type="datetime2">
              <a:rPr lang="en-US" smtClean="0"/>
              <a:t>Monday, June 5, 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US" spc="200"/>
              <a:t>Tobias Walter</a:t>
            </a:r>
            <a:endParaRPr lang="en-US" spc="200"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D309695-DEC3-40DA-9DF5-330280C9D0E8}" type="slidenum">
              <a:rPr lang="en-US" smtClean="0"/>
              <a:pPr/>
              <a:t>‹Nr.›</a:t>
            </a:fld>
            <a:endParaRPr lang="en-US" dirty="0"/>
          </a:p>
        </p:txBody>
      </p:sp>
    </p:spTree>
    <p:extLst>
      <p:ext uri="{BB962C8B-B14F-4D97-AF65-F5344CB8AC3E}">
        <p14:creationId xmlns:p14="http://schemas.microsoft.com/office/powerpoint/2010/main" val="558900403"/>
      </p:ext>
    </p:extLst>
  </p:cSld>
  <p:clrMap bg1="dk1" tx1="lt1" bg2="dk2" tx2="lt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 id="2147483959"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jpeg"/><Relationship Id="rId7" Type="http://schemas.openxmlformats.org/officeDocument/2006/relationships/diagramColors" Target="../diagrams/colors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media.geeksforgeeks.org/wp-content/uploads/20200611181133/HDFS_write-1.png" TargetMode="External"/><Relationship Id="rId3" Type="http://schemas.openxmlformats.org/officeDocument/2006/relationships/hyperlink" Target="https://de.cleanpng.com/png-sfshvn/" TargetMode="External"/><Relationship Id="rId7" Type="http://schemas.openxmlformats.org/officeDocument/2006/relationships/hyperlink" Target="https://media.geeksforgeeks.org/wp-content/uploads/20200611181201/HDFS_Read.png" TargetMode="External"/><Relationship Id="rId12" Type="http://schemas.openxmlformats.org/officeDocument/2006/relationships/hyperlink" Target="https://media.geeksforgeeks.org/wp-content/uploads/20200621115714/Map-reduce-workflow.pn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media.geeksforgeeks.org/wp-content/uploads/20200621121959/3164-1.png" TargetMode="External"/><Relationship Id="rId11" Type="http://schemas.openxmlformats.org/officeDocument/2006/relationships/hyperlink" Target="https://media.geeksforgeeks.org/wp-content/uploads/20200621105657/mapreduce-workflow.png" TargetMode="External"/><Relationship Id="rId5" Type="http://schemas.openxmlformats.org/officeDocument/2006/relationships/hyperlink" Target="https://cdn.ttgtmedia.com/rms/German/Die-HDFS-Architektur-deutsch.png" TargetMode="External"/><Relationship Id="rId10" Type="http://schemas.openxmlformats.org/officeDocument/2006/relationships/hyperlink" Target="https://media.geeksforgeeks.org/wp-content/uploads/Application_WorkFlow_YARN.jpg" TargetMode="External"/><Relationship Id="rId4" Type="http://schemas.openxmlformats.org/officeDocument/2006/relationships/hyperlink" Target="https://www.itmagazine.ch/imgserver/artikel/Illustrationen/2014/mid/ITM09_50.jpg_140908_110954.jpg" TargetMode="External"/><Relationship Id="rId9" Type="http://schemas.openxmlformats.org/officeDocument/2006/relationships/hyperlink" Target="https://media.licdn.com/dms/image/C4E12AQHZUggkhbx3JQ/article-cover_image-shrink_720_1280/0/1602430399757?e=2147483647&amp;v=beta&amp;t=53VTI1gR-EE6W1IVX-1exEQuxZhLgoMqM_OGEXEXGl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F6A66F-BCB8-45F2-EF1F-3139F921B264}"/>
              </a:ext>
            </a:extLst>
          </p:cNvPr>
          <p:cNvSpPr>
            <a:spLocks noGrp="1"/>
          </p:cNvSpPr>
          <p:nvPr>
            <p:ph type="ctrTitle"/>
          </p:nvPr>
        </p:nvSpPr>
        <p:spPr>
          <a:xfrm>
            <a:off x="7200900" y="673240"/>
            <a:ext cx="4366900" cy="3446373"/>
          </a:xfrm>
          <a:noFill/>
          <a:ln w="19050">
            <a:noFill/>
            <a:prstDash val="dash"/>
          </a:ln>
        </p:spPr>
        <p:txBody>
          <a:bodyPr>
            <a:normAutofit/>
          </a:bodyPr>
          <a:lstStyle/>
          <a:p>
            <a:pPr algn="r"/>
            <a:r>
              <a:rPr lang="de-DE" sz="4800" dirty="0"/>
              <a:t>Hadoop &amp;</a:t>
            </a:r>
            <a:br>
              <a:rPr lang="de-DE" sz="4800" dirty="0"/>
            </a:br>
            <a:r>
              <a:rPr lang="de-DE" sz="4800" dirty="0"/>
              <a:t>MapReduce</a:t>
            </a:r>
          </a:p>
        </p:txBody>
      </p:sp>
      <p:sp>
        <p:nvSpPr>
          <p:cNvPr id="3" name="Untertitel 2">
            <a:extLst>
              <a:ext uri="{FF2B5EF4-FFF2-40B4-BE49-F238E27FC236}">
                <a16:creationId xmlns:a16="http://schemas.microsoft.com/office/drawing/2014/main" id="{B12FB587-7AED-5DDE-FBCE-7437B5017F8B}"/>
              </a:ext>
            </a:extLst>
          </p:cNvPr>
          <p:cNvSpPr>
            <a:spLocks noGrp="1"/>
          </p:cNvSpPr>
          <p:nvPr>
            <p:ph type="subTitle" idx="1"/>
          </p:nvPr>
        </p:nvSpPr>
        <p:spPr>
          <a:xfrm>
            <a:off x="6484631" y="4119613"/>
            <a:ext cx="5083170" cy="2058765"/>
          </a:xfrm>
          <a:noFill/>
          <a:ln w="19050">
            <a:noFill/>
            <a:prstDash val="dash"/>
          </a:ln>
        </p:spPr>
        <p:txBody>
          <a:bodyPr>
            <a:normAutofit/>
          </a:bodyPr>
          <a:lstStyle/>
          <a:p>
            <a:pPr algn="r"/>
            <a:r>
              <a:rPr lang="de-DE" dirty="0"/>
              <a:t>Datenbanken und Informationssysteme</a:t>
            </a:r>
          </a:p>
        </p:txBody>
      </p:sp>
      <p:pic>
        <p:nvPicPr>
          <p:cNvPr id="14" name="Grafik 13">
            <a:extLst>
              <a:ext uri="{FF2B5EF4-FFF2-40B4-BE49-F238E27FC236}">
                <a16:creationId xmlns:a16="http://schemas.microsoft.com/office/drawing/2014/main" id="{01347917-ACFA-2B7A-3FE8-434A6B11807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06071" y="1073020"/>
            <a:ext cx="4178559" cy="4178559"/>
          </a:xfrm>
          <a:prstGeom prst="rect">
            <a:avLst/>
          </a:prstGeom>
        </p:spPr>
      </p:pic>
      <p:sp>
        <p:nvSpPr>
          <p:cNvPr id="18" name="Fußzeilenplatzhalter 17">
            <a:extLst>
              <a:ext uri="{FF2B5EF4-FFF2-40B4-BE49-F238E27FC236}">
                <a16:creationId xmlns:a16="http://schemas.microsoft.com/office/drawing/2014/main" id="{B9E0A36F-E503-58FA-547B-33AA169C196C}"/>
              </a:ext>
            </a:extLst>
          </p:cNvPr>
          <p:cNvSpPr>
            <a:spLocks noGrp="1"/>
          </p:cNvSpPr>
          <p:nvPr>
            <p:ph type="ftr" sz="quarter" idx="11"/>
          </p:nvPr>
        </p:nvSpPr>
        <p:spPr>
          <a:xfrm>
            <a:off x="331674" y="5995815"/>
            <a:ext cx="5124886" cy="365125"/>
          </a:xfrm>
        </p:spPr>
        <p:txBody>
          <a:bodyPr/>
          <a:lstStyle/>
          <a:p>
            <a:r>
              <a:rPr lang="en-US" spc="200" dirty="0"/>
              <a:t>Tobias Walter</a:t>
            </a:r>
          </a:p>
        </p:txBody>
      </p:sp>
      <p:sp>
        <p:nvSpPr>
          <p:cNvPr id="19" name="Foliennummernplatzhalter 18">
            <a:extLst>
              <a:ext uri="{FF2B5EF4-FFF2-40B4-BE49-F238E27FC236}">
                <a16:creationId xmlns:a16="http://schemas.microsoft.com/office/drawing/2014/main" id="{5A1DE9A6-A0A0-34DC-A4D8-DD5FA17E70C0}"/>
              </a:ext>
            </a:extLst>
          </p:cNvPr>
          <p:cNvSpPr>
            <a:spLocks noGrp="1"/>
          </p:cNvSpPr>
          <p:nvPr>
            <p:ph type="sldNum" sz="quarter" idx="12"/>
          </p:nvPr>
        </p:nvSpPr>
        <p:spPr/>
        <p:txBody>
          <a:bodyPr/>
          <a:lstStyle/>
          <a:p>
            <a:fld id="{0D309695-DEC3-40DA-9DF5-330280C9D0E8}" type="slidenum">
              <a:rPr lang="en-US" smtClean="0"/>
              <a:pPr/>
              <a:t>1</a:t>
            </a:fld>
            <a:endParaRPr lang="en-US" dirty="0"/>
          </a:p>
        </p:txBody>
      </p:sp>
    </p:spTree>
    <p:extLst>
      <p:ext uri="{BB962C8B-B14F-4D97-AF65-F5344CB8AC3E}">
        <p14:creationId xmlns:p14="http://schemas.microsoft.com/office/powerpoint/2010/main" val="557894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248964-69A3-A23E-A925-573A1C59CF84}"/>
              </a:ext>
            </a:extLst>
          </p:cNvPr>
          <p:cNvSpPr>
            <a:spLocks noGrp="1"/>
          </p:cNvSpPr>
          <p:nvPr>
            <p:ph type="title"/>
          </p:nvPr>
        </p:nvSpPr>
        <p:spPr/>
        <p:txBody>
          <a:bodyPr/>
          <a:lstStyle/>
          <a:p>
            <a:r>
              <a:rPr lang="de-DE" dirty="0"/>
              <a:t>Agenda</a:t>
            </a:r>
          </a:p>
        </p:txBody>
      </p:sp>
      <p:graphicFrame>
        <p:nvGraphicFramePr>
          <p:cNvPr id="5" name="Inhaltsplatzhalter 2">
            <a:extLst>
              <a:ext uri="{FF2B5EF4-FFF2-40B4-BE49-F238E27FC236}">
                <a16:creationId xmlns:a16="http://schemas.microsoft.com/office/drawing/2014/main" id="{18E8BF49-E1FE-332E-3631-86E411120EFB}"/>
              </a:ext>
            </a:extLst>
          </p:cNvPr>
          <p:cNvGraphicFramePr>
            <a:graphicFrameLocks noGrp="1"/>
          </p:cNvGraphicFramePr>
          <p:nvPr>
            <p:ph idx="1"/>
            <p:extLst>
              <p:ext uri="{D42A27DB-BD31-4B8C-83A1-F6EECF244321}">
                <p14:modId xmlns:p14="http://schemas.microsoft.com/office/powerpoint/2010/main" val="1060050254"/>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ußzeilenplatzhalter 6">
            <a:extLst>
              <a:ext uri="{FF2B5EF4-FFF2-40B4-BE49-F238E27FC236}">
                <a16:creationId xmlns:a16="http://schemas.microsoft.com/office/drawing/2014/main" id="{C6B434AE-80EE-622A-125C-4AF945F07C10}"/>
              </a:ext>
            </a:extLst>
          </p:cNvPr>
          <p:cNvSpPr>
            <a:spLocks noGrp="1"/>
          </p:cNvSpPr>
          <p:nvPr>
            <p:ph type="ftr" sz="quarter" idx="11"/>
          </p:nvPr>
        </p:nvSpPr>
        <p:spPr/>
        <p:txBody>
          <a:bodyPr/>
          <a:lstStyle/>
          <a:p>
            <a:r>
              <a:rPr lang="en-US" spc="200"/>
              <a:t>Tobias Walter</a:t>
            </a:r>
            <a:endParaRPr lang="en-US" spc="200" dirty="0"/>
          </a:p>
        </p:txBody>
      </p:sp>
      <p:sp>
        <p:nvSpPr>
          <p:cNvPr id="8" name="Foliennummernplatzhalter 7">
            <a:extLst>
              <a:ext uri="{FF2B5EF4-FFF2-40B4-BE49-F238E27FC236}">
                <a16:creationId xmlns:a16="http://schemas.microsoft.com/office/drawing/2014/main" id="{7A2418A2-C61A-2F65-50E5-A90FE2A74FBC}"/>
              </a:ext>
            </a:extLst>
          </p:cNvPr>
          <p:cNvSpPr>
            <a:spLocks noGrp="1"/>
          </p:cNvSpPr>
          <p:nvPr>
            <p:ph type="sldNum" sz="quarter" idx="12"/>
          </p:nvPr>
        </p:nvSpPr>
        <p:spPr/>
        <p:txBody>
          <a:bodyPr/>
          <a:lstStyle/>
          <a:p>
            <a:fld id="{0D309695-DEC3-40DA-9DF5-330280C9D0E8}" type="slidenum">
              <a:rPr lang="en-US" smtClean="0"/>
              <a:pPr/>
              <a:t>2</a:t>
            </a:fld>
            <a:endParaRPr lang="en-US" dirty="0"/>
          </a:p>
        </p:txBody>
      </p:sp>
    </p:spTree>
    <p:extLst>
      <p:ext uri="{BB962C8B-B14F-4D97-AF65-F5344CB8AC3E}">
        <p14:creationId xmlns:p14="http://schemas.microsoft.com/office/powerpoint/2010/main" val="35516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5">
                                            <p:graphicEl>
                                              <a:dgm id="{BCA9F4FC-F2C6-4911-AA82-5B3FC83D97B0}"/>
                                            </p:graphicEl>
                                          </p:spTgt>
                                        </p:tgtEl>
                                        <p:attrNameLst>
                                          <p:attrName>style.visibility</p:attrName>
                                        </p:attrNameLst>
                                      </p:cBhvr>
                                      <p:to>
                                        <p:strVal val="visible"/>
                                      </p:to>
                                    </p:set>
                                    <p:animEffect transition="in" filter="fade">
                                      <p:cBhvr>
                                        <p:cTn id="7" dur="500"/>
                                        <p:tgtEl>
                                          <p:spTgt spid="5">
                                            <p:graphicEl>
                                              <a:dgm id="{BCA9F4FC-F2C6-4911-AA82-5B3FC83D97B0}"/>
                                            </p:graphicEl>
                                          </p:spTgt>
                                        </p:tgtEl>
                                      </p:cBhvr>
                                    </p:animEffect>
                                    <p:anim calcmode="lin" valueType="num">
                                      <p:cBhvr>
                                        <p:cTn id="8" dur="500" fill="hold"/>
                                        <p:tgtEl>
                                          <p:spTgt spid="5">
                                            <p:graphicEl>
                                              <a:dgm id="{BCA9F4FC-F2C6-4911-AA82-5B3FC83D97B0}"/>
                                            </p:graphicEl>
                                          </p:spTgt>
                                        </p:tgtEl>
                                        <p:attrNameLst>
                                          <p:attrName>ppt_x</p:attrName>
                                        </p:attrNameLst>
                                      </p:cBhvr>
                                      <p:tavLst>
                                        <p:tav tm="0">
                                          <p:val>
                                            <p:strVal val="#ppt_x"/>
                                          </p:val>
                                        </p:tav>
                                        <p:tav tm="100000">
                                          <p:val>
                                            <p:strVal val="#ppt_x"/>
                                          </p:val>
                                        </p:tav>
                                      </p:tavLst>
                                    </p:anim>
                                    <p:anim calcmode="lin" valueType="num">
                                      <p:cBhvr>
                                        <p:cTn id="9" dur="500" fill="hold"/>
                                        <p:tgtEl>
                                          <p:spTgt spid="5">
                                            <p:graphicEl>
                                              <a:dgm id="{BCA9F4FC-F2C6-4911-AA82-5B3FC83D97B0}"/>
                                            </p:graphic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graphicEl>
                                              <a:dgm id="{56AFB29D-E554-4D31-8F25-A867F3F99E01}"/>
                                            </p:graphicEl>
                                          </p:spTgt>
                                        </p:tgtEl>
                                        <p:attrNameLst>
                                          <p:attrName>style.visibility</p:attrName>
                                        </p:attrNameLst>
                                      </p:cBhvr>
                                      <p:to>
                                        <p:strVal val="visible"/>
                                      </p:to>
                                    </p:set>
                                    <p:animEffect transition="in" filter="fade">
                                      <p:cBhvr>
                                        <p:cTn id="13" dur="500"/>
                                        <p:tgtEl>
                                          <p:spTgt spid="5">
                                            <p:graphicEl>
                                              <a:dgm id="{56AFB29D-E554-4D31-8F25-A867F3F99E01}"/>
                                            </p:graphicEl>
                                          </p:spTgt>
                                        </p:tgtEl>
                                      </p:cBhvr>
                                    </p:animEffect>
                                    <p:anim calcmode="lin" valueType="num">
                                      <p:cBhvr>
                                        <p:cTn id="14" dur="500" fill="hold"/>
                                        <p:tgtEl>
                                          <p:spTgt spid="5">
                                            <p:graphicEl>
                                              <a:dgm id="{56AFB29D-E554-4D31-8F25-A867F3F99E01}"/>
                                            </p:graphicEl>
                                          </p:spTgt>
                                        </p:tgtEl>
                                        <p:attrNameLst>
                                          <p:attrName>ppt_x</p:attrName>
                                        </p:attrNameLst>
                                      </p:cBhvr>
                                      <p:tavLst>
                                        <p:tav tm="0">
                                          <p:val>
                                            <p:strVal val="#ppt_x"/>
                                          </p:val>
                                        </p:tav>
                                        <p:tav tm="100000">
                                          <p:val>
                                            <p:strVal val="#ppt_x"/>
                                          </p:val>
                                        </p:tav>
                                      </p:tavLst>
                                    </p:anim>
                                    <p:anim calcmode="lin" valueType="num">
                                      <p:cBhvr>
                                        <p:cTn id="15" dur="500" fill="hold"/>
                                        <p:tgtEl>
                                          <p:spTgt spid="5">
                                            <p:graphicEl>
                                              <a:dgm id="{56AFB29D-E554-4D31-8F25-A867F3F99E01}"/>
                                            </p:graphicEl>
                                          </p:spTgt>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grpId="0" nodeType="afterEffect">
                                  <p:stCondLst>
                                    <p:cond delay="0"/>
                                  </p:stCondLst>
                                  <p:childTnLst>
                                    <p:set>
                                      <p:cBhvr>
                                        <p:cTn id="18" dur="1" fill="hold">
                                          <p:stCondLst>
                                            <p:cond delay="0"/>
                                          </p:stCondLst>
                                        </p:cTn>
                                        <p:tgtEl>
                                          <p:spTgt spid="5">
                                            <p:graphicEl>
                                              <a:dgm id="{346BF917-202C-4FE3-93AB-51FBCE401398}"/>
                                            </p:graphicEl>
                                          </p:spTgt>
                                        </p:tgtEl>
                                        <p:attrNameLst>
                                          <p:attrName>style.visibility</p:attrName>
                                        </p:attrNameLst>
                                      </p:cBhvr>
                                      <p:to>
                                        <p:strVal val="visible"/>
                                      </p:to>
                                    </p:set>
                                    <p:animEffect transition="in" filter="fade">
                                      <p:cBhvr>
                                        <p:cTn id="19" dur="500"/>
                                        <p:tgtEl>
                                          <p:spTgt spid="5">
                                            <p:graphicEl>
                                              <a:dgm id="{346BF917-202C-4FE3-93AB-51FBCE401398}"/>
                                            </p:graphicEl>
                                          </p:spTgt>
                                        </p:tgtEl>
                                      </p:cBhvr>
                                    </p:animEffect>
                                    <p:anim calcmode="lin" valueType="num">
                                      <p:cBhvr>
                                        <p:cTn id="20" dur="500" fill="hold"/>
                                        <p:tgtEl>
                                          <p:spTgt spid="5">
                                            <p:graphicEl>
                                              <a:dgm id="{346BF917-202C-4FE3-93AB-51FBCE401398}"/>
                                            </p:graphicEl>
                                          </p:spTgt>
                                        </p:tgtEl>
                                        <p:attrNameLst>
                                          <p:attrName>ppt_x</p:attrName>
                                        </p:attrNameLst>
                                      </p:cBhvr>
                                      <p:tavLst>
                                        <p:tav tm="0">
                                          <p:val>
                                            <p:strVal val="#ppt_x"/>
                                          </p:val>
                                        </p:tav>
                                        <p:tav tm="100000">
                                          <p:val>
                                            <p:strVal val="#ppt_x"/>
                                          </p:val>
                                        </p:tav>
                                      </p:tavLst>
                                    </p:anim>
                                    <p:anim calcmode="lin" valueType="num">
                                      <p:cBhvr>
                                        <p:cTn id="21" dur="500" fill="hold"/>
                                        <p:tgtEl>
                                          <p:spTgt spid="5">
                                            <p:graphicEl>
                                              <a:dgm id="{346BF917-202C-4FE3-93AB-51FBCE401398}"/>
                                            </p:graphicEl>
                                          </p:spTgt>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grpId="0" nodeType="afterEffect">
                                  <p:stCondLst>
                                    <p:cond delay="0"/>
                                  </p:stCondLst>
                                  <p:childTnLst>
                                    <p:set>
                                      <p:cBhvr>
                                        <p:cTn id="24" dur="1" fill="hold">
                                          <p:stCondLst>
                                            <p:cond delay="0"/>
                                          </p:stCondLst>
                                        </p:cTn>
                                        <p:tgtEl>
                                          <p:spTgt spid="5">
                                            <p:graphicEl>
                                              <a:dgm id="{E29D1361-1283-49AD-B32C-2AC0725E2F46}"/>
                                            </p:graphicEl>
                                          </p:spTgt>
                                        </p:tgtEl>
                                        <p:attrNameLst>
                                          <p:attrName>style.visibility</p:attrName>
                                        </p:attrNameLst>
                                      </p:cBhvr>
                                      <p:to>
                                        <p:strVal val="visible"/>
                                      </p:to>
                                    </p:set>
                                    <p:animEffect transition="in" filter="fade">
                                      <p:cBhvr>
                                        <p:cTn id="25" dur="500"/>
                                        <p:tgtEl>
                                          <p:spTgt spid="5">
                                            <p:graphicEl>
                                              <a:dgm id="{E29D1361-1283-49AD-B32C-2AC0725E2F46}"/>
                                            </p:graphicEl>
                                          </p:spTgt>
                                        </p:tgtEl>
                                      </p:cBhvr>
                                    </p:animEffect>
                                    <p:anim calcmode="lin" valueType="num">
                                      <p:cBhvr>
                                        <p:cTn id="26" dur="500" fill="hold"/>
                                        <p:tgtEl>
                                          <p:spTgt spid="5">
                                            <p:graphicEl>
                                              <a:dgm id="{E29D1361-1283-49AD-B32C-2AC0725E2F46}"/>
                                            </p:graphicEl>
                                          </p:spTgt>
                                        </p:tgtEl>
                                        <p:attrNameLst>
                                          <p:attrName>ppt_x</p:attrName>
                                        </p:attrNameLst>
                                      </p:cBhvr>
                                      <p:tavLst>
                                        <p:tav tm="0">
                                          <p:val>
                                            <p:strVal val="#ppt_x"/>
                                          </p:val>
                                        </p:tav>
                                        <p:tav tm="100000">
                                          <p:val>
                                            <p:strVal val="#ppt_x"/>
                                          </p:val>
                                        </p:tav>
                                      </p:tavLst>
                                    </p:anim>
                                    <p:anim calcmode="lin" valueType="num">
                                      <p:cBhvr>
                                        <p:cTn id="27" dur="500" fill="hold"/>
                                        <p:tgtEl>
                                          <p:spTgt spid="5">
                                            <p:graphicEl>
                                              <a:dgm id="{E29D1361-1283-49AD-B32C-2AC0725E2F46}"/>
                                            </p:graphicEl>
                                          </p:spTgt>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grpId="0" nodeType="afterEffect">
                                  <p:stCondLst>
                                    <p:cond delay="0"/>
                                  </p:stCondLst>
                                  <p:childTnLst>
                                    <p:set>
                                      <p:cBhvr>
                                        <p:cTn id="30" dur="1" fill="hold">
                                          <p:stCondLst>
                                            <p:cond delay="0"/>
                                          </p:stCondLst>
                                        </p:cTn>
                                        <p:tgtEl>
                                          <p:spTgt spid="5">
                                            <p:graphicEl>
                                              <a:dgm id="{58C64EC4-4B59-4257-B7B2-F1FC8529519C}"/>
                                            </p:graphicEl>
                                          </p:spTgt>
                                        </p:tgtEl>
                                        <p:attrNameLst>
                                          <p:attrName>style.visibility</p:attrName>
                                        </p:attrNameLst>
                                      </p:cBhvr>
                                      <p:to>
                                        <p:strVal val="visible"/>
                                      </p:to>
                                    </p:set>
                                    <p:animEffect transition="in" filter="fade">
                                      <p:cBhvr>
                                        <p:cTn id="31" dur="500"/>
                                        <p:tgtEl>
                                          <p:spTgt spid="5">
                                            <p:graphicEl>
                                              <a:dgm id="{58C64EC4-4B59-4257-B7B2-F1FC8529519C}"/>
                                            </p:graphicEl>
                                          </p:spTgt>
                                        </p:tgtEl>
                                      </p:cBhvr>
                                    </p:animEffect>
                                    <p:anim calcmode="lin" valueType="num">
                                      <p:cBhvr>
                                        <p:cTn id="32" dur="500" fill="hold"/>
                                        <p:tgtEl>
                                          <p:spTgt spid="5">
                                            <p:graphicEl>
                                              <a:dgm id="{58C64EC4-4B59-4257-B7B2-F1FC8529519C}"/>
                                            </p:graphicEl>
                                          </p:spTgt>
                                        </p:tgtEl>
                                        <p:attrNameLst>
                                          <p:attrName>ppt_x</p:attrName>
                                        </p:attrNameLst>
                                      </p:cBhvr>
                                      <p:tavLst>
                                        <p:tav tm="0">
                                          <p:val>
                                            <p:strVal val="#ppt_x"/>
                                          </p:val>
                                        </p:tav>
                                        <p:tav tm="100000">
                                          <p:val>
                                            <p:strVal val="#ppt_x"/>
                                          </p:val>
                                        </p:tav>
                                      </p:tavLst>
                                    </p:anim>
                                    <p:anim calcmode="lin" valueType="num">
                                      <p:cBhvr>
                                        <p:cTn id="33" dur="500" fill="hold"/>
                                        <p:tgtEl>
                                          <p:spTgt spid="5">
                                            <p:graphicEl>
                                              <a:dgm id="{58C64EC4-4B59-4257-B7B2-F1FC8529519C}"/>
                                            </p:graphicEl>
                                          </p:spTgt>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7" presetClass="entr" presetSubtype="0" fill="hold" grpId="0" nodeType="afterEffect">
                                  <p:stCondLst>
                                    <p:cond delay="0"/>
                                  </p:stCondLst>
                                  <p:childTnLst>
                                    <p:set>
                                      <p:cBhvr>
                                        <p:cTn id="36" dur="1" fill="hold">
                                          <p:stCondLst>
                                            <p:cond delay="0"/>
                                          </p:stCondLst>
                                        </p:cTn>
                                        <p:tgtEl>
                                          <p:spTgt spid="5">
                                            <p:graphicEl>
                                              <a:dgm id="{D16810EB-D270-4895-ADF4-4398623D5665}"/>
                                            </p:graphicEl>
                                          </p:spTgt>
                                        </p:tgtEl>
                                        <p:attrNameLst>
                                          <p:attrName>style.visibility</p:attrName>
                                        </p:attrNameLst>
                                      </p:cBhvr>
                                      <p:to>
                                        <p:strVal val="visible"/>
                                      </p:to>
                                    </p:set>
                                    <p:animEffect transition="in" filter="fade">
                                      <p:cBhvr>
                                        <p:cTn id="37" dur="500"/>
                                        <p:tgtEl>
                                          <p:spTgt spid="5">
                                            <p:graphicEl>
                                              <a:dgm id="{D16810EB-D270-4895-ADF4-4398623D5665}"/>
                                            </p:graphicEl>
                                          </p:spTgt>
                                        </p:tgtEl>
                                      </p:cBhvr>
                                    </p:animEffect>
                                    <p:anim calcmode="lin" valueType="num">
                                      <p:cBhvr>
                                        <p:cTn id="38" dur="500" fill="hold"/>
                                        <p:tgtEl>
                                          <p:spTgt spid="5">
                                            <p:graphicEl>
                                              <a:dgm id="{D16810EB-D270-4895-ADF4-4398623D5665}"/>
                                            </p:graphicEl>
                                          </p:spTgt>
                                        </p:tgtEl>
                                        <p:attrNameLst>
                                          <p:attrName>ppt_x</p:attrName>
                                        </p:attrNameLst>
                                      </p:cBhvr>
                                      <p:tavLst>
                                        <p:tav tm="0">
                                          <p:val>
                                            <p:strVal val="#ppt_x"/>
                                          </p:val>
                                        </p:tav>
                                        <p:tav tm="100000">
                                          <p:val>
                                            <p:strVal val="#ppt_x"/>
                                          </p:val>
                                        </p:tav>
                                      </p:tavLst>
                                    </p:anim>
                                    <p:anim calcmode="lin" valueType="num">
                                      <p:cBhvr>
                                        <p:cTn id="39" dur="500" fill="hold"/>
                                        <p:tgtEl>
                                          <p:spTgt spid="5">
                                            <p:graphicEl>
                                              <a:dgm id="{D16810EB-D270-4895-ADF4-4398623D5665}"/>
                                            </p:graphicEl>
                                          </p:spTgt>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7" presetClass="entr" presetSubtype="0" fill="hold" grpId="0" nodeType="afterEffect">
                                  <p:stCondLst>
                                    <p:cond delay="0"/>
                                  </p:stCondLst>
                                  <p:childTnLst>
                                    <p:set>
                                      <p:cBhvr>
                                        <p:cTn id="42" dur="1" fill="hold">
                                          <p:stCondLst>
                                            <p:cond delay="0"/>
                                          </p:stCondLst>
                                        </p:cTn>
                                        <p:tgtEl>
                                          <p:spTgt spid="5">
                                            <p:graphicEl>
                                              <a:dgm id="{2678C53B-8D3F-438C-9F6D-11E4DA44D67F}"/>
                                            </p:graphicEl>
                                          </p:spTgt>
                                        </p:tgtEl>
                                        <p:attrNameLst>
                                          <p:attrName>style.visibility</p:attrName>
                                        </p:attrNameLst>
                                      </p:cBhvr>
                                      <p:to>
                                        <p:strVal val="visible"/>
                                      </p:to>
                                    </p:set>
                                    <p:animEffect transition="in" filter="fade">
                                      <p:cBhvr>
                                        <p:cTn id="43" dur="500"/>
                                        <p:tgtEl>
                                          <p:spTgt spid="5">
                                            <p:graphicEl>
                                              <a:dgm id="{2678C53B-8D3F-438C-9F6D-11E4DA44D67F}"/>
                                            </p:graphicEl>
                                          </p:spTgt>
                                        </p:tgtEl>
                                      </p:cBhvr>
                                    </p:animEffect>
                                    <p:anim calcmode="lin" valueType="num">
                                      <p:cBhvr>
                                        <p:cTn id="44" dur="500" fill="hold"/>
                                        <p:tgtEl>
                                          <p:spTgt spid="5">
                                            <p:graphicEl>
                                              <a:dgm id="{2678C53B-8D3F-438C-9F6D-11E4DA44D67F}"/>
                                            </p:graphicEl>
                                          </p:spTgt>
                                        </p:tgtEl>
                                        <p:attrNameLst>
                                          <p:attrName>ppt_x</p:attrName>
                                        </p:attrNameLst>
                                      </p:cBhvr>
                                      <p:tavLst>
                                        <p:tav tm="0">
                                          <p:val>
                                            <p:strVal val="#ppt_x"/>
                                          </p:val>
                                        </p:tav>
                                        <p:tav tm="100000">
                                          <p:val>
                                            <p:strVal val="#ppt_x"/>
                                          </p:val>
                                        </p:tav>
                                      </p:tavLst>
                                    </p:anim>
                                    <p:anim calcmode="lin" valueType="num">
                                      <p:cBhvr>
                                        <p:cTn id="45" dur="500" fill="hold"/>
                                        <p:tgtEl>
                                          <p:spTgt spid="5">
                                            <p:graphicEl>
                                              <a:dgm id="{2678C53B-8D3F-438C-9F6D-11E4DA44D67F}"/>
                                            </p:graphicEl>
                                          </p:spTgt>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7" presetClass="entr" presetSubtype="0" fill="hold" grpId="0" nodeType="afterEffect">
                                  <p:stCondLst>
                                    <p:cond delay="0"/>
                                  </p:stCondLst>
                                  <p:childTnLst>
                                    <p:set>
                                      <p:cBhvr>
                                        <p:cTn id="48" dur="1" fill="hold">
                                          <p:stCondLst>
                                            <p:cond delay="0"/>
                                          </p:stCondLst>
                                        </p:cTn>
                                        <p:tgtEl>
                                          <p:spTgt spid="5">
                                            <p:graphicEl>
                                              <a:dgm id="{23741003-BD76-489E-A33A-C225C2AF1F22}"/>
                                            </p:graphicEl>
                                          </p:spTgt>
                                        </p:tgtEl>
                                        <p:attrNameLst>
                                          <p:attrName>style.visibility</p:attrName>
                                        </p:attrNameLst>
                                      </p:cBhvr>
                                      <p:to>
                                        <p:strVal val="visible"/>
                                      </p:to>
                                    </p:set>
                                    <p:animEffect transition="in" filter="fade">
                                      <p:cBhvr>
                                        <p:cTn id="49" dur="500"/>
                                        <p:tgtEl>
                                          <p:spTgt spid="5">
                                            <p:graphicEl>
                                              <a:dgm id="{23741003-BD76-489E-A33A-C225C2AF1F22}"/>
                                            </p:graphicEl>
                                          </p:spTgt>
                                        </p:tgtEl>
                                      </p:cBhvr>
                                    </p:animEffect>
                                    <p:anim calcmode="lin" valueType="num">
                                      <p:cBhvr>
                                        <p:cTn id="50" dur="500" fill="hold"/>
                                        <p:tgtEl>
                                          <p:spTgt spid="5">
                                            <p:graphicEl>
                                              <a:dgm id="{23741003-BD76-489E-A33A-C225C2AF1F22}"/>
                                            </p:graphicEl>
                                          </p:spTgt>
                                        </p:tgtEl>
                                        <p:attrNameLst>
                                          <p:attrName>ppt_x</p:attrName>
                                        </p:attrNameLst>
                                      </p:cBhvr>
                                      <p:tavLst>
                                        <p:tav tm="0">
                                          <p:val>
                                            <p:strVal val="#ppt_x"/>
                                          </p:val>
                                        </p:tav>
                                        <p:tav tm="100000">
                                          <p:val>
                                            <p:strVal val="#ppt_x"/>
                                          </p:val>
                                        </p:tav>
                                      </p:tavLst>
                                    </p:anim>
                                    <p:anim calcmode="lin" valueType="num">
                                      <p:cBhvr>
                                        <p:cTn id="51" dur="500" fill="hold"/>
                                        <p:tgtEl>
                                          <p:spTgt spid="5">
                                            <p:graphicEl>
                                              <a:dgm id="{23741003-BD76-489E-A33A-C225C2AF1F22}"/>
                                            </p:graphicEl>
                                          </p:spTgt>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7" presetClass="entr" presetSubtype="0" fill="hold" grpId="0" nodeType="afterEffect">
                                  <p:stCondLst>
                                    <p:cond delay="0"/>
                                  </p:stCondLst>
                                  <p:childTnLst>
                                    <p:set>
                                      <p:cBhvr>
                                        <p:cTn id="54" dur="1" fill="hold">
                                          <p:stCondLst>
                                            <p:cond delay="0"/>
                                          </p:stCondLst>
                                        </p:cTn>
                                        <p:tgtEl>
                                          <p:spTgt spid="5">
                                            <p:graphicEl>
                                              <a:dgm id="{A1CDFB81-86AF-4346-B223-9984EFF31DE1}"/>
                                            </p:graphicEl>
                                          </p:spTgt>
                                        </p:tgtEl>
                                        <p:attrNameLst>
                                          <p:attrName>style.visibility</p:attrName>
                                        </p:attrNameLst>
                                      </p:cBhvr>
                                      <p:to>
                                        <p:strVal val="visible"/>
                                      </p:to>
                                    </p:set>
                                    <p:animEffect transition="in" filter="fade">
                                      <p:cBhvr>
                                        <p:cTn id="55" dur="500"/>
                                        <p:tgtEl>
                                          <p:spTgt spid="5">
                                            <p:graphicEl>
                                              <a:dgm id="{A1CDFB81-86AF-4346-B223-9984EFF31DE1}"/>
                                            </p:graphicEl>
                                          </p:spTgt>
                                        </p:tgtEl>
                                      </p:cBhvr>
                                    </p:animEffect>
                                    <p:anim calcmode="lin" valueType="num">
                                      <p:cBhvr>
                                        <p:cTn id="56" dur="500" fill="hold"/>
                                        <p:tgtEl>
                                          <p:spTgt spid="5">
                                            <p:graphicEl>
                                              <a:dgm id="{A1CDFB81-86AF-4346-B223-9984EFF31DE1}"/>
                                            </p:graphicEl>
                                          </p:spTgt>
                                        </p:tgtEl>
                                        <p:attrNameLst>
                                          <p:attrName>ppt_x</p:attrName>
                                        </p:attrNameLst>
                                      </p:cBhvr>
                                      <p:tavLst>
                                        <p:tav tm="0">
                                          <p:val>
                                            <p:strVal val="#ppt_x"/>
                                          </p:val>
                                        </p:tav>
                                        <p:tav tm="100000">
                                          <p:val>
                                            <p:strVal val="#ppt_x"/>
                                          </p:val>
                                        </p:tav>
                                      </p:tavLst>
                                    </p:anim>
                                    <p:anim calcmode="lin" valueType="num">
                                      <p:cBhvr>
                                        <p:cTn id="57" dur="500" fill="hold"/>
                                        <p:tgtEl>
                                          <p:spTgt spid="5">
                                            <p:graphicEl>
                                              <a:dgm id="{A1CDFB81-86AF-4346-B223-9984EFF31DE1}"/>
                                            </p:graphicEl>
                                          </p:spTgt>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7" presetClass="entr" presetSubtype="0" fill="hold" grpId="0" nodeType="afterEffect">
                                  <p:stCondLst>
                                    <p:cond delay="0"/>
                                  </p:stCondLst>
                                  <p:childTnLst>
                                    <p:set>
                                      <p:cBhvr>
                                        <p:cTn id="60" dur="1" fill="hold">
                                          <p:stCondLst>
                                            <p:cond delay="0"/>
                                          </p:stCondLst>
                                        </p:cTn>
                                        <p:tgtEl>
                                          <p:spTgt spid="5">
                                            <p:graphicEl>
                                              <a:dgm id="{19248C12-EEAE-4CCD-A1AE-BEE5785DB5E7}"/>
                                            </p:graphicEl>
                                          </p:spTgt>
                                        </p:tgtEl>
                                        <p:attrNameLst>
                                          <p:attrName>style.visibility</p:attrName>
                                        </p:attrNameLst>
                                      </p:cBhvr>
                                      <p:to>
                                        <p:strVal val="visible"/>
                                      </p:to>
                                    </p:set>
                                    <p:animEffect transition="in" filter="fade">
                                      <p:cBhvr>
                                        <p:cTn id="61" dur="500"/>
                                        <p:tgtEl>
                                          <p:spTgt spid="5">
                                            <p:graphicEl>
                                              <a:dgm id="{19248C12-EEAE-4CCD-A1AE-BEE5785DB5E7}"/>
                                            </p:graphicEl>
                                          </p:spTgt>
                                        </p:tgtEl>
                                      </p:cBhvr>
                                    </p:animEffect>
                                    <p:anim calcmode="lin" valueType="num">
                                      <p:cBhvr>
                                        <p:cTn id="62" dur="500" fill="hold"/>
                                        <p:tgtEl>
                                          <p:spTgt spid="5">
                                            <p:graphicEl>
                                              <a:dgm id="{19248C12-EEAE-4CCD-A1AE-BEE5785DB5E7}"/>
                                            </p:graphicEl>
                                          </p:spTgt>
                                        </p:tgtEl>
                                        <p:attrNameLst>
                                          <p:attrName>ppt_x</p:attrName>
                                        </p:attrNameLst>
                                      </p:cBhvr>
                                      <p:tavLst>
                                        <p:tav tm="0">
                                          <p:val>
                                            <p:strVal val="#ppt_x"/>
                                          </p:val>
                                        </p:tav>
                                        <p:tav tm="100000">
                                          <p:val>
                                            <p:strVal val="#ppt_x"/>
                                          </p:val>
                                        </p:tav>
                                      </p:tavLst>
                                    </p:anim>
                                    <p:anim calcmode="lin" valueType="num">
                                      <p:cBhvr>
                                        <p:cTn id="63" dur="500" fill="hold"/>
                                        <p:tgtEl>
                                          <p:spTgt spid="5">
                                            <p:graphicEl>
                                              <a:dgm id="{19248C12-EEAE-4CCD-A1AE-BEE5785DB5E7}"/>
                                            </p:graphicEl>
                                          </p:spTgt>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7" presetClass="entr" presetSubtype="0" fill="hold" grpId="0" nodeType="afterEffect">
                                  <p:stCondLst>
                                    <p:cond delay="0"/>
                                  </p:stCondLst>
                                  <p:childTnLst>
                                    <p:set>
                                      <p:cBhvr>
                                        <p:cTn id="66" dur="1" fill="hold">
                                          <p:stCondLst>
                                            <p:cond delay="0"/>
                                          </p:stCondLst>
                                        </p:cTn>
                                        <p:tgtEl>
                                          <p:spTgt spid="5">
                                            <p:graphicEl>
                                              <a:dgm id="{45AEC138-45CF-4512-BF97-1B7CD61CFB04}"/>
                                            </p:graphicEl>
                                          </p:spTgt>
                                        </p:tgtEl>
                                        <p:attrNameLst>
                                          <p:attrName>style.visibility</p:attrName>
                                        </p:attrNameLst>
                                      </p:cBhvr>
                                      <p:to>
                                        <p:strVal val="visible"/>
                                      </p:to>
                                    </p:set>
                                    <p:animEffect transition="in" filter="fade">
                                      <p:cBhvr>
                                        <p:cTn id="67" dur="500"/>
                                        <p:tgtEl>
                                          <p:spTgt spid="5">
                                            <p:graphicEl>
                                              <a:dgm id="{45AEC138-45CF-4512-BF97-1B7CD61CFB04}"/>
                                            </p:graphicEl>
                                          </p:spTgt>
                                        </p:tgtEl>
                                      </p:cBhvr>
                                    </p:animEffect>
                                    <p:anim calcmode="lin" valueType="num">
                                      <p:cBhvr>
                                        <p:cTn id="68" dur="500" fill="hold"/>
                                        <p:tgtEl>
                                          <p:spTgt spid="5">
                                            <p:graphicEl>
                                              <a:dgm id="{45AEC138-45CF-4512-BF97-1B7CD61CFB04}"/>
                                            </p:graphicEl>
                                          </p:spTgt>
                                        </p:tgtEl>
                                        <p:attrNameLst>
                                          <p:attrName>ppt_x</p:attrName>
                                        </p:attrNameLst>
                                      </p:cBhvr>
                                      <p:tavLst>
                                        <p:tav tm="0">
                                          <p:val>
                                            <p:strVal val="#ppt_x"/>
                                          </p:val>
                                        </p:tav>
                                        <p:tav tm="100000">
                                          <p:val>
                                            <p:strVal val="#ppt_x"/>
                                          </p:val>
                                        </p:tav>
                                      </p:tavLst>
                                    </p:anim>
                                    <p:anim calcmode="lin" valueType="num">
                                      <p:cBhvr>
                                        <p:cTn id="69" dur="500" fill="hold"/>
                                        <p:tgtEl>
                                          <p:spTgt spid="5">
                                            <p:graphicEl>
                                              <a:dgm id="{45AEC138-45CF-4512-BF97-1B7CD61CFB04}"/>
                                            </p:graphicEl>
                                          </p:spTgt>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7" presetClass="entr" presetSubtype="0" fill="hold" grpId="0" nodeType="afterEffect">
                                  <p:stCondLst>
                                    <p:cond delay="0"/>
                                  </p:stCondLst>
                                  <p:childTnLst>
                                    <p:set>
                                      <p:cBhvr>
                                        <p:cTn id="72" dur="1" fill="hold">
                                          <p:stCondLst>
                                            <p:cond delay="0"/>
                                          </p:stCondLst>
                                        </p:cTn>
                                        <p:tgtEl>
                                          <p:spTgt spid="5">
                                            <p:graphicEl>
                                              <a:dgm id="{0A5FBA5A-BA07-4074-81CA-C97F847653C2}"/>
                                            </p:graphicEl>
                                          </p:spTgt>
                                        </p:tgtEl>
                                        <p:attrNameLst>
                                          <p:attrName>style.visibility</p:attrName>
                                        </p:attrNameLst>
                                      </p:cBhvr>
                                      <p:to>
                                        <p:strVal val="visible"/>
                                      </p:to>
                                    </p:set>
                                    <p:animEffect transition="in" filter="fade">
                                      <p:cBhvr>
                                        <p:cTn id="73" dur="500"/>
                                        <p:tgtEl>
                                          <p:spTgt spid="5">
                                            <p:graphicEl>
                                              <a:dgm id="{0A5FBA5A-BA07-4074-81CA-C97F847653C2}"/>
                                            </p:graphicEl>
                                          </p:spTgt>
                                        </p:tgtEl>
                                      </p:cBhvr>
                                    </p:animEffect>
                                    <p:anim calcmode="lin" valueType="num">
                                      <p:cBhvr>
                                        <p:cTn id="74" dur="500" fill="hold"/>
                                        <p:tgtEl>
                                          <p:spTgt spid="5">
                                            <p:graphicEl>
                                              <a:dgm id="{0A5FBA5A-BA07-4074-81CA-C97F847653C2}"/>
                                            </p:graphicEl>
                                          </p:spTgt>
                                        </p:tgtEl>
                                        <p:attrNameLst>
                                          <p:attrName>ppt_x</p:attrName>
                                        </p:attrNameLst>
                                      </p:cBhvr>
                                      <p:tavLst>
                                        <p:tav tm="0">
                                          <p:val>
                                            <p:strVal val="#ppt_x"/>
                                          </p:val>
                                        </p:tav>
                                        <p:tav tm="100000">
                                          <p:val>
                                            <p:strVal val="#ppt_x"/>
                                          </p:val>
                                        </p:tav>
                                      </p:tavLst>
                                    </p:anim>
                                    <p:anim calcmode="lin" valueType="num">
                                      <p:cBhvr>
                                        <p:cTn id="75" dur="500" fill="hold"/>
                                        <p:tgtEl>
                                          <p:spTgt spid="5">
                                            <p:graphicEl>
                                              <a:dgm id="{0A5FBA5A-BA07-4074-81CA-C97F847653C2}"/>
                                            </p:graphicEl>
                                          </p:spTgt>
                                        </p:tgtEl>
                                        <p:attrNameLst>
                                          <p:attrName>ppt_y</p:attrName>
                                        </p:attrNameLst>
                                      </p:cBhvr>
                                      <p:tavLst>
                                        <p:tav tm="0">
                                          <p:val>
                                            <p:strVal val="#ppt_y-.1"/>
                                          </p:val>
                                        </p:tav>
                                        <p:tav tm="100000">
                                          <p:val>
                                            <p:strVal val="#ppt_y"/>
                                          </p:val>
                                        </p:tav>
                                      </p:tavLst>
                                    </p:anim>
                                  </p:childTnLst>
                                </p:cTn>
                              </p:par>
                            </p:childTnLst>
                          </p:cTn>
                        </p:par>
                        <p:par>
                          <p:cTn id="76" fill="hold">
                            <p:stCondLst>
                              <p:cond delay="6000"/>
                            </p:stCondLst>
                            <p:childTnLst>
                              <p:par>
                                <p:cTn id="77" presetID="47" presetClass="entr" presetSubtype="0" fill="hold" grpId="0" nodeType="afterEffect">
                                  <p:stCondLst>
                                    <p:cond delay="0"/>
                                  </p:stCondLst>
                                  <p:childTnLst>
                                    <p:set>
                                      <p:cBhvr>
                                        <p:cTn id="78" dur="1" fill="hold">
                                          <p:stCondLst>
                                            <p:cond delay="0"/>
                                          </p:stCondLst>
                                        </p:cTn>
                                        <p:tgtEl>
                                          <p:spTgt spid="5">
                                            <p:graphicEl>
                                              <a:dgm id="{448D1995-BBC4-471A-B972-BB026A9F50F6}"/>
                                            </p:graphicEl>
                                          </p:spTgt>
                                        </p:tgtEl>
                                        <p:attrNameLst>
                                          <p:attrName>style.visibility</p:attrName>
                                        </p:attrNameLst>
                                      </p:cBhvr>
                                      <p:to>
                                        <p:strVal val="visible"/>
                                      </p:to>
                                    </p:set>
                                    <p:animEffect transition="in" filter="fade">
                                      <p:cBhvr>
                                        <p:cTn id="79" dur="500"/>
                                        <p:tgtEl>
                                          <p:spTgt spid="5">
                                            <p:graphicEl>
                                              <a:dgm id="{448D1995-BBC4-471A-B972-BB026A9F50F6}"/>
                                            </p:graphicEl>
                                          </p:spTgt>
                                        </p:tgtEl>
                                      </p:cBhvr>
                                    </p:animEffect>
                                    <p:anim calcmode="lin" valueType="num">
                                      <p:cBhvr>
                                        <p:cTn id="80" dur="500" fill="hold"/>
                                        <p:tgtEl>
                                          <p:spTgt spid="5">
                                            <p:graphicEl>
                                              <a:dgm id="{448D1995-BBC4-471A-B972-BB026A9F50F6}"/>
                                            </p:graphicEl>
                                          </p:spTgt>
                                        </p:tgtEl>
                                        <p:attrNameLst>
                                          <p:attrName>ppt_x</p:attrName>
                                        </p:attrNameLst>
                                      </p:cBhvr>
                                      <p:tavLst>
                                        <p:tav tm="0">
                                          <p:val>
                                            <p:strVal val="#ppt_x"/>
                                          </p:val>
                                        </p:tav>
                                        <p:tav tm="100000">
                                          <p:val>
                                            <p:strVal val="#ppt_x"/>
                                          </p:val>
                                        </p:tav>
                                      </p:tavLst>
                                    </p:anim>
                                    <p:anim calcmode="lin" valueType="num">
                                      <p:cBhvr>
                                        <p:cTn id="81" dur="500" fill="hold"/>
                                        <p:tgtEl>
                                          <p:spTgt spid="5">
                                            <p:graphicEl>
                                              <a:dgm id="{448D1995-BBC4-471A-B972-BB026A9F50F6}"/>
                                            </p:graphicEl>
                                          </p:spTgt>
                                        </p:tgtEl>
                                        <p:attrNameLst>
                                          <p:attrName>ppt_y</p:attrName>
                                        </p:attrNameLst>
                                      </p:cBhvr>
                                      <p:tavLst>
                                        <p:tav tm="0">
                                          <p:val>
                                            <p:strVal val="#ppt_y-.1"/>
                                          </p:val>
                                        </p:tav>
                                        <p:tav tm="100000">
                                          <p:val>
                                            <p:strVal val="#ppt_y"/>
                                          </p:val>
                                        </p:tav>
                                      </p:tavLst>
                                    </p:anim>
                                  </p:childTnLst>
                                </p:cTn>
                              </p:par>
                            </p:childTnLst>
                          </p:cTn>
                        </p:par>
                        <p:par>
                          <p:cTn id="82" fill="hold">
                            <p:stCondLst>
                              <p:cond delay="6500"/>
                            </p:stCondLst>
                            <p:childTnLst>
                              <p:par>
                                <p:cTn id="83" presetID="47" presetClass="entr" presetSubtype="0" fill="hold" grpId="0" nodeType="afterEffect">
                                  <p:stCondLst>
                                    <p:cond delay="0"/>
                                  </p:stCondLst>
                                  <p:childTnLst>
                                    <p:set>
                                      <p:cBhvr>
                                        <p:cTn id="84" dur="1" fill="hold">
                                          <p:stCondLst>
                                            <p:cond delay="0"/>
                                          </p:stCondLst>
                                        </p:cTn>
                                        <p:tgtEl>
                                          <p:spTgt spid="5">
                                            <p:graphicEl>
                                              <a:dgm id="{BC41E99C-32F0-4459-8579-C6C66C5F2FE9}"/>
                                            </p:graphicEl>
                                          </p:spTgt>
                                        </p:tgtEl>
                                        <p:attrNameLst>
                                          <p:attrName>style.visibility</p:attrName>
                                        </p:attrNameLst>
                                      </p:cBhvr>
                                      <p:to>
                                        <p:strVal val="visible"/>
                                      </p:to>
                                    </p:set>
                                    <p:animEffect transition="in" filter="fade">
                                      <p:cBhvr>
                                        <p:cTn id="85" dur="500"/>
                                        <p:tgtEl>
                                          <p:spTgt spid="5">
                                            <p:graphicEl>
                                              <a:dgm id="{BC41E99C-32F0-4459-8579-C6C66C5F2FE9}"/>
                                            </p:graphicEl>
                                          </p:spTgt>
                                        </p:tgtEl>
                                      </p:cBhvr>
                                    </p:animEffect>
                                    <p:anim calcmode="lin" valueType="num">
                                      <p:cBhvr>
                                        <p:cTn id="86" dur="500" fill="hold"/>
                                        <p:tgtEl>
                                          <p:spTgt spid="5">
                                            <p:graphicEl>
                                              <a:dgm id="{BC41E99C-32F0-4459-8579-C6C66C5F2FE9}"/>
                                            </p:graphicEl>
                                          </p:spTgt>
                                        </p:tgtEl>
                                        <p:attrNameLst>
                                          <p:attrName>ppt_x</p:attrName>
                                        </p:attrNameLst>
                                      </p:cBhvr>
                                      <p:tavLst>
                                        <p:tav tm="0">
                                          <p:val>
                                            <p:strVal val="#ppt_x"/>
                                          </p:val>
                                        </p:tav>
                                        <p:tav tm="100000">
                                          <p:val>
                                            <p:strVal val="#ppt_x"/>
                                          </p:val>
                                        </p:tav>
                                      </p:tavLst>
                                    </p:anim>
                                    <p:anim calcmode="lin" valueType="num">
                                      <p:cBhvr>
                                        <p:cTn id="87" dur="500" fill="hold"/>
                                        <p:tgtEl>
                                          <p:spTgt spid="5">
                                            <p:graphicEl>
                                              <a:dgm id="{BC41E99C-32F0-4459-8579-C6C66C5F2FE9}"/>
                                            </p:graphicEl>
                                          </p:spTgt>
                                        </p:tgtEl>
                                        <p:attrNameLst>
                                          <p:attrName>ppt_y</p:attrName>
                                        </p:attrNameLst>
                                      </p:cBhvr>
                                      <p:tavLst>
                                        <p:tav tm="0">
                                          <p:val>
                                            <p:strVal val="#ppt_y-.1"/>
                                          </p:val>
                                        </p:tav>
                                        <p:tav tm="100000">
                                          <p:val>
                                            <p:strVal val="#ppt_y"/>
                                          </p:val>
                                        </p:tav>
                                      </p:tavLst>
                                    </p:anim>
                                  </p:childTnLst>
                                </p:cTn>
                              </p:par>
                            </p:childTnLst>
                          </p:cTn>
                        </p:par>
                        <p:par>
                          <p:cTn id="88" fill="hold">
                            <p:stCondLst>
                              <p:cond delay="7000"/>
                            </p:stCondLst>
                            <p:childTnLst>
                              <p:par>
                                <p:cTn id="89" presetID="47" presetClass="entr" presetSubtype="0" fill="hold" grpId="0" nodeType="afterEffect">
                                  <p:stCondLst>
                                    <p:cond delay="0"/>
                                  </p:stCondLst>
                                  <p:childTnLst>
                                    <p:set>
                                      <p:cBhvr>
                                        <p:cTn id="90" dur="1" fill="hold">
                                          <p:stCondLst>
                                            <p:cond delay="0"/>
                                          </p:stCondLst>
                                        </p:cTn>
                                        <p:tgtEl>
                                          <p:spTgt spid="5">
                                            <p:graphicEl>
                                              <a:dgm id="{A8C68029-1D2D-4210-90EC-5A6F1573FC93}"/>
                                            </p:graphicEl>
                                          </p:spTgt>
                                        </p:tgtEl>
                                        <p:attrNameLst>
                                          <p:attrName>style.visibility</p:attrName>
                                        </p:attrNameLst>
                                      </p:cBhvr>
                                      <p:to>
                                        <p:strVal val="visible"/>
                                      </p:to>
                                    </p:set>
                                    <p:animEffect transition="in" filter="fade">
                                      <p:cBhvr>
                                        <p:cTn id="91" dur="500"/>
                                        <p:tgtEl>
                                          <p:spTgt spid="5">
                                            <p:graphicEl>
                                              <a:dgm id="{A8C68029-1D2D-4210-90EC-5A6F1573FC93}"/>
                                            </p:graphicEl>
                                          </p:spTgt>
                                        </p:tgtEl>
                                      </p:cBhvr>
                                    </p:animEffect>
                                    <p:anim calcmode="lin" valueType="num">
                                      <p:cBhvr>
                                        <p:cTn id="92" dur="500" fill="hold"/>
                                        <p:tgtEl>
                                          <p:spTgt spid="5">
                                            <p:graphicEl>
                                              <a:dgm id="{A8C68029-1D2D-4210-90EC-5A6F1573FC93}"/>
                                            </p:graphicEl>
                                          </p:spTgt>
                                        </p:tgtEl>
                                        <p:attrNameLst>
                                          <p:attrName>ppt_x</p:attrName>
                                        </p:attrNameLst>
                                      </p:cBhvr>
                                      <p:tavLst>
                                        <p:tav tm="0">
                                          <p:val>
                                            <p:strVal val="#ppt_x"/>
                                          </p:val>
                                        </p:tav>
                                        <p:tav tm="100000">
                                          <p:val>
                                            <p:strVal val="#ppt_x"/>
                                          </p:val>
                                        </p:tav>
                                      </p:tavLst>
                                    </p:anim>
                                    <p:anim calcmode="lin" valueType="num">
                                      <p:cBhvr>
                                        <p:cTn id="93" dur="500" fill="hold"/>
                                        <p:tgtEl>
                                          <p:spTgt spid="5">
                                            <p:graphicEl>
                                              <a:dgm id="{A8C68029-1D2D-4210-90EC-5A6F1573FC93}"/>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2EE5B0-B378-B8E7-F47E-AC84C6DF8D2C}"/>
              </a:ext>
            </a:extLst>
          </p:cNvPr>
          <p:cNvSpPr>
            <a:spLocks noGrp="1"/>
          </p:cNvSpPr>
          <p:nvPr>
            <p:ph type="title"/>
          </p:nvPr>
        </p:nvSpPr>
        <p:spPr>
          <a:xfrm>
            <a:off x="1154111" y="171147"/>
            <a:ext cx="4340222" cy="1478570"/>
          </a:xfrm>
        </p:spPr>
        <p:txBody>
          <a:bodyPr>
            <a:normAutofit/>
          </a:bodyPr>
          <a:lstStyle/>
          <a:p>
            <a:r>
              <a:rPr lang="de-DE" sz="3200" dirty="0"/>
              <a:t>Zeitalter der Daten</a:t>
            </a:r>
          </a:p>
        </p:txBody>
      </p:sp>
      <p:sp>
        <p:nvSpPr>
          <p:cNvPr id="8" name="Content Placeholder 7">
            <a:extLst>
              <a:ext uri="{FF2B5EF4-FFF2-40B4-BE49-F238E27FC236}">
                <a16:creationId xmlns:a16="http://schemas.microsoft.com/office/drawing/2014/main" id="{DCEC5232-AE64-DCA4-57CA-A2B6B651725A}"/>
              </a:ext>
            </a:extLst>
          </p:cNvPr>
          <p:cNvSpPr>
            <a:spLocks noGrp="1"/>
          </p:cNvSpPr>
          <p:nvPr>
            <p:ph idx="1"/>
          </p:nvPr>
        </p:nvSpPr>
        <p:spPr>
          <a:xfrm>
            <a:off x="1149347" y="1446107"/>
            <a:ext cx="3168652" cy="3965046"/>
          </a:xfrm>
        </p:spPr>
        <p:txBody>
          <a:bodyPr>
            <a:normAutofit/>
          </a:bodyPr>
          <a:lstStyle/>
          <a:p>
            <a:pPr marL="0" indent="0">
              <a:lnSpc>
                <a:spcPct val="110000"/>
              </a:lnSpc>
              <a:buNone/>
            </a:pPr>
            <a:r>
              <a:rPr lang="en-US" sz="1600" dirty="0"/>
              <a:t>1990</a:t>
            </a:r>
          </a:p>
          <a:p>
            <a:pPr>
              <a:lnSpc>
                <a:spcPct val="110000"/>
              </a:lnSpc>
            </a:pPr>
            <a:r>
              <a:rPr lang="en-US" sz="1600" dirty="0" err="1"/>
              <a:t>Strukturierte</a:t>
            </a:r>
            <a:r>
              <a:rPr lang="en-US" sz="1600" dirty="0"/>
              <a:t> </a:t>
            </a:r>
            <a:r>
              <a:rPr lang="en-US" sz="1600" dirty="0" err="1"/>
              <a:t>Daten</a:t>
            </a:r>
            <a:endParaRPr lang="en-US" sz="1600" dirty="0"/>
          </a:p>
          <a:p>
            <a:pPr>
              <a:lnSpc>
                <a:spcPct val="110000"/>
              </a:lnSpc>
            </a:pPr>
            <a:r>
              <a:rPr lang="en-US" sz="1600" dirty="0"/>
              <a:t>Semi </a:t>
            </a:r>
            <a:r>
              <a:rPr lang="en-US" sz="1600" dirty="0" err="1"/>
              <a:t>Strukturierte</a:t>
            </a:r>
            <a:r>
              <a:rPr lang="en-US" sz="1600" dirty="0"/>
              <a:t> </a:t>
            </a:r>
            <a:r>
              <a:rPr lang="en-US" sz="1600" dirty="0" err="1"/>
              <a:t>Daten</a:t>
            </a:r>
            <a:endParaRPr lang="en-US" sz="1600" dirty="0"/>
          </a:p>
          <a:p>
            <a:pPr>
              <a:lnSpc>
                <a:spcPct val="110000"/>
              </a:lnSpc>
            </a:pPr>
            <a:r>
              <a:rPr lang="en-US" sz="1600" dirty="0" err="1"/>
              <a:t>Lokale</a:t>
            </a:r>
            <a:r>
              <a:rPr lang="en-US" sz="1600" dirty="0"/>
              <a:t> </a:t>
            </a:r>
            <a:r>
              <a:rPr lang="en-US" sz="1600" dirty="0" err="1"/>
              <a:t>Verarbeitung</a:t>
            </a:r>
            <a:endParaRPr lang="en-US" sz="1600" dirty="0"/>
          </a:p>
          <a:p>
            <a:pPr marL="0" indent="0">
              <a:lnSpc>
                <a:spcPct val="110000"/>
              </a:lnSpc>
              <a:buNone/>
            </a:pPr>
            <a:r>
              <a:rPr lang="en-US" sz="1600" dirty="0"/>
              <a:t>2005</a:t>
            </a:r>
          </a:p>
          <a:p>
            <a:pPr>
              <a:lnSpc>
                <a:spcPct val="110000"/>
              </a:lnSpc>
            </a:pPr>
            <a:r>
              <a:rPr lang="en-US" sz="1600" dirty="0"/>
              <a:t>Internet</a:t>
            </a:r>
          </a:p>
          <a:p>
            <a:pPr>
              <a:lnSpc>
                <a:spcPct val="110000"/>
              </a:lnSpc>
            </a:pPr>
            <a:r>
              <a:rPr lang="en-US" sz="1600" dirty="0" err="1"/>
              <a:t>Hohe</a:t>
            </a:r>
            <a:r>
              <a:rPr lang="en-US" sz="1600" dirty="0"/>
              <a:t> </a:t>
            </a:r>
            <a:r>
              <a:rPr lang="en-US" sz="1600" dirty="0" err="1"/>
              <a:t>Datenreplikation</a:t>
            </a:r>
            <a:endParaRPr lang="en-US" sz="1600" dirty="0"/>
          </a:p>
          <a:p>
            <a:pPr>
              <a:lnSpc>
                <a:spcPct val="110000"/>
              </a:lnSpc>
            </a:pPr>
            <a:r>
              <a:rPr lang="en-US" sz="1600" dirty="0" err="1"/>
              <a:t>Verteilte</a:t>
            </a:r>
            <a:r>
              <a:rPr lang="en-US" sz="1600" dirty="0"/>
              <a:t> </a:t>
            </a:r>
            <a:r>
              <a:rPr lang="en-US" sz="1600" dirty="0" err="1"/>
              <a:t>Daten</a:t>
            </a:r>
            <a:endParaRPr lang="en-US" sz="1600" dirty="0"/>
          </a:p>
          <a:p>
            <a:pPr marL="0" indent="0">
              <a:lnSpc>
                <a:spcPct val="110000"/>
              </a:lnSpc>
              <a:buNone/>
            </a:pPr>
            <a:r>
              <a:rPr lang="en-US" sz="1600" dirty="0"/>
              <a:t>Heute</a:t>
            </a:r>
          </a:p>
          <a:p>
            <a:pPr>
              <a:lnSpc>
                <a:spcPct val="110000"/>
              </a:lnSpc>
            </a:pPr>
            <a:r>
              <a:rPr lang="en-US" sz="1600" dirty="0"/>
              <a:t>Big Data</a:t>
            </a:r>
          </a:p>
        </p:txBody>
      </p:sp>
      <p:pic>
        <p:nvPicPr>
          <p:cNvPr id="146" name="Grafik 145" descr="Ein Bild, das Kreis, Raum enthält.&#10;&#10;Automatisch generierte Beschreibung">
            <a:extLst>
              <a:ext uri="{FF2B5EF4-FFF2-40B4-BE49-F238E27FC236}">
                <a16:creationId xmlns:a16="http://schemas.microsoft.com/office/drawing/2014/main" id="{3802E0E2-005C-1F47-9CCC-E4D62D36EB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6362" y="-1"/>
            <a:ext cx="6858000" cy="6858001"/>
          </a:xfrm>
          <a:prstGeom prst="rect">
            <a:avLst/>
          </a:prstGeom>
        </p:spPr>
      </p:pic>
      <p:sp>
        <p:nvSpPr>
          <p:cNvPr id="148" name="Fußzeilenplatzhalter 147">
            <a:extLst>
              <a:ext uri="{FF2B5EF4-FFF2-40B4-BE49-F238E27FC236}">
                <a16:creationId xmlns:a16="http://schemas.microsoft.com/office/drawing/2014/main" id="{FC4A20C7-4733-D85D-3FF7-FC4FAB0CEFB8}"/>
              </a:ext>
            </a:extLst>
          </p:cNvPr>
          <p:cNvSpPr>
            <a:spLocks noGrp="1"/>
          </p:cNvSpPr>
          <p:nvPr>
            <p:ph type="ftr" sz="quarter" idx="11"/>
          </p:nvPr>
        </p:nvSpPr>
        <p:spPr/>
        <p:txBody>
          <a:bodyPr/>
          <a:lstStyle/>
          <a:p>
            <a:r>
              <a:rPr lang="en-US" spc="200"/>
              <a:t>Tobias Walter</a:t>
            </a:r>
            <a:endParaRPr lang="en-US" spc="200" dirty="0"/>
          </a:p>
        </p:txBody>
      </p:sp>
      <p:sp>
        <p:nvSpPr>
          <p:cNvPr id="149" name="Foliennummernplatzhalter 148">
            <a:extLst>
              <a:ext uri="{FF2B5EF4-FFF2-40B4-BE49-F238E27FC236}">
                <a16:creationId xmlns:a16="http://schemas.microsoft.com/office/drawing/2014/main" id="{AAE01D5B-B1BB-5221-2836-3021765B3D92}"/>
              </a:ext>
            </a:extLst>
          </p:cNvPr>
          <p:cNvSpPr>
            <a:spLocks noGrp="1"/>
          </p:cNvSpPr>
          <p:nvPr>
            <p:ph type="sldNum" sz="quarter" idx="12"/>
          </p:nvPr>
        </p:nvSpPr>
        <p:spPr/>
        <p:txBody>
          <a:bodyPr/>
          <a:lstStyle/>
          <a:p>
            <a:fld id="{0D309695-DEC3-40DA-9DF5-330280C9D0E8}" type="slidenum">
              <a:rPr lang="en-US" smtClean="0"/>
              <a:pPr/>
              <a:t>3</a:t>
            </a:fld>
            <a:endParaRPr lang="en-US" dirty="0"/>
          </a:p>
        </p:txBody>
      </p:sp>
    </p:spTree>
    <p:extLst>
      <p:ext uri="{BB962C8B-B14F-4D97-AF65-F5344CB8AC3E}">
        <p14:creationId xmlns:p14="http://schemas.microsoft.com/office/powerpoint/2010/main" val="1589726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FC0CE1-31A8-66D1-F3C0-049396716182}"/>
              </a:ext>
            </a:extLst>
          </p:cNvPr>
          <p:cNvSpPr>
            <a:spLocks noGrp="1"/>
          </p:cNvSpPr>
          <p:nvPr>
            <p:ph type="title"/>
          </p:nvPr>
        </p:nvSpPr>
        <p:spPr/>
        <p:txBody>
          <a:bodyPr/>
          <a:lstStyle/>
          <a:p>
            <a:r>
              <a:rPr lang="de-DE" dirty="0"/>
              <a:t>Herausforderungen mit Big Data</a:t>
            </a:r>
          </a:p>
        </p:txBody>
      </p:sp>
      <p:graphicFrame>
        <p:nvGraphicFramePr>
          <p:cNvPr id="11" name="Inhaltsplatzhalter 2">
            <a:extLst>
              <a:ext uri="{FF2B5EF4-FFF2-40B4-BE49-F238E27FC236}">
                <a16:creationId xmlns:a16="http://schemas.microsoft.com/office/drawing/2014/main" id="{6D5A002F-361D-8C87-3A67-2C88FB9532C4}"/>
              </a:ext>
            </a:extLst>
          </p:cNvPr>
          <p:cNvGraphicFramePr>
            <a:graphicFrameLocks noGrp="1"/>
          </p:cNvGraphicFramePr>
          <p:nvPr>
            <p:ph idx="1"/>
            <p:extLst>
              <p:ext uri="{D42A27DB-BD31-4B8C-83A1-F6EECF244321}">
                <p14:modId xmlns:p14="http://schemas.microsoft.com/office/powerpoint/2010/main" val="2418791142"/>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ußzeilenplatzhalter 5">
            <a:extLst>
              <a:ext uri="{FF2B5EF4-FFF2-40B4-BE49-F238E27FC236}">
                <a16:creationId xmlns:a16="http://schemas.microsoft.com/office/drawing/2014/main" id="{0F0EDCFE-25BD-6930-14C5-03212578F549}"/>
              </a:ext>
            </a:extLst>
          </p:cNvPr>
          <p:cNvSpPr>
            <a:spLocks noGrp="1"/>
          </p:cNvSpPr>
          <p:nvPr>
            <p:ph type="ftr" sz="quarter" idx="11"/>
          </p:nvPr>
        </p:nvSpPr>
        <p:spPr/>
        <p:txBody>
          <a:bodyPr/>
          <a:lstStyle/>
          <a:p>
            <a:r>
              <a:rPr lang="en-US" spc="200"/>
              <a:t>Tobias Walter</a:t>
            </a:r>
            <a:endParaRPr lang="en-US" spc="200" dirty="0"/>
          </a:p>
        </p:txBody>
      </p:sp>
      <p:sp>
        <p:nvSpPr>
          <p:cNvPr id="7" name="Foliennummernplatzhalter 6">
            <a:extLst>
              <a:ext uri="{FF2B5EF4-FFF2-40B4-BE49-F238E27FC236}">
                <a16:creationId xmlns:a16="http://schemas.microsoft.com/office/drawing/2014/main" id="{6E689924-5FA3-51FE-7CBA-30AEA8BF7F31}"/>
              </a:ext>
            </a:extLst>
          </p:cNvPr>
          <p:cNvSpPr>
            <a:spLocks noGrp="1"/>
          </p:cNvSpPr>
          <p:nvPr>
            <p:ph type="sldNum" sz="quarter" idx="12"/>
          </p:nvPr>
        </p:nvSpPr>
        <p:spPr/>
        <p:txBody>
          <a:bodyPr/>
          <a:lstStyle/>
          <a:p>
            <a:fld id="{0D309695-DEC3-40DA-9DF5-330280C9D0E8}" type="slidenum">
              <a:rPr lang="en-US" smtClean="0"/>
              <a:pPr/>
              <a:t>4</a:t>
            </a:fld>
            <a:endParaRPr lang="en-US" dirty="0"/>
          </a:p>
        </p:txBody>
      </p:sp>
    </p:spTree>
    <p:extLst>
      <p:ext uri="{BB962C8B-B14F-4D97-AF65-F5344CB8AC3E}">
        <p14:creationId xmlns:p14="http://schemas.microsoft.com/office/powerpoint/2010/main" val="186368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graphicEl>
                                              <a:dgm id="{4259B11C-0DC4-4048-9802-4C747DC98CA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graphicEl>
                                              <a:dgm id="{4D3E86EB-B179-431C-BB36-1DF934C94A0C}"/>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graphicEl>
                                              <a:dgm id="{42F5EDA8-870A-44E0-A274-9D0D82DF68B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graphicEl>
                                              <a:dgm id="{A37771EF-E8B7-471D-A6C8-77A6BF9D687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graphicEl>
                                              <a:dgm id="{13A4A04A-A253-4D31-AFEE-3D448569A864}"/>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graphicEl>
                                              <a:dgm id="{D0E3740E-5F94-4EA0-9834-2D1171C670C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46"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47"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8"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9"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0"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1"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2"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3"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4"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5"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6"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7"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58"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9"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0"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1"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2"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63"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4"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5"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6"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7"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8"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9"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0"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1"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2"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sp>
        <p:nvSpPr>
          <p:cNvPr id="2" name="Titel 1">
            <a:extLst>
              <a:ext uri="{FF2B5EF4-FFF2-40B4-BE49-F238E27FC236}">
                <a16:creationId xmlns:a16="http://schemas.microsoft.com/office/drawing/2014/main" id="{A15C99C0-61DA-6555-60D1-604F54E2CFA2}"/>
              </a:ext>
            </a:extLst>
          </p:cNvPr>
          <p:cNvSpPr>
            <a:spLocks noGrp="1"/>
          </p:cNvSpPr>
          <p:nvPr>
            <p:ph type="title"/>
          </p:nvPr>
        </p:nvSpPr>
        <p:spPr>
          <a:xfrm>
            <a:off x="1141413" y="1082673"/>
            <a:ext cx="2869416" cy="4708528"/>
          </a:xfrm>
        </p:spPr>
        <p:txBody>
          <a:bodyPr>
            <a:normAutofit/>
          </a:bodyPr>
          <a:lstStyle/>
          <a:p>
            <a:pPr algn="r"/>
            <a:r>
              <a:rPr lang="de-DE" sz="4000"/>
              <a:t>Hadoop</a:t>
            </a:r>
          </a:p>
        </p:txBody>
      </p:sp>
      <p:cxnSp>
        <p:nvCxnSpPr>
          <p:cNvPr id="74" name="Straight Connector 73">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8" name="Inhaltsplatzhalter 2">
            <a:extLst>
              <a:ext uri="{FF2B5EF4-FFF2-40B4-BE49-F238E27FC236}">
                <a16:creationId xmlns:a16="http://schemas.microsoft.com/office/drawing/2014/main" id="{E6A31165-CEAA-ECF3-AFF8-5654C06A4E5F}"/>
              </a:ext>
            </a:extLst>
          </p:cNvPr>
          <p:cNvSpPr>
            <a:spLocks noGrp="1"/>
          </p:cNvSpPr>
          <p:nvPr>
            <p:ph idx="1"/>
          </p:nvPr>
        </p:nvSpPr>
        <p:spPr>
          <a:xfrm>
            <a:off x="5297763" y="1082673"/>
            <a:ext cx="5751237" cy="4708528"/>
          </a:xfrm>
        </p:spPr>
        <p:txBody>
          <a:bodyPr anchor="ctr">
            <a:normAutofit/>
          </a:bodyPr>
          <a:lstStyle/>
          <a:p>
            <a:pPr>
              <a:buFont typeface="Arial" panose="020B0604020202020204" pitchFamily="34" charset="0"/>
              <a:buChar char="•"/>
            </a:pPr>
            <a:r>
              <a:rPr lang="de-DE" sz="1800" b="0" i="0" dirty="0">
                <a:effectLst/>
                <a:latin typeface="Söhne"/>
              </a:rPr>
              <a:t>Analyse und Transformation großer Datensätze über das MapReduce-Paradigma</a:t>
            </a:r>
          </a:p>
          <a:p>
            <a:pPr>
              <a:buFont typeface="Arial" panose="020B0604020202020204" pitchFamily="34" charset="0"/>
              <a:buChar char="•"/>
            </a:pPr>
            <a:r>
              <a:rPr lang="de-DE" sz="1800" b="0" i="0" dirty="0">
                <a:effectLst/>
                <a:latin typeface="Söhne"/>
              </a:rPr>
              <a:t>Verteilung von Daten und Berechnungen auf viele Hosts und die parallele Ausführung von Anwendungen</a:t>
            </a:r>
          </a:p>
          <a:p>
            <a:pPr>
              <a:buFont typeface="Arial" panose="020B0604020202020204" pitchFamily="34" charset="0"/>
              <a:buChar char="•"/>
            </a:pPr>
            <a:r>
              <a:rPr lang="de-DE" sz="1800" b="0" i="0" dirty="0">
                <a:effectLst/>
                <a:latin typeface="Söhne"/>
              </a:rPr>
              <a:t>Apache Hadoop Softwarebibliothek (Java) </a:t>
            </a:r>
          </a:p>
          <a:p>
            <a:pPr>
              <a:buFont typeface="Arial" panose="020B0604020202020204" pitchFamily="34" charset="0"/>
              <a:buChar char="•"/>
            </a:pPr>
            <a:r>
              <a:rPr lang="de-DE" sz="1800" dirty="0">
                <a:latin typeface="Söhne"/>
              </a:rPr>
              <a:t>V</a:t>
            </a:r>
            <a:r>
              <a:rPr lang="de-DE" sz="1800" b="0" i="0" dirty="0">
                <a:effectLst/>
                <a:latin typeface="Söhne"/>
              </a:rPr>
              <a:t>erteilte Verarbeitung großer Datensätze auf Clustern von Computern</a:t>
            </a:r>
          </a:p>
          <a:p>
            <a:pPr>
              <a:buFont typeface="Arial" panose="020B0604020202020204" pitchFamily="34" charset="0"/>
              <a:buChar char="•"/>
            </a:pPr>
            <a:r>
              <a:rPr lang="de-DE" sz="1800" b="0" i="0" dirty="0">
                <a:effectLst/>
                <a:latin typeface="Söhne"/>
              </a:rPr>
              <a:t>Hochverfügbarkeit auf Anwendungsebene, indem es Fehler erkennt und behebt, anstatt sich auf die Hardware zu verlassen</a:t>
            </a:r>
          </a:p>
          <a:p>
            <a:pPr marL="0" indent="0">
              <a:buNone/>
            </a:pPr>
            <a:endParaRPr lang="de-DE" sz="1800" dirty="0"/>
          </a:p>
        </p:txBody>
      </p:sp>
      <p:grpSp>
        <p:nvGrpSpPr>
          <p:cNvPr id="76" name="Group 75">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77"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8"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9"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0"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1"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2"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3"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4"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5"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6"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sp>
        <p:nvSpPr>
          <p:cNvPr id="6" name="Fußzeilenplatzhalter 5">
            <a:extLst>
              <a:ext uri="{FF2B5EF4-FFF2-40B4-BE49-F238E27FC236}">
                <a16:creationId xmlns:a16="http://schemas.microsoft.com/office/drawing/2014/main" id="{AAB9B6C3-1475-70C5-9BFD-7B1C7E84EC7F}"/>
              </a:ext>
            </a:extLst>
          </p:cNvPr>
          <p:cNvSpPr>
            <a:spLocks noGrp="1"/>
          </p:cNvSpPr>
          <p:nvPr>
            <p:ph type="ftr" sz="quarter" idx="11"/>
          </p:nvPr>
        </p:nvSpPr>
        <p:spPr/>
        <p:txBody>
          <a:bodyPr/>
          <a:lstStyle/>
          <a:p>
            <a:r>
              <a:rPr lang="en-US" spc="200"/>
              <a:t>Tobias Walter</a:t>
            </a:r>
            <a:endParaRPr lang="en-US" spc="200" dirty="0"/>
          </a:p>
        </p:txBody>
      </p:sp>
      <p:sp>
        <p:nvSpPr>
          <p:cNvPr id="7" name="Foliennummernplatzhalter 6">
            <a:extLst>
              <a:ext uri="{FF2B5EF4-FFF2-40B4-BE49-F238E27FC236}">
                <a16:creationId xmlns:a16="http://schemas.microsoft.com/office/drawing/2014/main" id="{8DEE7CBF-B739-F4CE-EBA8-1C89E784DF13}"/>
              </a:ext>
            </a:extLst>
          </p:cNvPr>
          <p:cNvSpPr>
            <a:spLocks noGrp="1"/>
          </p:cNvSpPr>
          <p:nvPr>
            <p:ph type="sldNum" sz="quarter" idx="12"/>
          </p:nvPr>
        </p:nvSpPr>
        <p:spPr/>
        <p:txBody>
          <a:bodyPr/>
          <a:lstStyle/>
          <a:p>
            <a:fld id="{0D309695-DEC3-40DA-9DF5-330280C9D0E8}" type="slidenum">
              <a:rPr lang="en-US" smtClean="0"/>
              <a:pPr/>
              <a:t>5</a:t>
            </a:fld>
            <a:endParaRPr lang="en-US" dirty="0"/>
          </a:p>
        </p:txBody>
      </p:sp>
    </p:spTree>
    <p:extLst>
      <p:ext uri="{BB962C8B-B14F-4D97-AF65-F5344CB8AC3E}">
        <p14:creationId xmlns:p14="http://schemas.microsoft.com/office/powerpoint/2010/main" val="3008120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46"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47"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8"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9"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0"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1"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2"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3"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4"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5"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6"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7"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58"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9"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0"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1"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2"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63"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4"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5"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6"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7"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8"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9"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0"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1"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2"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sp>
        <p:nvSpPr>
          <p:cNvPr id="2" name="Titel 1">
            <a:extLst>
              <a:ext uri="{FF2B5EF4-FFF2-40B4-BE49-F238E27FC236}">
                <a16:creationId xmlns:a16="http://schemas.microsoft.com/office/drawing/2014/main" id="{A15C99C0-61DA-6555-60D1-604F54E2CFA2}"/>
              </a:ext>
            </a:extLst>
          </p:cNvPr>
          <p:cNvSpPr>
            <a:spLocks noGrp="1"/>
          </p:cNvSpPr>
          <p:nvPr>
            <p:ph type="title"/>
          </p:nvPr>
        </p:nvSpPr>
        <p:spPr>
          <a:xfrm>
            <a:off x="1141413" y="1082673"/>
            <a:ext cx="2869416" cy="4708528"/>
          </a:xfrm>
        </p:spPr>
        <p:txBody>
          <a:bodyPr>
            <a:normAutofit/>
          </a:bodyPr>
          <a:lstStyle/>
          <a:p>
            <a:pPr algn="r"/>
            <a:r>
              <a:rPr lang="de-DE" sz="4000" dirty="0"/>
              <a:t>MapReduce</a:t>
            </a:r>
          </a:p>
        </p:txBody>
      </p:sp>
      <p:cxnSp>
        <p:nvCxnSpPr>
          <p:cNvPr id="74" name="Straight Connector 73">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8" name="Inhaltsplatzhalter 2">
            <a:extLst>
              <a:ext uri="{FF2B5EF4-FFF2-40B4-BE49-F238E27FC236}">
                <a16:creationId xmlns:a16="http://schemas.microsoft.com/office/drawing/2014/main" id="{E6A31165-CEAA-ECF3-AFF8-5654C06A4E5F}"/>
              </a:ext>
            </a:extLst>
          </p:cNvPr>
          <p:cNvSpPr>
            <a:spLocks noGrp="1"/>
          </p:cNvSpPr>
          <p:nvPr>
            <p:ph idx="1"/>
          </p:nvPr>
        </p:nvSpPr>
        <p:spPr>
          <a:xfrm>
            <a:off x="5297763" y="1082673"/>
            <a:ext cx="5751237" cy="4708528"/>
          </a:xfrm>
        </p:spPr>
        <p:txBody>
          <a:bodyPr anchor="ctr">
            <a:normAutofit/>
          </a:bodyPr>
          <a:lstStyle/>
          <a:p>
            <a:pPr>
              <a:lnSpc>
                <a:spcPct val="110000"/>
              </a:lnSpc>
              <a:buFont typeface="Arial" panose="020B0604020202020204" pitchFamily="34" charset="0"/>
              <a:buChar char="•"/>
            </a:pPr>
            <a:r>
              <a:rPr lang="de-DE" sz="1500" b="0" i="0" dirty="0">
                <a:effectLst/>
                <a:latin typeface="Söhne"/>
              </a:rPr>
              <a:t>Von Google entwickeltes Konzept eines verteilten Programmiermodells für die Verarbeitung großer Datenmengen</a:t>
            </a:r>
          </a:p>
          <a:p>
            <a:pPr>
              <a:lnSpc>
                <a:spcPct val="110000"/>
              </a:lnSpc>
              <a:buFont typeface="Arial" panose="020B0604020202020204" pitchFamily="34" charset="0"/>
              <a:buChar char="•"/>
            </a:pPr>
            <a:r>
              <a:rPr lang="de-DE" sz="1500" b="0" i="0" dirty="0">
                <a:effectLst/>
                <a:latin typeface="Söhne"/>
              </a:rPr>
              <a:t>Verbirgt komplexe Aspekte wie Parallelisierung, Fehlertoleranz, Datenverteilung und Lastausgleich</a:t>
            </a:r>
          </a:p>
          <a:p>
            <a:pPr>
              <a:lnSpc>
                <a:spcPct val="110000"/>
              </a:lnSpc>
              <a:buFont typeface="Arial" panose="020B0604020202020204" pitchFamily="34" charset="0"/>
              <a:buChar char="•"/>
            </a:pPr>
            <a:r>
              <a:rPr lang="de-DE" sz="1500" b="0" i="0" dirty="0">
                <a:effectLst/>
                <a:latin typeface="Söhne"/>
              </a:rPr>
              <a:t>Basiert auf den Primitiven "Map" und "</a:t>
            </a:r>
            <a:r>
              <a:rPr lang="de-DE" sz="1500" b="0" i="0" dirty="0" err="1">
                <a:effectLst/>
                <a:latin typeface="Söhne"/>
              </a:rPr>
              <a:t>Reduce</a:t>
            </a:r>
            <a:r>
              <a:rPr lang="de-DE" sz="1500" b="0" i="0" dirty="0">
                <a:effectLst/>
                <a:latin typeface="Söhne"/>
              </a:rPr>
              <a:t>" und ermöglicht das </a:t>
            </a:r>
          </a:p>
          <a:p>
            <a:pPr>
              <a:lnSpc>
                <a:spcPct val="110000"/>
              </a:lnSpc>
              <a:buFont typeface="Arial" panose="020B0604020202020204" pitchFamily="34" charset="0"/>
              <a:buChar char="•"/>
            </a:pPr>
            <a:r>
              <a:rPr lang="de-DE" sz="1500" b="0" i="0" dirty="0">
                <a:effectLst/>
                <a:latin typeface="Söhne"/>
              </a:rPr>
              <a:t>Operationen auf Eingabedatensätze </a:t>
            </a:r>
          </a:p>
          <a:p>
            <a:pPr>
              <a:lnSpc>
                <a:spcPct val="110000"/>
              </a:lnSpc>
              <a:buFont typeface="Arial" panose="020B0604020202020204" pitchFamily="34" charset="0"/>
              <a:buChar char="•"/>
            </a:pPr>
            <a:r>
              <a:rPr lang="de-DE" sz="1500" b="0" i="0" dirty="0">
                <a:effectLst/>
                <a:latin typeface="Söhne"/>
              </a:rPr>
              <a:t>Generierung von Zwischenpaaren von Schlüssel-Wert</a:t>
            </a:r>
          </a:p>
          <a:p>
            <a:pPr>
              <a:lnSpc>
                <a:spcPct val="110000"/>
              </a:lnSpc>
              <a:buFont typeface="Arial" panose="020B0604020202020204" pitchFamily="34" charset="0"/>
              <a:buChar char="•"/>
            </a:pPr>
            <a:r>
              <a:rPr lang="de-DE" sz="1500" b="0" i="0" dirty="0">
                <a:effectLst/>
                <a:latin typeface="Söhne"/>
              </a:rPr>
              <a:t>Kombination der Werte mit dem gleichen Schlüssel leitet Daten ab</a:t>
            </a:r>
          </a:p>
          <a:p>
            <a:pPr>
              <a:lnSpc>
                <a:spcPct val="110000"/>
              </a:lnSpc>
              <a:buFont typeface="Arial" panose="020B0604020202020204" pitchFamily="34" charset="0"/>
              <a:buChar char="•"/>
            </a:pPr>
            <a:r>
              <a:rPr lang="de-DE" sz="1500" b="0" i="0" dirty="0">
                <a:effectLst/>
                <a:latin typeface="Söhne"/>
              </a:rPr>
              <a:t>Erleichtert die Parallelisierung von Berechnungen </a:t>
            </a:r>
          </a:p>
          <a:p>
            <a:pPr>
              <a:lnSpc>
                <a:spcPct val="110000"/>
              </a:lnSpc>
              <a:buFont typeface="Arial" panose="020B0604020202020204" pitchFamily="34" charset="0"/>
              <a:buChar char="•"/>
            </a:pPr>
            <a:r>
              <a:rPr lang="de-DE" sz="1500" dirty="0">
                <a:latin typeface="Söhne"/>
              </a:rPr>
              <a:t>N</a:t>
            </a:r>
            <a:r>
              <a:rPr lang="de-DE" sz="1500" b="0" i="0" dirty="0">
                <a:effectLst/>
                <a:latin typeface="Söhne"/>
              </a:rPr>
              <a:t>utzt Wiederholung zur Fehlertoleranz</a:t>
            </a:r>
          </a:p>
          <a:p>
            <a:pPr>
              <a:lnSpc>
                <a:spcPct val="110000"/>
              </a:lnSpc>
              <a:buFont typeface="Arial" panose="020B0604020202020204" pitchFamily="34" charset="0"/>
              <a:buChar char="•"/>
            </a:pPr>
            <a:r>
              <a:rPr lang="de-DE" sz="1500" b="0" i="0" dirty="0">
                <a:effectLst/>
                <a:latin typeface="Söhne"/>
              </a:rPr>
              <a:t>Automatische Parallelisierung und Verteilung von Berechnungen </a:t>
            </a:r>
            <a:endParaRPr lang="de-DE" sz="1500" dirty="0">
              <a:latin typeface="Söhne"/>
            </a:endParaRPr>
          </a:p>
          <a:p>
            <a:pPr>
              <a:lnSpc>
                <a:spcPct val="110000"/>
              </a:lnSpc>
              <a:buFont typeface="Arial" panose="020B0604020202020204" pitchFamily="34" charset="0"/>
              <a:buChar char="•"/>
            </a:pPr>
            <a:r>
              <a:rPr lang="de-DE" sz="1500" dirty="0">
                <a:latin typeface="Söhne"/>
              </a:rPr>
              <a:t>E</a:t>
            </a:r>
            <a:r>
              <a:rPr lang="de-DE" sz="1500" b="0" i="0" dirty="0">
                <a:effectLst/>
                <a:latin typeface="Söhne"/>
              </a:rPr>
              <a:t>rreicht hohe Leistung auf Clustern von Standard-PCs.</a:t>
            </a:r>
          </a:p>
        </p:txBody>
      </p:sp>
      <p:grpSp>
        <p:nvGrpSpPr>
          <p:cNvPr id="76" name="Group 75">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77"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8"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9"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0"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1"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2"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3"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4"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5"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6"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sp>
        <p:nvSpPr>
          <p:cNvPr id="4" name="Fußzeilenplatzhalter 3">
            <a:extLst>
              <a:ext uri="{FF2B5EF4-FFF2-40B4-BE49-F238E27FC236}">
                <a16:creationId xmlns:a16="http://schemas.microsoft.com/office/drawing/2014/main" id="{B8EDF1F5-B3EF-4BB0-19DB-CD612F0211C6}"/>
              </a:ext>
            </a:extLst>
          </p:cNvPr>
          <p:cNvSpPr>
            <a:spLocks noGrp="1"/>
          </p:cNvSpPr>
          <p:nvPr>
            <p:ph type="ftr" sz="quarter" idx="11"/>
          </p:nvPr>
        </p:nvSpPr>
        <p:spPr/>
        <p:txBody>
          <a:bodyPr/>
          <a:lstStyle/>
          <a:p>
            <a:r>
              <a:rPr lang="en-US" spc="200"/>
              <a:t>Tobias Walter</a:t>
            </a:r>
            <a:endParaRPr lang="en-US" spc="200" dirty="0"/>
          </a:p>
        </p:txBody>
      </p:sp>
      <p:sp>
        <p:nvSpPr>
          <p:cNvPr id="5" name="Foliennummernplatzhalter 4">
            <a:extLst>
              <a:ext uri="{FF2B5EF4-FFF2-40B4-BE49-F238E27FC236}">
                <a16:creationId xmlns:a16="http://schemas.microsoft.com/office/drawing/2014/main" id="{2BB90CF2-DA50-720A-9ACB-D6267894BB92}"/>
              </a:ext>
            </a:extLst>
          </p:cNvPr>
          <p:cNvSpPr>
            <a:spLocks noGrp="1"/>
          </p:cNvSpPr>
          <p:nvPr>
            <p:ph type="sldNum" sz="quarter" idx="12"/>
          </p:nvPr>
        </p:nvSpPr>
        <p:spPr/>
        <p:txBody>
          <a:bodyPr/>
          <a:lstStyle/>
          <a:p>
            <a:fld id="{0D309695-DEC3-40DA-9DF5-330280C9D0E8}" type="slidenum">
              <a:rPr lang="en-US" smtClean="0"/>
              <a:pPr/>
              <a:t>6</a:t>
            </a:fld>
            <a:endParaRPr lang="en-US" dirty="0"/>
          </a:p>
        </p:txBody>
      </p:sp>
    </p:spTree>
    <p:extLst>
      <p:ext uri="{BB962C8B-B14F-4D97-AF65-F5344CB8AC3E}">
        <p14:creationId xmlns:p14="http://schemas.microsoft.com/office/powerpoint/2010/main" val="3554469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4DC9E0-7756-DF32-49E5-E182CBDCA4C4}"/>
              </a:ext>
            </a:extLst>
          </p:cNvPr>
          <p:cNvSpPr>
            <a:spLocks noGrp="1"/>
          </p:cNvSpPr>
          <p:nvPr>
            <p:ph type="title"/>
          </p:nvPr>
        </p:nvSpPr>
        <p:spPr>
          <a:xfrm>
            <a:off x="8036041" y="618518"/>
            <a:ext cx="3281003" cy="1478570"/>
          </a:xfrm>
        </p:spPr>
        <p:txBody>
          <a:bodyPr anchor="b">
            <a:normAutofit/>
          </a:bodyPr>
          <a:lstStyle/>
          <a:p>
            <a:r>
              <a:rPr lang="de-DE" sz="2800"/>
              <a:t>Hadoop Ökosystem</a:t>
            </a:r>
          </a:p>
        </p:txBody>
      </p:sp>
      <p:sp>
        <p:nvSpPr>
          <p:cNvPr id="65" name="Round Diagonal Corner Rectangle 11">
            <a:extLst>
              <a:ext uri="{FF2B5EF4-FFF2-40B4-BE49-F238E27FC236}">
                <a16:creationId xmlns:a16="http://schemas.microsoft.com/office/drawing/2014/main" id="{03756949-AC79-48CD-A920-B0FE10D23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fik 8" descr="Ein Bild, das Text, Screenshot, Display, Rechteck enthält.&#10;&#10;Automatisch generierte Beschreibung">
            <a:extLst>
              <a:ext uri="{FF2B5EF4-FFF2-40B4-BE49-F238E27FC236}">
                <a16:creationId xmlns:a16="http://schemas.microsoft.com/office/drawing/2014/main" id="{3BC97E85-021F-3AEC-A840-687ECDB5BC4E}"/>
              </a:ext>
            </a:extLst>
          </p:cNvPr>
          <p:cNvPicPr>
            <a:picLocks noChangeAspect="1"/>
          </p:cNvPicPr>
          <p:nvPr/>
        </p:nvPicPr>
        <p:blipFill>
          <a:blip r:embed="rId2"/>
          <a:stretch>
            <a:fillRect/>
          </a:stretch>
        </p:blipFill>
        <p:spPr>
          <a:xfrm>
            <a:off x="1118988" y="1554352"/>
            <a:ext cx="6112382" cy="3743834"/>
          </a:xfrm>
          <a:prstGeom prst="rect">
            <a:avLst/>
          </a:prstGeom>
        </p:spPr>
      </p:pic>
      <p:sp>
        <p:nvSpPr>
          <p:cNvPr id="60" name="Content Placeholder 7">
            <a:extLst>
              <a:ext uri="{FF2B5EF4-FFF2-40B4-BE49-F238E27FC236}">
                <a16:creationId xmlns:a16="http://schemas.microsoft.com/office/drawing/2014/main" id="{AB941384-ABA3-C56C-D35F-DF0AFE46978F}"/>
              </a:ext>
            </a:extLst>
          </p:cNvPr>
          <p:cNvSpPr>
            <a:spLocks noGrp="1"/>
          </p:cNvSpPr>
          <p:nvPr>
            <p:ph idx="1"/>
          </p:nvPr>
        </p:nvSpPr>
        <p:spPr>
          <a:xfrm>
            <a:off x="8036041" y="2249487"/>
            <a:ext cx="3281004" cy="3541714"/>
          </a:xfrm>
        </p:spPr>
        <p:txBody>
          <a:bodyPr>
            <a:normAutofit/>
          </a:bodyPr>
          <a:lstStyle/>
          <a:p>
            <a:pPr marL="0" indent="0">
              <a:buNone/>
            </a:pPr>
            <a:r>
              <a:rPr lang="en-US" sz="1800" dirty="0" err="1"/>
              <a:t>Wir</a:t>
            </a:r>
            <a:r>
              <a:rPr lang="en-US" sz="1800" dirty="0"/>
              <a:t> </a:t>
            </a:r>
            <a:r>
              <a:rPr lang="en-US" sz="1800" dirty="0" err="1"/>
              <a:t>fokussieren</a:t>
            </a:r>
            <a:r>
              <a:rPr lang="en-US" sz="1800" dirty="0"/>
              <a:t> </a:t>
            </a:r>
            <a:r>
              <a:rPr lang="en-US" sz="1800" dirty="0" err="1"/>
              <a:t>uns</a:t>
            </a:r>
            <a:r>
              <a:rPr lang="en-US" sz="1800" dirty="0"/>
              <a:t> </a:t>
            </a:r>
            <a:r>
              <a:rPr lang="en-US" sz="1800" dirty="0" err="1"/>
              <a:t>lediglich</a:t>
            </a:r>
            <a:r>
              <a:rPr lang="en-US" sz="1800" dirty="0"/>
              <a:t> auf </a:t>
            </a:r>
            <a:r>
              <a:rPr lang="en-US" sz="1800" dirty="0" err="1"/>
              <a:t>einen</a:t>
            </a:r>
            <a:r>
              <a:rPr lang="en-US" sz="1800" dirty="0"/>
              <a:t> </a:t>
            </a:r>
            <a:r>
              <a:rPr lang="en-US" sz="1800" dirty="0" err="1"/>
              <a:t>Teilbereich</a:t>
            </a:r>
            <a:r>
              <a:rPr lang="en-US" sz="1800" dirty="0"/>
              <a:t> des Hadoop </a:t>
            </a:r>
            <a:r>
              <a:rPr lang="en-US" sz="1800" dirty="0" err="1"/>
              <a:t>Ökosystems</a:t>
            </a:r>
            <a:r>
              <a:rPr lang="en-US" sz="1800" dirty="0"/>
              <a:t>:</a:t>
            </a:r>
          </a:p>
          <a:p>
            <a:r>
              <a:rPr lang="en-US" sz="1800" dirty="0"/>
              <a:t>HTFS</a:t>
            </a:r>
          </a:p>
          <a:p>
            <a:r>
              <a:rPr lang="en-US" sz="1800" dirty="0"/>
              <a:t>YARN</a:t>
            </a:r>
          </a:p>
          <a:p>
            <a:r>
              <a:rPr lang="en-US" sz="1800" dirty="0"/>
              <a:t>MapReduce</a:t>
            </a:r>
          </a:p>
          <a:p>
            <a:pPr marL="0" indent="0">
              <a:buNone/>
            </a:pPr>
            <a:endParaRPr lang="en-US" sz="1800" dirty="0"/>
          </a:p>
        </p:txBody>
      </p:sp>
      <p:sp>
        <p:nvSpPr>
          <p:cNvPr id="12" name="Fußzeilenplatzhalter 11">
            <a:extLst>
              <a:ext uri="{FF2B5EF4-FFF2-40B4-BE49-F238E27FC236}">
                <a16:creationId xmlns:a16="http://schemas.microsoft.com/office/drawing/2014/main" id="{5BD119EF-044C-F738-2289-6B323633C40C}"/>
              </a:ext>
            </a:extLst>
          </p:cNvPr>
          <p:cNvSpPr>
            <a:spLocks noGrp="1"/>
          </p:cNvSpPr>
          <p:nvPr>
            <p:ph type="ftr" sz="quarter" idx="11"/>
          </p:nvPr>
        </p:nvSpPr>
        <p:spPr>
          <a:xfrm>
            <a:off x="798949" y="6065836"/>
            <a:ext cx="6239309" cy="365125"/>
          </a:xfrm>
        </p:spPr>
        <p:txBody>
          <a:bodyPr/>
          <a:lstStyle/>
          <a:p>
            <a:r>
              <a:rPr lang="en-US" spc="200"/>
              <a:t>Tobias Walter</a:t>
            </a:r>
            <a:endParaRPr lang="en-US" spc="200" dirty="0"/>
          </a:p>
        </p:txBody>
      </p:sp>
      <p:sp>
        <p:nvSpPr>
          <p:cNvPr id="53" name="Foliennummernplatzhalter 52">
            <a:extLst>
              <a:ext uri="{FF2B5EF4-FFF2-40B4-BE49-F238E27FC236}">
                <a16:creationId xmlns:a16="http://schemas.microsoft.com/office/drawing/2014/main" id="{00FE65E4-0324-A1FA-D24F-5CC69D480C9E}"/>
              </a:ext>
            </a:extLst>
          </p:cNvPr>
          <p:cNvSpPr>
            <a:spLocks noGrp="1"/>
          </p:cNvSpPr>
          <p:nvPr>
            <p:ph type="sldNum" sz="quarter" idx="12"/>
          </p:nvPr>
        </p:nvSpPr>
        <p:spPr/>
        <p:txBody>
          <a:bodyPr/>
          <a:lstStyle/>
          <a:p>
            <a:fld id="{0D309695-DEC3-40DA-9DF5-330280C9D0E8}" type="slidenum">
              <a:rPr lang="en-US" smtClean="0"/>
              <a:pPr/>
              <a:t>7</a:t>
            </a:fld>
            <a:endParaRPr lang="en-US" dirty="0"/>
          </a:p>
        </p:txBody>
      </p:sp>
    </p:spTree>
    <p:extLst>
      <p:ext uri="{BB962C8B-B14F-4D97-AF65-F5344CB8AC3E}">
        <p14:creationId xmlns:p14="http://schemas.microsoft.com/office/powerpoint/2010/main" val="1903267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185" name="Rectangle 184">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7" name="Group 186">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88"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89"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0"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1"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2"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3"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4"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5"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6"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7"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8"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9"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200"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1"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2"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3"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4"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205"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6"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7"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8"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9"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0"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1"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2"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3"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4"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sp>
        <p:nvSpPr>
          <p:cNvPr id="2" name="Titel 1">
            <a:extLst>
              <a:ext uri="{FF2B5EF4-FFF2-40B4-BE49-F238E27FC236}">
                <a16:creationId xmlns:a16="http://schemas.microsoft.com/office/drawing/2014/main" id="{6CC40760-4168-8B0B-5CB0-85125ED88062}"/>
              </a:ext>
            </a:extLst>
          </p:cNvPr>
          <p:cNvSpPr>
            <a:spLocks noGrp="1"/>
          </p:cNvSpPr>
          <p:nvPr>
            <p:ph type="title"/>
          </p:nvPr>
        </p:nvSpPr>
        <p:spPr>
          <a:xfrm>
            <a:off x="1141413" y="1082673"/>
            <a:ext cx="2869416" cy="4708528"/>
          </a:xfrm>
        </p:spPr>
        <p:txBody>
          <a:bodyPr>
            <a:normAutofit/>
          </a:bodyPr>
          <a:lstStyle/>
          <a:p>
            <a:pPr algn="r"/>
            <a:r>
              <a:rPr lang="de-DE" sz="4000"/>
              <a:t>Hadoop Distributed Filesystem</a:t>
            </a:r>
          </a:p>
        </p:txBody>
      </p:sp>
      <p:cxnSp>
        <p:nvCxnSpPr>
          <p:cNvPr id="216" name="Straight Connector 215">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132" name="Inhaltsplatzhalter 79">
            <a:extLst>
              <a:ext uri="{FF2B5EF4-FFF2-40B4-BE49-F238E27FC236}">
                <a16:creationId xmlns:a16="http://schemas.microsoft.com/office/drawing/2014/main" id="{E8EE29A3-CF5D-6352-BD33-FD97B6C41CF1}"/>
              </a:ext>
            </a:extLst>
          </p:cNvPr>
          <p:cNvSpPr>
            <a:spLocks noGrp="1"/>
          </p:cNvSpPr>
          <p:nvPr>
            <p:ph idx="1"/>
          </p:nvPr>
        </p:nvSpPr>
        <p:spPr>
          <a:xfrm>
            <a:off x="5297763" y="1082673"/>
            <a:ext cx="5751237" cy="4708528"/>
          </a:xfrm>
        </p:spPr>
        <p:txBody>
          <a:bodyPr anchor="ctr">
            <a:normAutofit/>
          </a:bodyPr>
          <a:lstStyle/>
          <a:p>
            <a:pPr lvl="0">
              <a:lnSpc>
                <a:spcPct val="110000"/>
              </a:lnSpc>
            </a:pPr>
            <a:r>
              <a:rPr lang="de-DE" sz="1400" b="0" i="0"/>
              <a:t>Es folgt einem Master/Slave-Architekturansatz mit Namenode und Datanodes.</a:t>
            </a:r>
            <a:endParaRPr lang="de-DE" sz="1400"/>
          </a:p>
          <a:p>
            <a:pPr lvl="0">
              <a:lnSpc>
                <a:spcPct val="110000"/>
              </a:lnSpc>
            </a:pPr>
            <a:r>
              <a:rPr lang="de-DE" sz="1400" b="0" i="0"/>
              <a:t>HDFS ist auf hohe Fehlertoleranz, Streaming-Datenzugriff, Verwaltung großer Datenmengen, Einfachheit und Portabilität ausgelegt.</a:t>
            </a:r>
            <a:endParaRPr lang="de-DE" sz="1400"/>
          </a:p>
          <a:p>
            <a:pPr lvl="0">
              <a:lnSpc>
                <a:spcPct val="110000"/>
              </a:lnSpc>
            </a:pPr>
            <a:r>
              <a:rPr lang="de-DE" sz="1400" b="0" i="0"/>
              <a:t>Hardwareausfälle sind in HDFS-Instanzen mit vielen Servern normal, daher ist schnelle Fehlererkennung und -behebung ein zentrales Ziel.</a:t>
            </a:r>
            <a:endParaRPr lang="de-DE" sz="1400"/>
          </a:p>
          <a:p>
            <a:pPr lvl="0">
              <a:lnSpc>
                <a:spcPct val="110000"/>
              </a:lnSpc>
            </a:pPr>
            <a:r>
              <a:rPr lang="de-DE" sz="1400" b="0" i="0"/>
              <a:t>HDFS ist ideal für Anwendungen, die große Datenmengen verarbeiten und auf Streaming-Datenzugriff und hohen Datendurchsatz angewiesen sind.</a:t>
            </a:r>
            <a:endParaRPr lang="de-DE" sz="1400"/>
          </a:p>
          <a:p>
            <a:pPr lvl="0">
              <a:lnSpc>
                <a:spcPct val="110000"/>
              </a:lnSpc>
            </a:pPr>
            <a:r>
              <a:rPr lang="de-DE" sz="1400" b="0" i="0"/>
              <a:t>Typische HDFS-Dateiformate haben Größen im Gigabyte- bis Terabyte-Bereich und sind auf hohe aggregierte Datenbandbreite und Skalierbarkeit ausgelegt.</a:t>
            </a:r>
            <a:endParaRPr lang="de-DE" sz="1400"/>
          </a:p>
          <a:p>
            <a:pPr lvl="0">
              <a:lnSpc>
                <a:spcPct val="110000"/>
              </a:lnSpc>
            </a:pPr>
            <a:r>
              <a:rPr lang="de-DE" sz="1400" b="0" i="0"/>
              <a:t>Das Schreib-einmal-lese-viele Zugriffsmodell in HDFS vereinfacht Datenkohärenzprobleme und ermöglicht hohen Datendurchsatz.</a:t>
            </a:r>
            <a:endParaRPr lang="de-DE" sz="1400"/>
          </a:p>
          <a:p>
            <a:pPr lvl="0">
              <a:lnSpc>
                <a:spcPct val="110000"/>
              </a:lnSpc>
            </a:pPr>
            <a:r>
              <a:rPr lang="de-DE" sz="1400" b="0" i="0"/>
              <a:t>Die Annahme von HDFS ist, dass das Verschieben von Berechnungen kostengünstiger ist als das Verschieben von Daten, um Netzwerkstaus zu minimieren und den Gesamtdurchsatz zu erhöhen.</a:t>
            </a:r>
            <a:endParaRPr lang="de-DE" sz="1400"/>
          </a:p>
        </p:txBody>
      </p:sp>
      <p:grpSp>
        <p:nvGrpSpPr>
          <p:cNvPr id="218" name="Group 217">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219"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0"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1"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2"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3"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4"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5"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6"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7"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8"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sp>
        <p:nvSpPr>
          <p:cNvPr id="83" name="Fußzeilenplatzhalter 82">
            <a:extLst>
              <a:ext uri="{FF2B5EF4-FFF2-40B4-BE49-F238E27FC236}">
                <a16:creationId xmlns:a16="http://schemas.microsoft.com/office/drawing/2014/main" id="{9D0183C5-5630-ABD0-8856-57725364EAE4}"/>
              </a:ext>
            </a:extLst>
          </p:cNvPr>
          <p:cNvSpPr>
            <a:spLocks noGrp="1"/>
          </p:cNvSpPr>
          <p:nvPr>
            <p:ph type="ftr" sz="quarter" idx="11"/>
          </p:nvPr>
        </p:nvSpPr>
        <p:spPr/>
        <p:txBody>
          <a:bodyPr/>
          <a:lstStyle/>
          <a:p>
            <a:r>
              <a:rPr lang="en-US" spc="200"/>
              <a:t>Tobias Walter</a:t>
            </a:r>
            <a:endParaRPr lang="en-US" spc="200" dirty="0"/>
          </a:p>
        </p:txBody>
      </p:sp>
      <p:sp>
        <p:nvSpPr>
          <p:cNvPr id="84" name="Foliennummernplatzhalter 83">
            <a:extLst>
              <a:ext uri="{FF2B5EF4-FFF2-40B4-BE49-F238E27FC236}">
                <a16:creationId xmlns:a16="http://schemas.microsoft.com/office/drawing/2014/main" id="{34C058A4-3CF1-1BAE-7CB3-03B391EB2ACE}"/>
              </a:ext>
            </a:extLst>
          </p:cNvPr>
          <p:cNvSpPr>
            <a:spLocks noGrp="1"/>
          </p:cNvSpPr>
          <p:nvPr>
            <p:ph type="sldNum" sz="quarter" idx="12"/>
          </p:nvPr>
        </p:nvSpPr>
        <p:spPr/>
        <p:txBody>
          <a:bodyPr/>
          <a:lstStyle/>
          <a:p>
            <a:fld id="{0D309695-DEC3-40DA-9DF5-330280C9D0E8}" type="slidenum">
              <a:rPr lang="en-US" smtClean="0"/>
              <a:pPr/>
              <a:t>8</a:t>
            </a:fld>
            <a:endParaRPr lang="en-US" dirty="0"/>
          </a:p>
        </p:txBody>
      </p:sp>
    </p:spTree>
    <p:extLst>
      <p:ext uri="{BB962C8B-B14F-4D97-AF65-F5344CB8AC3E}">
        <p14:creationId xmlns:p14="http://schemas.microsoft.com/office/powerpoint/2010/main" val="1843621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1BAFFD-1573-47E7-5644-D77671F9D846}"/>
              </a:ext>
            </a:extLst>
          </p:cNvPr>
          <p:cNvSpPr>
            <a:spLocks noGrp="1"/>
          </p:cNvSpPr>
          <p:nvPr>
            <p:ph type="title"/>
          </p:nvPr>
        </p:nvSpPr>
        <p:spPr>
          <a:xfrm>
            <a:off x="8036041" y="618518"/>
            <a:ext cx="3281003" cy="1478570"/>
          </a:xfrm>
        </p:spPr>
        <p:txBody>
          <a:bodyPr anchor="b">
            <a:normAutofit/>
          </a:bodyPr>
          <a:lstStyle/>
          <a:p>
            <a:r>
              <a:rPr lang="de-DE" sz="2800"/>
              <a:t>HDFS-Architektur</a:t>
            </a:r>
          </a:p>
        </p:txBody>
      </p:sp>
      <p:sp>
        <p:nvSpPr>
          <p:cNvPr id="19" name="Round Diagonal Corner Rectangle 11">
            <a:extLst>
              <a:ext uri="{FF2B5EF4-FFF2-40B4-BE49-F238E27FC236}">
                <a16:creationId xmlns:a16="http://schemas.microsoft.com/office/drawing/2014/main" id="{03756949-AC79-48CD-A920-B0FE10D23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nhaltsplatzhalter 3" descr="Ein Bild, das Text, Screenshot, Rechteck, Schrift enthält.&#10;&#10;Automatisch generierte Beschreibung">
            <a:extLst>
              <a:ext uri="{FF2B5EF4-FFF2-40B4-BE49-F238E27FC236}">
                <a16:creationId xmlns:a16="http://schemas.microsoft.com/office/drawing/2014/main" id="{2E731610-484D-8DB2-9B3E-E616C83C0492}"/>
              </a:ext>
            </a:extLst>
          </p:cNvPr>
          <p:cNvPicPr>
            <a:picLocks noChangeAspect="1"/>
          </p:cNvPicPr>
          <p:nvPr/>
        </p:nvPicPr>
        <p:blipFill>
          <a:blip r:embed="rId3"/>
          <a:stretch>
            <a:fillRect/>
          </a:stretch>
        </p:blipFill>
        <p:spPr>
          <a:xfrm>
            <a:off x="1118988" y="1668960"/>
            <a:ext cx="6112382" cy="3514619"/>
          </a:xfrm>
          <a:prstGeom prst="rect">
            <a:avLst/>
          </a:prstGeom>
        </p:spPr>
      </p:pic>
      <p:sp>
        <p:nvSpPr>
          <p:cNvPr id="9" name="Content Placeholder 8">
            <a:extLst>
              <a:ext uri="{FF2B5EF4-FFF2-40B4-BE49-F238E27FC236}">
                <a16:creationId xmlns:a16="http://schemas.microsoft.com/office/drawing/2014/main" id="{13899B0E-6C6C-7EFD-158D-81416215CD8B}"/>
              </a:ext>
            </a:extLst>
          </p:cNvPr>
          <p:cNvSpPr>
            <a:spLocks noGrp="1"/>
          </p:cNvSpPr>
          <p:nvPr>
            <p:ph idx="1"/>
          </p:nvPr>
        </p:nvSpPr>
        <p:spPr>
          <a:xfrm>
            <a:off x="8036041" y="2249487"/>
            <a:ext cx="3281004" cy="3541714"/>
          </a:xfrm>
        </p:spPr>
        <p:txBody>
          <a:bodyPr>
            <a:normAutofit/>
          </a:bodyPr>
          <a:lstStyle/>
          <a:p>
            <a:r>
              <a:rPr lang="en-US" sz="1800"/>
              <a:t>Master: Namenode</a:t>
            </a:r>
          </a:p>
          <a:p>
            <a:r>
              <a:rPr lang="en-US" sz="1800"/>
              <a:t>Slave: DataNode</a:t>
            </a:r>
          </a:p>
          <a:p>
            <a:r>
              <a:rPr lang="en-US" sz="1800"/>
              <a:t>HDFS-Dateien und Blöcke</a:t>
            </a:r>
          </a:p>
          <a:p>
            <a:r>
              <a:rPr lang="en-US" sz="1800"/>
              <a:t>Racks</a:t>
            </a:r>
          </a:p>
          <a:p>
            <a:r>
              <a:rPr lang="en-US" sz="1800"/>
              <a:t>HDFS Client</a:t>
            </a:r>
          </a:p>
          <a:p>
            <a:r>
              <a:rPr lang="en-US" sz="1800"/>
              <a:t>Metadaten</a:t>
            </a:r>
          </a:p>
        </p:txBody>
      </p:sp>
      <p:sp>
        <p:nvSpPr>
          <p:cNvPr id="7" name="Fußzeilenplatzhalter 6">
            <a:extLst>
              <a:ext uri="{FF2B5EF4-FFF2-40B4-BE49-F238E27FC236}">
                <a16:creationId xmlns:a16="http://schemas.microsoft.com/office/drawing/2014/main" id="{5382377F-B4D3-F927-CFEC-DB95304BF04A}"/>
              </a:ext>
            </a:extLst>
          </p:cNvPr>
          <p:cNvSpPr>
            <a:spLocks noGrp="1"/>
          </p:cNvSpPr>
          <p:nvPr>
            <p:ph type="ftr" sz="quarter" idx="11"/>
          </p:nvPr>
        </p:nvSpPr>
        <p:spPr>
          <a:xfrm>
            <a:off x="798949" y="6065836"/>
            <a:ext cx="6239309" cy="365125"/>
          </a:xfrm>
        </p:spPr>
        <p:txBody>
          <a:bodyPr/>
          <a:lstStyle/>
          <a:p>
            <a:r>
              <a:rPr lang="en-US" spc="200"/>
              <a:t>Tobias Walter</a:t>
            </a:r>
            <a:endParaRPr lang="en-US" spc="200" dirty="0"/>
          </a:p>
        </p:txBody>
      </p:sp>
      <p:sp>
        <p:nvSpPr>
          <p:cNvPr id="8" name="Foliennummernplatzhalter 7">
            <a:extLst>
              <a:ext uri="{FF2B5EF4-FFF2-40B4-BE49-F238E27FC236}">
                <a16:creationId xmlns:a16="http://schemas.microsoft.com/office/drawing/2014/main" id="{1F483262-DDBC-3F1E-B7B1-76EC4C3CADDF}"/>
              </a:ext>
            </a:extLst>
          </p:cNvPr>
          <p:cNvSpPr>
            <a:spLocks noGrp="1"/>
          </p:cNvSpPr>
          <p:nvPr>
            <p:ph type="sldNum" sz="quarter" idx="12"/>
          </p:nvPr>
        </p:nvSpPr>
        <p:spPr/>
        <p:txBody>
          <a:bodyPr/>
          <a:lstStyle/>
          <a:p>
            <a:fld id="{0D309695-DEC3-40DA-9DF5-330280C9D0E8}" type="slidenum">
              <a:rPr lang="en-US" smtClean="0"/>
              <a:pPr/>
              <a:t>9</a:t>
            </a:fld>
            <a:endParaRPr lang="en-US" dirty="0"/>
          </a:p>
        </p:txBody>
      </p:sp>
    </p:spTree>
    <p:extLst>
      <p:ext uri="{BB962C8B-B14F-4D97-AF65-F5344CB8AC3E}">
        <p14:creationId xmlns:p14="http://schemas.microsoft.com/office/powerpoint/2010/main" val="4128925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244982-1703-C21F-AED1-344FF7F5BA89}"/>
              </a:ext>
            </a:extLst>
          </p:cNvPr>
          <p:cNvSpPr>
            <a:spLocks noGrp="1"/>
          </p:cNvSpPr>
          <p:nvPr>
            <p:ph type="title"/>
          </p:nvPr>
        </p:nvSpPr>
        <p:spPr/>
        <p:txBody>
          <a:bodyPr/>
          <a:lstStyle/>
          <a:p>
            <a:r>
              <a:rPr lang="de-DE" dirty="0" err="1"/>
              <a:t>Datanodes</a:t>
            </a:r>
            <a:r>
              <a:rPr lang="de-DE" dirty="0"/>
              <a:t> und Namenodes</a:t>
            </a:r>
          </a:p>
        </p:txBody>
      </p:sp>
      <p:sp>
        <p:nvSpPr>
          <p:cNvPr id="3" name="Inhaltsplatzhalter 2">
            <a:extLst>
              <a:ext uri="{FF2B5EF4-FFF2-40B4-BE49-F238E27FC236}">
                <a16:creationId xmlns:a16="http://schemas.microsoft.com/office/drawing/2014/main" id="{F4F0A9B8-D470-CA51-74E3-5E8CEA0CBABF}"/>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de-DE" b="0" i="0" dirty="0" err="1">
                <a:effectLst/>
                <a:latin typeface="Söhne"/>
              </a:rPr>
              <a:t>Namenode</a:t>
            </a:r>
            <a:r>
              <a:rPr lang="de-DE" b="0" i="0" dirty="0">
                <a:effectLst/>
                <a:latin typeface="Söhne"/>
              </a:rPr>
              <a:t> ist der Master-Server, der den Dateisystem-Namensraum verwaltet und den Zugriff auf Dateien regelt.</a:t>
            </a:r>
          </a:p>
          <a:p>
            <a:pPr algn="l">
              <a:buFont typeface="Arial" panose="020B0604020202020204" pitchFamily="34" charset="0"/>
              <a:buChar char="•"/>
            </a:pPr>
            <a:r>
              <a:rPr lang="de-DE" b="0" i="0" dirty="0" err="1">
                <a:effectLst/>
                <a:latin typeface="Söhne"/>
              </a:rPr>
              <a:t>Datanodes</a:t>
            </a:r>
            <a:r>
              <a:rPr lang="de-DE" b="0" i="0" dirty="0">
                <a:effectLst/>
                <a:latin typeface="Söhne"/>
              </a:rPr>
              <a:t> sind Slave-Server, die den Speicher verwalten und für das Bedienen von Lese- und Schreibanforderungen zuständig sind.</a:t>
            </a:r>
          </a:p>
          <a:p>
            <a:pPr algn="l">
              <a:buFont typeface="Arial" panose="020B0604020202020204" pitchFamily="34" charset="0"/>
              <a:buChar char="•"/>
            </a:pPr>
            <a:r>
              <a:rPr lang="de-DE" b="0" i="0" dirty="0">
                <a:effectLst/>
                <a:latin typeface="Söhne"/>
              </a:rPr>
              <a:t>Dateien im HDFS werden in Blöcke aufgeteilt und in einer Reihe von </a:t>
            </a:r>
            <a:r>
              <a:rPr lang="de-DE" b="0" i="0" dirty="0" err="1">
                <a:effectLst/>
                <a:latin typeface="Söhne"/>
              </a:rPr>
              <a:t>Datanodes</a:t>
            </a:r>
            <a:r>
              <a:rPr lang="de-DE" b="0" i="0" dirty="0">
                <a:effectLst/>
                <a:latin typeface="Söhne"/>
              </a:rPr>
              <a:t> gespeichert.</a:t>
            </a:r>
          </a:p>
          <a:p>
            <a:pPr algn="l">
              <a:buFont typeface="Arial" panose="020B0604020202020204" pitchFamily="34" charset="0"/>
              <a:buChar char="•"/>
            </a:pPr>
            <a:r>
              <a:rPr lang="de-DE" b="0" i="0" dirty="0">
                <a:effectLst/>
                <a:latin typeface="Söhne"/>
              </a:rPr>
              <a:t>Der </a:t>
            </a:r>
            <a:r>
              <a:rPr lang="de-DE" b="0" i="0" dirty="0" err="1">
                <a:effectLst/>
                <a:latin typeface="Söhne"/>
              </a:rPr>
              <a:t>Namenode</a:t>
            </a:r>
            <a:r>
              <a:rPr lang="de-DE" b="0" i="0" dirty="0">
                <a:effectLst/>
                <a:latin typeface="Söhne"/>
              </a:rPr>
              <a:t> weist jedem Block eine eindeutige ID zu und legt eine Liste von </a:t>
            </a:r>
            <a:r>
              <a:rPr lang="de-DE" b="0" i="0" dirty="0" err="1">
                <a:effectLst/>
                <a:latin typeface="Söhne"/>
              </a:rPr>
              <a:t>Datanodes</a:t>
            </a:r>
            <a:r>
              <a:rPr lang="de-DE" b="0" i="0" dirty="0">
                <a:effectLst/>
                <a:latin typeface="Söhne"/>
              </a:rPr>
              <a:t> für die Blockreplikate fest.</a:t>
            </a:r>
          </a:p>
          <a:p>
            <a:pPr algn="l">
              <a:buFont typeface="Arial" panose="020B0604020202020204" pitchFamily="34" charset="0"/>
              <a:buChar char="•"/>
            </a:pPr>
            <a:r>
              <a:rPr lang="de-DE" b="0" i="0" dirty="0">
                <a:effectLst/>
                <a:latin typeface="Söhne"/>
              </a:rPr>
              <a:t>Die Datenpakete werden in einer Pipeline sequenziell von </a:t>
            </a:r>
            <a:r>
              <a:rPr lang="de-DE" b="0" i="0" dirty="0" err="1">
                <a:effectLst/>
                <a:latin typeface="Söhne"/>
              </a:rPr>
              <a:t>Datanode</a:t>
            </a:r>
            <a:r>
              <a:rPr lang="de-DE" b="0" i="0" dirty="0">
                <a:effectLst/>
                <a:latin typeface="Söhne"/>
              </a:rPr>
              <a:t> zu </a:t>
            </a:r>
            <a:r>
              <a:rPr lang="de-DE" b="0" i="0" dirty="0" err="1">
                <a:effectLst/>
                <a:latin typeface="Söhne"/>
              </a:rPr>
              <a:t>Datanode</a:t>
            </a:r>
            <a:r>
              <a:rPr lang="de-DE" b="0" i="0" dirty="0">
                <a:effectLst/>
                <a:latin typeface="Söhne"/>
              </a:rPr>
              <a:t> geschrieben, wobei die Reihenfolge der </a:t>
            </a:r>
            <a:r>
              <a:rPr lang="de-DE" b="0" i="0" dirty="0" err="1">
                <a:effectLst/>
                <a:latin typeface="Söhne"/>
              </a:rPr>
              <a:t>Datanodes</a:t>
            </a:r>
            <a:r>
              <a:rPr lang="de-DE" b="0" i="0" dirty="0">
                <a:effectLst/>
                <a:latin typeface="Söhne"/>
              </a:rPr>
              <a:t> die Netzwerkentfernung minimiert.</a:t>
            </a:r>
          </a:p>
          <a:p>
            <a:pPr marL="0" indent="0">
              <a:buNone/>
            </a:pPr>
            <a:endParaRPr lang="de-DE" dirty="0"/>
          </a:p>
        </p:txBody>
      </p:sp>
      <p:sp>
        <p:nvSpPr>
          <p:cNvPr id="5" name="Fußzeilenplatzhalter 4">
            <a:extLst>
              <a:ext uri="{FF2B5EF4-FFF2-40B4-BE49-F238E27FC236}">
                <a16:creationId xmlns:a16="http://schemas.microsoft.com/office/drawing/2014/main" id="{DAD86FC8-6A80-2061-992B-DE26FF4DD0B6}"/>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D9617506-7952-7953-845D-E44A2840C9E7}"/>
              </a:ext>
            </a:extLst>
          </p:cNvPr>
          <p:cNvSpPr>
            <a:spLocks noGrp="1"/>
          </p:cNvSpPr>
          <p:nvPr>
            <p:ph type="sldNum" sz="quarter" idx="12"/>
          </p:nvPr>
        </p:nvSpPr>
        <p:spPr/>
        <p:txBody>
          <a:bodyPr/>
          <a:lstStyle/>
          <a:p>
            <a:fld id="{0D309695-DEC3-40DA-9DF5-330280C9D0E8}" type="slidenum">
              <a:rPr lang="en-US" smtClean="0"/>
              <a:pPr/>
              <a:t>10</a:t>
            </a:fld>
            <a:endParaRPr lang="en-US" dirty="0"/>
          </a:p>
        </p:txBody>
      </p:sp>
    </p:spTree>
    <p:extLst>
      <p:ext uri="{BB962C8B-B14F-4D97-AF65-F5344CB8AC3E}">
        <p14:creationId xmlns:p14="http://schemas.microsoft.com/office/powerpoint/2010/main" val="2102094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1141412" y="618518"/>
            <a:ext cx="5894387" cy="821662"/>
          </a:xfrm>
        </p:spPr>
        <p:txBody>
          <a:bodyPr anchor="b">
            <a:normAutofit/>
          </a:bodyPr>
          <a:lstStyle/>
          <a:p>
            <a:r>
              <a:rPr lang="de-DE" dirty="0"/>
              <a:t>HDFS CLIENT </a:t>
            </a:r>
            <a:r>
              <a:rPr lang="de-DE" dirty="0" err="1"/>
              <a:t>LEsezugriff</a:t>
            </a:r>
            <a:endParaRPr lang="de-DE" dirty="0"/>
          </a:p>
        </p:txBody>
      </p:sp>
      <p:graphicFrame>
        <p:nvGraphicFramePr>
          <p:cNvPr id="7" name="Inhaltsplatzhalter 6">
            <a:extLst>
              <a:ext uri="{FF2B5EF4-FFF2-40B4-BE49-F238E27FC236}">
                <a16:creationId xmlns:a16="http://schemas.microsoft.com/office/drawing/2014/main" id="{997E2D89-EBC1-D4D5-637B-562A28DFA8A6}"/>
              </a:ext>
            </a:extLst>
          </p:cNvPr>
          <p:cNvGraphicFramePr>
            <a:graphicFrameLocks noGrp="1"/>
          </p:cNvGraphicFramePr>
          <p:nvPr>
            <p:ph idx="1"/>
            <p:extLst>
              <p:ext uri="{D42A27DB-BD31-4B8C-83A1-F6EECF244321}">
                <p14:modId xmlns:p14="http://schemas.microsoft.com/office/powerpoint/2010/main" val="4101146539"/>
              </p:ext>
            </p:extLst>
          </p:nvPr>
        </p:nvGraphicFramePr>
        <p:xfrm>
          <a:off x="201612" y="2028505"/>
          <a:ext cx="5894388" cy="35417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Grafik 7" descr="Ein Bild, das Diagramm, Reihe, Plan, Text enthält.&#10;&#10;Automatisch generierte Beschreibung">
            <a:extLst>
              <a:ext uri="{FF2B5EF4-FFF2-40B4-BE49-F238E27FC236}">
                <a16:creationId xmlns:a16="http://schemas.microsoft.com/office/drawing/2014/main" id="{10F62D09-0552-31F4-19E8-E048873333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bwMode="auto">
          <a:xfrm>
            <a:off x="5659119" y="2241866"/>
            <a:ext cx="5712332" cy="2962593"/>
          </a:xfrm>
          <a:prstGeom prst="rect">
            <a:avLst/>
          </a:prstGeom>
          <a:noFill/>
          <a:ln>
            <a:noFill/>
          </a:ln>
        </p:spPr>
      </p:pic>
      <p:sp>
        <p:nvSpPr>
          <p:cNvPr id="11" name="Fußzeilenplatzhalter 10">
            <a:extLst>
              <a:ext uri="{FF2B5EF4-FFF2-40B4-BE49-F238E27FC236}">
                <a16:creationId xmlns:a16="http://schemas.microsoft.com/office/drawing/2014/main" id="{C534F6F8-5904-4EA7-B0D4-770CAD127B29}"/>
              </a:ext>
            </a:extLst>
          </p:cNvPr>
          <p:cNvSpPr>
            <a:spLocks noGrp="1"/>
          </p:cNvSpPr>
          <p:nvPr>
            <p:ph type="ftr" sz="quarter" idx="11"/>
          </p:nvPr>
        </p:nvSpPr>
        <p:spPr/>
        <p:txBody>
          <a:bodyPr/>
          <a:lstStyle/>
          <a:p>
            <a:r>
              <a:rPr lang="en-US" spc="200"/>
              <a:t>Tobias Walter</a:t>
            </a:r>
            <a:endParaRPr lang="en-US" spc="200" dirty="0"/>
          </a:p>
        </p:txBody>
      </p:sp>
      <p:sp>
        <p:nvSpPr>
          <p:cNvPr id="12" name="Foliennummernplatzhalter 11">
            <a:extLst>
              <a:ext uri="{FF2B5EF4-FFF2-40B4-BE49-F238E27FC236}">
                <a16:creationId xmlns:a16="http://schemas.microsoft.com/office/drawing/2014/main" id="{11AA0C22-B9B5-000E-8FE8-4F84D7B4D736}"/>
              </a:ext>
            </a:extLst>
          </p:cNvPr>
          <p:cNvSpPr>
            <a:spLocks noGrp="1"/>
          </p:cNvSpPr>
          <p:nvPr>
            <p:ph type="sldNum" sz="quarter" idx="12"/>
          </p:nvPr>
        </p:nvSpPr>
        <p:spPr/>
        <p:txBody>
          <a:bodyPr/>
          <a:lstStyle/>
          <a:p>
            <a:fld id="{0D309695-DEC3-40DA-9DF5-330280C9D0E8}" type="slidenum">
              <a:rPr lang="en-US" smtClean="0"/>
              <a:pPr/>
              <a:t>11</a:t>
            </a:fld>
            <a:endParaRPr lang="en-US" dirty="0"/>
          </a:p>
        </p:txBody>
      </p:sp>
    </p:spTree>
    <p:extLst>
      <p:ext uri="{BB962C8B-B14F-4D97-AF65-F5344CB8AC3E}">
        <p14:creationId xmlns:p14="http://schemas.microsoft.com/office/powerpoint/2010/main" val="319807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1999"/>
                                          </p:stCondLst>
                                        </p:cTn>
                                        <p:tgtEl>
                                          <p:spTgt spid="7">
                                            <p:graphicEl>
                                              <a:dgm id="{E90CD8FC-D4B2-424C-A890-032E2DBBA110}"/>
                                            </p:graphicEl>
                                          </p:spTgt>
                                        </p:tgtEl>
                                        <p:attrNameLst>
                                          <p:attrName>style.visibility</p:attrName>
                                        </p:attrNameLst>
                                      </p:cBhvr>
                                      <p:to>
                                        <p:strVal val="visible"/>
                                      </p:to>
                                    </p:set>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1999"/>
                                          </p:stCondLst>
                                        </p:cTn>
                                        <p:tgtEl>
                                          <p:spTgt spid="7">
                                            <p:graphicEl>
                                              <a:dgm id="{8AC4BAB0-D815-46D2-814C-7AA96B054B4B}"/>
                                            </p:graphicEl>
                                          </p:spTgt>
                                        </p:tgtEl>
                                        <p:attrNameLst>
                                          <p:attrName>style.visibility</p:attrName>
                                        </p:attrNameLst>
                                      </p:cBhvr>
                                      <p:to>
                                        <p:strVal val="visible"/>
                                      </p:to>
                                    </p:set>
                                  </p:childTnLst>
                                </p:cTn>
                              </p:par>
                            </p:childTnLst>
                          </p:cTn>
                        </p:par>
                        <p:par>
                          <p:cTn id="10" fill="hold">
                            <p:stCondLst>
                              <p:cond delay="4000"/>
                            </p:stCondLst>
                            <p:childTnLst>
                              <p:par>
                                <p:cTn id="11" presetID="1" presetClass="entr" presetSubtype="0" fill="hold" grpId="0" nodeType="afterEffect">
                                  <p:stCondLst>
                                    <p:cond delay="0"/>
                                  </p:stCondLst>
                                  <p:childTnLst>
                                    <p:set>
                                      <p:cBhvr>
                                        <p:cTn id="12" dur="1" fill="hold">
                                          <p:stCondLst>
                                            <p:cond delay="1999"/>
                                          </p:stCondLst>
                                        </p:cTn>
                                        <p:tgtEl>
                                          <p:spTgt spid="7">
                                            <p:graphicEl>
                                              <a:dgm id="{F2AF9DBE-E481-4C2C-A2FE-10F2ED1DACE0}"/>
                                            </p:graphicEl>
                                          </p:spTgt>
                                        </p:tgtEl>
                                        <p:attrNameLst>
                                          <p:attrName>style.visibility</p:attrName>
                                        </p:attrNameLst>
                                      </p:cBhvr>
                                      <p:to>
                                        <p:strVal val="visible"/>
                                      </p:to>
                                    </p:set>
                                  </p:childTnLst>
                                </p:cTn>
                              </p:par>
                            </p:childTnLst>
                          </p:cTn>
                        </p:par>
                        <p:par>
                          <p:cTn id="13" fill="hold">
                            <p:stCondLst>
                              <p:cond delay="6000"/>
                            </p:stCondLst>
                            <p:childTnLst>
                              <p:par>
                                <p:cTn id="14" presetID="1" presetClass="entr" presetSubtype="0" fill="hold" grpId="0" nodeType="afterEffect">
                                  <p:stCondLst>
                                    <p:cond delay="0"/>
                                  </p:stCondLst>
                                  <p:childTnLst>
                                    <p:set>
                                      <p:cBhvr>
                                        <p:cTn id="15" dur="1" fill="hold">
                                          <p:stCondLst>
                                            <p:cond delay="1999"/>
                                          </p:stCondLst>
                                        </p:cTn>
                                        <p:tgtEl>
                                          <p:spTgt spid="7">
                                            <p:graphicEl>
                                              <a:dgm id="{97D6EA4C-E7F8-4D2C-8992-7C889F27295F}"/>
                                            </p:graphicEl>
                                          </p:spTgt>
                                        </p:tgtEl>
                                        <p:attrNameLst>
                                          <p:attrName>style.visibility</p:attrName>
                                        </p:attrNameLst>
                                      </p:cBhvr>
                                      <p:to>
                                        <p:strVal val="visible"/>
                                      </p:to>
                                    </p:set>
                                  </p:childTnLst>
                                </p:cTn>
                              </p:par>
                            </p:childTnLst>
                          </p:cTn>
                        </p:par>
                        <p:par>
                          <p:cTn id="16" fill="hold">
                            <p:stCondLst>
                              <p:cond delay="8000"/>
                            </p:stCondLst>
                            <p:childTnLst>
                              <p:par>
                                <p:cTn id="17" presetID="1" presetClass="entr" presetSubtype="0" fill="hold" grpId="0" nodeType="afterEffect">
                                  <p:stCondLst>
                                    <p:cond delay="0"/>
                                  </p:stCondLst>
                                  <p:childTnLst>
                                    <p:set>
                                      <p:cBhvr>
                                        <p:cTn id="18" dur="1" fill="hold">
                                          <p:stCondLst>
                                            <p:cond delay="1999"/>
                                          </p:stCondLst>
                                        </p:cTn>
                                        <p:tgtEl>
                                          <p:spTgt spid="7">
                                            <p:graphicEl>
                                              <a:dgm id="{36B498EE-6CDE-4612-871C-D50420B9C640}"/>
                                            </p:graphicEl>
                                          </p:spTgt>
                                        </p:tgtEl>
                                        <p:attrNameLst>
                                          <p:attrName>style.visibility</p:attrName>
                                        </p:attrNameLst>
                                      </p:cBhvr>
                                      <p:to>
                                        <p:strVal val="visible"/>
                                      </p:to>
                                    </p:set>
                                  </p:childTnLst>
                                </p:cTn>
                              </p:par>
                            </p:childTnLst>
                          </p:cTn>
                        </p:par>
                        <p:par>
                          <p:cTn id="19" fill="hold">
                            <p:stCondLst>
                              <p:cond delay="10000"/>
                            </p:stCondLst>
                            <p:childTnLst>
                              <p:par>
                                <p:cTn id="20" presetID="1" presetClass="entr" presetSubtype="0" fill="hold" grpId="0" nodeType="afterEffect">
                                  <p:stCondLst>
                                    <p:cond delay="0"/>
                                  </p:stCondLst>
                                  <p:childTnLst>
                                    <p:set>
                                      <p:cBhvr>
                                        <p:cTn id="21" dur="1" fill="hold">
                                          <p:stCondLst>
                                            <p:cond delay="1999"/>
                                          </p:stCondLst>
                                        </p:cTn>
                                        <p:tgtEl>
                                          <p:spTgt spid="7">
                                            <p:graphicEl>
                                              <a:dgm id="{A19E34F5-90F2-4A17-9EC7-5C82EC9E6131}"/>
                                            </p:graphicEl>
                                          </p:spTgt>
                                        </p:tgtEl>
                                        <p:attrNameLst>
                                          <p:attrName>style.visibility</p:attrName>
                                        </p:attrNameLst>
                                      </p:cBhvr>
                                      <p:to>
                                        <p:strVal val="visible"/>
                                      </p:to>
                                    </p:set>
                                  </p:childTnLst>
                                </p:cTn>
                              </p:par>
                            </p:childTnLst>
                          </p:cTn>
                        </p:par>
                        <p:par>
                          <p:cTn id="22" fill="hold">
                            <p:stCondLst>
                              <p:cond delay="12000"/>
                            </p:stCondLst>
                            <p:childTnLst>
                              <p:par>
                                <p:cTn id="23" presetID="1" presetClass="entr" presetSubtype="0" fill="hold" grpId="0" nodeType="afterEffect">
                                  <p:stCondLst>
                                    <p:cond delay="0"/>
                                  </p:stCondLst>
                                  <p:childTnLst>
                                    <p:set>
                                      <p:cBhvr>
                                        <p:cTn id="24" dur="1" fill="hold">
                                          <p:stCondLst>
                                            <p:cond delay="1999"/>
                                          </p:stCondLst>
                                        </p:cTn>
                                        <p:tgtEl>
                                          <p:spTgt spid="7">
                                            <p:graphicEl>
                                              <a:dgm id="{FE7B112F-EFCC-40F5-9DF1-0189AAF05AE2}"/>
                                            </p:graphicEl>
                                          </p:spTgt>
                                        </p:tgtEl>
                                        <p:attrNameLst>
                                          <p:attrName>style.visibility</p:attrName>
                                        </p:attrNameLst>
                                      </p:cBhvr>
                                      <p:to>
                                        <p:strVal val="visible"/>
                                      </p:to>
                                    </p:set>
                                  </p:childTnLst>
                                </p:cTn>
                              </p:par>
                            </p:childTnLst>
                          </p:cTn>
                        </p:par>
                        <p:par>
                          <p:cTn id="25" fill="hold">
                            <p:stCondLst>
                              <p:cond delay="14000"/>
                            </p:stCondLst>
                            <p:childTnLst>
                              <p:par>
                                <p:cTn id="26" presetID="1" presetClass="entr" presetSubtype="0" fill="hold" grpId="0" nodeType="afterEffect">
                                  <p:stCondLst>
                                    <p:cond delay="0"/>
                                  </p:stCondLst>
                                  <p:childTnLst>
                                    <p:set>
                                      <p:cBhvr>
                                        <p:cTn id="27" dur="1" fill="hold">
                                          <p:stCondLst>
                                            <p:cond delay="1999"/>
                                          </p:stCondLst>
                                        </p:cTn>
                                        <p:tgtEl>
                                          <p:spTgt spid="7">
                                            <p:graphicEl>
                                              <a:dgm id="{8CD92F4B-4AF3-4DA5-AD96-8D7B9376D24E}"/>
                                            </p:graphicEl>
                                          </p:spTgt>
                                        </p:tgtEl>
                                        <p:attrNameLst>
                                          <p:attrName>style.visibility</p:attrName>
                                        </p:attrNameLst>
                                      </p:cBhvr>
                                      <p:to>
                                        <p:strVal val="visible"/>
                                      </p:to>
                                    </p:set>
                                  </p:childTnLst>
                                </p:cTn>
                              </p:par>
                            </p:childTnLst>
                          </p:cTn>
                        </p:par>
                        <p:par>
                          <p:cTn id="28" fill="hold">
                            <p:stCondLst>
                              <p:cond delay="16000"/>
                            </p:stCondLst>
                            <p:childTnLst>
                              <p:par>
                                <p:cTn id="29" presetID="1" presetClass="entr" presetSubtype="0" fill="hold" grpId="0" nodeType="afterEffect">
                                  <p:stCondLst>
                                    <p:cond delay="0"/>
                                  </p:stCondLst>
                                  <p:childTnLst>
                                    <p:set>
                                      <p:cBhvr>
                                        <p:cTn id="30" dur="1" fill="hold">
                                          <p:stCondLst>
                                            <p:cond delay="1999"/>
                                          </p:stCondLst>
                                        </p:cTn>
                                        <p:tgtEl>
                                          <p:spTgt spid="7">
                                            <p:graphicEl>
                                              <a:dgm id="{703D7EAE-4CB9-448D-8337-3D650A7EAF97}"/>
                                            </p:graphicEl>
                                          </p:spTgt>
                                        </p:tgtEl>
                                        <p:attrNameLst>
                                          <p:attrName>style.visibility</p:attrName>
                                        </p:attrNameLst>
                                      </p:cBhvr>
                                      <p:to>
                                        <p:strVal val="visible"/>
                                      </p:to>
                                    </p:set>
                                  </p:childTnLst>
                                </p:cTn>
                              </p:par>
                            </p:childTnLst>
                          </p:cTn>
                        </p:par>
                        <p:par>
                          <p:cTn id="31" fill="hold">
                            <p:stCondLst>
                              <p:cond delay="18000"/>
                            </p:stCondLst>
                            <p:childTnLst>
                              <p:par>
                                <p:cTn id="32" presetID="1" presetClass="entr" presetSubtype="0" fill="hold" grpId="0" nodeType="afterEffect">
                                  <p:stCondLst>
                                    <p:cond delay="0"/>
                                  </p:stCondLst>
                                  <p:childTnLst>
                                    <p:set>
                                      <p:cBhvr>
                                        <p:cTn id="33" dur="1" fill="hold">
                                          <p:stCondLst>
                                            <p:cond delay="1999"/>
                                          </p:stCondLst>
                                        </p:cTn>
                                        <p:tgtEl>
                                          <p:spTgt spid="7">
                                            <p:graphicEl>
                                              <a:dgm id="{6A5AEEFD-4F65-4B6A-B15C-5F4AA49A6660}"/>
                                            </p:graphicEl>
                                          </p:spTgt>
                                        </p:tgtEl>
                                        <p:attrNameLst>
                                          <p:attrName>style.visibility</p:attrName>
                                        </p:attrNameLst>
                                      </p:cBhvr>
                                      <p:to>
                                        <p:strVal val="visible"/>
                                      </p:to>
                                    </p:set>
                                  </p:childTnLst>
                                </p:cTn>
                              </p:par>
                            </p:childTnLst>
                          </p:cTn>
                        </p:par>
                        <p:par>
                          <p:cTn id="34" fill="hold">
                            <p:stCondLst>
                              <p:cond delay="20000"/>
                            </p:stCondLst>
                            <p:childTnLst>
                              <p:par>
                                <p:cTn id="35" presetID="1" presetClass="entr" presetSubtype="0" fill="hold" grpId="0" nodeType="afterEffect">
                                  <p:stCondLst>
                                    <p:cond delay="0"/>
                                  </p:stCondLst>
                                  <p:childTnLst>
                                    <p:set>
                                      <p:cBhvr>
                                        <p:cTn id="36" dur="1" fill="hold">
                                          <p:stCondLst>
                                            <p:cond delay="1999"/>
                                          </p:stCondLst>
                                        </p:cTn>
                                        <p:tgtEl>
                                          <p:spTgt spid="7">
                                            <p:graphicEl>
                                              <a:dgm id="{2A8FC2BC-6733-43BE-B03E-404DB2A827C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1141412" y="618518"/>
            <a:ext cx="5894387" cy="821662"/>
          </a:xfrm>
        </p:spPr>
        <p:txBody>
          <a:bodyPr anchor="b">
            <a:normAutofit/>
          </a:bodyPr>
          <a:lstStyle/>
          <a:p>
            <a:r>
              <a:rPr lang="de-DE" dirty="0"/>
              <a:t>HDFS CLIENT Schreibzugriff</a:t>
            </a:r>
          </a:p>
        </p:txBody>
      </p:sp>
      <p:graphicFrame>
        <p:nvGraphicFramePr>
          <p:cNvPr id="7" name="Inhaltsplatzhalter 6">
            <a:extLst>
              <a:ext uri="{FF2B5EF4-FFF2-40B4-BE49-F238E27FC236}">
                <a16:creationId xmlns:a16="http://schemas.microsoft.com/office/drawing/2014/main" id="{997E2D89-EBC1-D4D5-637B-562A28DFA8A6}"/>
              </a:ext>
            </a:extLst>
          </p:cNvPr>
          <p:cNvGraphicFramePr>
            <a:graphicFrameLocks noGrp="1"/>
          </p:cNvGraphicFramePr>
          <p:nvPr>
            <p:ph idx="1"/>
            <p:extLst>
              <p:ext uri="{D42A27DB-BD31-4B8C-83A1-F6EECF244321}">
                <p14:modId xmlns:p14="http://schemas.microsoft.com/office/powerpoint/2010/main" val="2416507445"/>
              </p:ext>
            </p:extLst>
          </p:nvPr>
        </p:nvGraphicFramePr>
        <p:xfrm>
          <a:off x="201612" y="2028505"/>
          <a:ext cx="5894388" cy="35417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Grafik 7">
            <a:extLst>
              <a:ext uri="{FF2B5EF4-FFF2-40B4-BE49-F238E27FC236}">
                <a16:creationId xmlns:a16="http://schemas.microsoft.com/office/drawing/2014/main" id="{10F62D09-0552-31F4-19E8-E048873333C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bwMode="auto">
          <a:xfrm>
            <a:off x="5691230" y="2241866"/>
            <a:ext cx="5648109" cy="2962593"/>
          </a:xfrm>
          <a:prstGeom prst="rect">
            <a:avLst/>
          </a:prstGeom>
          <a:noFill/>
          <a:ln>
            <a:noFill/>
          </a:ln>
        </p:spPr>
      </p:pic>
      <p:sp>
        <p:nvSpPr>
          <p:cNvPr id="11" name="Fußzeilenplatzhalter 10">
            <a:extLst>
              <a:ext uri="{FF2B5EF4-FFF2-40B4-BE49-F238E27FC236}">
                <a16:creationId xmlns:a16="http://schemas.microsoft.com/office/drawing/2014/main" id="{C534F6F8-5904-4EA7-B0D4-770CAD127B29}"/>
              </a:ext>
            </a:extLst>
          </p:cNvPr>
          <p:cNvSpPr>
            <a:spLocks noGrp="1"/>
          </p:cNvSpPr>
          <p:nvPr>
            <p:ph type="ftr" sz="quarter" idx="11"/>
          </p:nvPr>
        </p:nvSpPr>
        <p:spPr/>
        <p:txBody>
          <a:bodyPr/>
          <a:lstStyle/>
          <a:p>
            <a:r>
              <a:rPr lang="en-US" spc="200"/>
              <a:t>Tobias Walter</a:t>
            </a:r>
            <a:endParaRPr lang="en-US" spc="200" dirty="0"/>
          </a:p>
        </p:txBody>
      </p:sp>
      <p:sp>
        <p:nvSpPr>
          <p:cNvPr id="12" name="Foliennummernplatzhalter 11">
            <a:extLst>
              <a:ext uri="{FF2B5EF4-FFF2-40B4-BE49-F238E27FC236}">
                <a16:creationId xmlns:a16="http://schemas.microsoft.com/office/drawing/2014/main" id="{11AA0C22-B9B5-000E-8FE8-4F84D7B4D736}"/>
              </a:ext>
            </a:extLst>
          </p:cNvPr>
          <p:cNvSpPr>
            <a:spLocks noGrp="1"/>
          </p:cNvSpPr>
          <p:nvPr>
            <p:ph type="sldNum" sz="quarter" idx="12"/>
          </p:nvPr>
        </p:nvSpPr>
        <p:spPr/>
        <p:txBody>
          <a:bodyPr/>
          <a:lstStyle/>
          <a:p>
            <a:fld id="{0D309695-DEC3-40DA-9DF5-330280C9D0E8}" type="slidenum">
              <a:rPr lang="en-US" smtClean="0"/>
              <a:pPr/>
              <a:t>12</a:t>
            </a:fld>
            <a:endParaRPr lang="en-US" dirty="0"/>
          </a:p>
        </p:txBody>
      </p:sp>
    </p:spTree>
    <p:extLst>
      <p:ext uri="{BB962C8B-B14F-4D97-AF65-F5344CB8AC3E}">
        <p14:creationId xmlns:p14="http://schemas.microsoft.com/office/powerpoint/2010/main" val="684108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1999"/>
                                          </p:stCondLst>
                                        </p:cTn>
                                        <p:tgtEl>
                                          <p:spTgt spid="7">
                                            <p:graphicEl>
                                              <a:dgm id="{E90CD8FC-D4B2-424C-A890-032E2DBBA110}"/>
                                            </p:graphicEl>
                                          </p:spTgt>
                                        </p:tgtEl>
                                        <p:attrNameLst>
                                          <p:attrName>style.visibility</p:attrName>
                                        </p:attrNameLst>
                                      </p:cBhvr>
                                      <p:to>
                                        <p:strVal val="visible"/>
                                      </p:to>
                                    </p:set>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1999"/>
                                          </p:stCondLst>
                                        </p:cTn>
                                        <p:tgtEl>
                                          <p:spTgt spid="7">
                                            <p:graphicEl>
                                              <a:dgm id="{8AC4BAB0-D815-46D2-814C-7AA96B054B4B}"/>
                                            </p:graphicEl>
                                          </p:spTgt>
                                        </p:tgtEl>
                                        <p:attrNameLst>
                                          <p:attrName>style.visibility</p:attrName>
                                        </p:attrNameLst>
                                      </p:cBhvr>
                                      <p:to>
                                        <p:strVal val="visible"/>
                                      </p:to>
                                    </p:set>
                                  </p:childTnLst>
                                </p:cTn>
                              </p:par>
                            </p:childTnLst>
                          </p:cTn>
                        </p:par>
                        <p:par>
                          <p:cTn id="10" fill="hold">
                            <p:stCondLst>
                              <p:cond delay="4000"/>
                            </p:stCondLst>
                            <p:childTnLst>
                              <p:par>
                                <p:cTn id="11" presetID="1" presetClass="entr" presetSubtype="0" fill="hold" grpId="0" nodeType="afterEffect">
                                  <p:stCondLst>
                                    <p:cond delay="0"/>
                                  </p:stCondLst>
                                  <p:childTnLst>
                                    <p:set>
                                      <p:cBhvr>
                                        <p:cTn id="12" dur="1" fill="hold">
                                          <p:stCondLst>
                                            <p:cond delay="1999"/>
                                          </p:stCondLst>
                                        </p:cTn>
                                        <p:tgtEl>
                                          <p:spTgt spid="7">
                                            <p:graphicEl>
                                              <a:dgm id="{F2AF9DBE-E481-4C2C-A2FE-10F2ED1DACE0}"/>
                                            </p:graphicEl>
                                          </p:spTgt>
                                        </p:tgtEl>
                                        <p:attrNameLst>
                                          <p:attrName>style.visibility</p:attrName>
                                        </p:attrNameLst>
                                      </p:cBhvr>
                                      <p:to>
                                        <p:strVal val="visible"/>
                                      </p:to>
                                    </p:set>
                                  </p:childTnLst>
                                </p:cTn>
                              </p:par>
                            </p:childTnLst>
                          </p:cTn>
                        </p:par>
                        <p:par>
                          <p:cTn id="13" fill="hold">
                            <p:stCondLst>
                              <p:cond delay="6000"/>
                            </p:stCondLst>
                            <p:childTnLst>
                              <p:par>
                                <p:cTn id="14" presetID="1" presetClass="entr" presetSubtype="0" fill="hold" grpId="0" nodeType="afterEffect">
                                  <p:stCondLst>
                                    <p:cond delay="0"/>
                                  </p:stCondLst>
                                  <p:childTnLst>
                                    <p:set>
                                      <p:cBhvr>
                                        <p:cTn id="15" dur="1" fill="hold">
                                          <p:stCondLst>
                                            <p:cond delay="1999"/>
                                          </p:stCondLst>
                                        </p:cTn>
                                        <p:tgtEl>
                                          <p:spTgt spid="7">
                                            <p:graphicEl>
                                              <a:dgm id="{97D6EA4C-E7F8-4D2C-8992-7C889F27295F}"/>
                                            </p:graphicEl>
                                          </p:spTgt>
                                        </p:tgtEl>
                                        <p:attrNameLst>
                                          <p:attrName>style.visibility</p:attrName>
                                        </p:attrNameLst>
                                      </p:cBhvr>
                                      <p:to>
                                        <p:strVal val="visible"/>
                                      </p:to>
                                    </p:set>
                                  </p:childTnLst>
                                </p:cTn>
                              </p:par>
                            </p:childTnLst>
                          </p:cTn>
                        </p:par>
                        <p:par>
                          <p:cTn id="16" fill="hold">
                            <p:stCondLst>
                              <p:cond delay="8000"/>
                            </p:stCondLst>
                            <p:childTnLst>
                              <p:par>
                                <p:cTn id="17" presetID="1" presetClass="entr" presetSubtype="0" fill="hold" grpId="0" nodeType="afterEffect">
                                  <p:stCondLst>
                                    <p:cond delay="0"/>
                                  </p:stCondLst>
                                  <p:childTnLst>
                                    <p:set>
                                      <p:cBhvr>
                                        <p:cTn id="18" dur="1" fill="hold">
                                          <p:stCondLst>
                                            <p:cond delay="1999"/>
                                          </p:stCondLst>
                                        </p:cTn>
                                        <p:tgtEl>
                                          <p:spTgt spid="7">
                                            <p:graphicEl>
                                              <a:dgm id="{36B498EE-6CDE-4612-871C-D50420B9C640}"/>
                                            </p:graphicEl>
                                          </p:spTgt>
                                        </p:tgtEl>
                                        <p:attrNameLst>
                                          <p:attrName>style.visibility</p:attrName>
                                        </p:attrNameLst>
                                      </p:cBhvr>
                                      <p:to>
                                        <p:strVal val="visible"/>
                                      </p:to>
                                    </p:set>
                                  </p:childTnLst>
                                </p:cTn>
                              </p:par>
                            </p:childTnLst>
                          </p:cTn>
                        </p:par>
                        <p:par>
                          <p:cTn id="19" fill="hold">
                            <p:stCondLst>
                              <p:cond delay="10000"/>
                            </p:stCondLst>
                            <p:childTnLst>
                              <p:par>
                                <p:cTn id="20" presetID="1" presetClass="entr" presetSubtype="0" fill="hold" grpId="0" nodeType="afterEffect">
                                  <p:stCondLst>
                                    <p:cond delay="0"/>
                                  </p:stCondLst>
                                  <p:childTnLst>
                                    <p:set>
                                      <p:cBhvr>
                                        <p:cTn id="21" dur="1" fill="hold">
                                          <p:stCondLst>
                                            <p:cond delay="1999"/>
                                          </p:stCondLst>
                                        </p:cTn>
                                        <p:tgtEl>
                                          <p:spTgt spid="7">
                                            <p:graphicEl>
                                              <a:dgm id="{A19E34F5-90F2-4A17-9EC7-5C82EC9E6131}"/>
                                            </p:graphicEl>
                                          </p:spTgt>
                                        </p:tgtEl>
                                        <p:attrNameLst>
                                          <p:attrName>style.visibility</p:attrName>
                                        </p:attrNameLst>
                                      </p:cBhvr>
                                      <p:to>
                                        <p:strVal val="visible"/>
                                      </p:to>
                                    </p:set>
                                  </p:childTnLst>
                                </p:cTn>
                              </p:par>
                            </p:childTnLst>
                          </p:cTn>
                        </p:par>
                        <p:par>
                          <p:cTn id="22" fill="hold">
                            <p:stCondLst>
                              <p:cond delay="12000"/>
                            </p:stCondLst>
                            <p:childTnLst>
                              <p:par>
                                <p:cTn id="23" presetID="1" presetClass="entr" presetSubtype="0" fill="hold" grpId="0" nodeType="afterEffect">
                                  <p:stCondLst>
                                    <p:cond delay="0"/>
                                  </p:stCondLst>
                                  <p:childTnLst>
                                    <p:set>
                                      <p:cBhvr>
                                        <p:cTn id="24" dur="1" fill="hold">
                                          <p:stCondLst>
                                            <p:cond delay="1999"/>
                                          </p:stCondLst>
                                        </p:cTn>
                                        <p:tgtEl>
                                          <p:spTgt spid="7">
                                            <p:graphicEl>
                                              <a:dgm id="{FE7B112F-EFCC-40F5-9DF1-0189AAF05AE2}"/>
                                            </p:graphicEl>
                                          </p:spTgt>
                                        </p:tgtEl>
                                        <p:attrNameLst>
                                          <p:attrName>style.visibility</p:attrName>
                                        </p:attrNameLst>
                                      </p:cBhvr>
                                      <p:to>
                                        <p:strVal val="visible"/>
                                      </p:to>
                                    </p:set>
                                  </p:childTnLst>
                                </p:cTn>
                              </p:par>
                            </p:childTnLst>
                          </p:cTn>
                        </p:par>
                        <p:par>
                          <p:cTn id="25" fill="hold">
                            <p:stCondLst>
                              <p:cond delay="14000"/>
                            </p:stCondLst>
                            <p:childTnLst>
                              <p:par>
                                <p:cTn id="26" presetID="1" presetClass="entr" presetSubtype="0" fill="hold" grpId="0" nodeType="afterEffect">
                                  <p:stCondLst>
                                    <p:cond delay="0"/>
                                  </p:stCondLst>
                                  <p:childTnLst>
                                    <p:set>
                                      <p:cBhvr>
                                        <p:cTn id="27" dur="1" fill="hold">
                                          <p:stCondLst>
                                            <p:cond delay="1999"/>
                                          </p:stCondLst>
                                        </p:cTn>
                                        <p:tgtEl>
                                          <p:spTgt spid="7">
                                            <p:graphicEl>
                                              <a:dgm id="{8CD92F4B-4AF3-4DA5-AD96-8D7B9376D24E}"/>
                                            </p:graphicEl>
                                          </p:spTgt>
                                        </p:tgtEl>
                                        <p:attrNameLst>
                                          <p:attrName>style.visibility</p:attrName>
                                        </p:attrNameLst>
                                      </p:cBhvr>
                                      <p:to>
                                        <p:strVal val="visible"/>
                                      </p:to>
                                    </p:set>
                                  </p:childTnLst>
                                </p:cTn>
                              </p:par>
                            </p:childTnLst>
                          </p:cTn>
                        </p:par>
                        <p:par>
                          <p:cTn id="28" fill="hold">
                            <p:stCondLst>
                              <p:cond delay="16000"/>
                            </p:stCondLst>
                            <p:childTnLst>
                              <p:par>
                                <p:cTn id="29" presetID="1" presetClass="entr" presetSubtype="0" fill="hold" grpId="0" nodeType="afterEffect">
                                  <p:stCondLst>
                                    <p:cond delay="0"/>
                                  </p:stCondLst>
                                  <p:childTnLst>
                                    <p:set>
                                      <p:cBhvr>
                                        <p:cTn id="30" dur="1" fill="hold">
                                          <p:stCondLst>
                                            <p:cond delay="1999"/>
                                          </p:stCondLst>
                                        </p:cTn>
                                        <p:tgtEl>
                                          <p:spTgt spid="7">
                                            <p:graphicEl>
                                              <a:dgm id="{703D7EAE-4CB9-448D-8337-3D650A7EAF97}"/>
                                            </p:graphicEl>
                                          </p:spTgt>
                                        </p:tgtEl>
                                        <p:attrNameLst>
                                          <p:attrName>style.visibility</p:attrName>
                                        </p:attrNameLst>
                                      </p:cBhvr>
                                      <p:to>
                                        <p:strVal val="visible"/>
                                      </p:to>
                                    </p:set>
                                  </p:childTnLst>
                                </p:cTn>
                              </p:par>
                            </p:childTnLst>
                          </p:cTn>
                        </p:par>
                        <p:par>
                          <p:cTn id="31" fill="hold">
                            <p:stCondLst>
                              <p:cond delay="18000"/>
                            </p:stCondLst>
                            <p:childTnLst>
                              <p:par>
                                <p:cTn id="32" presetID="1" presetClass="entr" presetSubtype="0" fill="hold" grpId="0" nodeType="afterEffect">
                                  <p:stCondLst>
                                    <p:cond delay="0"/>
                                  </p:stCondLst>
                                  <p:childTnLst>
                                    <p:set>
                                      <p:cBhvr>
                                        <p:cTn id="33" dur="1" fill="hold">
                                          <p:stCondLst>
                                            <p:cond delay="1999"/>
                                          </p:stCondLst>
                                        </p:cTn>
                                        <p:tgtEl>
                                          <p:spTgt spid="7">
                                            <p:graphicEl>
                                              <a:dgm id="{6A5AEEFD-4F65-4B6A-B15C-5F4AA49A6660}"/>
                                            </p:graphicEl>
                                          </p:spTgt>
                                        </p:tgtEl>
                                        <p:attrNameLst>
                                          <p:attrName>style.visibility</p:attrName>
                                        </p:attrNameLst>
                                      </p:cBhvr>
                                      <p:to>
                                        <p:strVal val="visible"/>
                                      </p:to>
                                    </p:set>
                                  </p:childTnLst>
                                </p:cTn>
                              </p:par>
                            </p:childTnLst>
                          </p:cTn>
                        </p:par>
                        <p:par>
                          <p:cTn id="34" fill="hold">
                            <p:stCondLst>
                              <p:cond delay="20000"/>
                            </p:stCondLst>
                            <p:childTnLst>
                              <p:par>
                                <p:cTn id="35" presetID="1" presetClass="entr" presetSubtype="0" fill="hold" grpId="0" nodeType="afterEffect">
                                  <p:stCondLst>
                                    <p:cond delay="0"/>
                                  </p:stCondLst>
                                  <p:childTnLst>
                                    <p:set>
                                      <p:cBhvr>
                                        <p:cTn id="36" dur="1" fill="hold">
                                          <p:stCondLst>
                                            <p:cond delay="1999"/>
                                          </p:stCondLst>
                                        </p:cTn>
                                        <p:tgtEl>
                                          <p:spTgt spid="7">
                                            <p:graphicEl>
                                              <a:dgm id="{2A8FC2BC-6733-43BE-B03E-404DB2A827C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1141413" y="618518"/>
            <a:ext cx="9905998" cy="1478570"/>
          </a:xfrm>
        </p:spPr>
        <p:txBody>
          <a:bodyPr>
            <a:normAutofit/>
          </a:bodyPr>
          <a:lstStyle/>
          <a:p>
            <a:r>
              <a:rPr lang="de-DE" dirty="0" err="1"/>
              <a:t>DatenReplikation</a:t>
            </a:r>
            <a:endParaRPr lang="de-DE" dirty="0"/>
          </a:p>
        </p:txBody>
      </p:sp>
      <p:pic>
        <p:nvPicPr>
          <p:cNvPr id="5" name="Inhaltsplatzhalter 4" descr="Ein Bild, das Text, Screenshot enthält.&#10;&#10;Automatisch generierte Beschreibung">
            <a:extLst>
              <a:ext uri="{FF2B5EF4-FFF2-40B4-BE49-F238E27FC236}">
                <a16:creationId xmlns:a16="http://schemas.microsoft.com/office/drawing/2014/main" id="{FDFC2047-2631-DE30-57AF-294B8F197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965" y="2249487"/>
            <a:ext cx="4644125" cy="354965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9" name="Content Placeholder 8">
            <a:extLst>
              <a:ext uri="{FF2B5EF4-FFF2-40B4-BE49-F238E27FC236}">
                <a16:creationId xmlns:a16="http://schemas.microsoft.com/office/drawing/2014/main" id="{5A104E7E-F1F2-E80F-0EC9-887E43F57E42}"/>
              </a:ext>
            </a:extLst>
          </p:cNvPr>
          <p:cNvSpPr>
            <a:spLocks noGrp="1"/>
          </p:cNvSpPr>
          <p:nvPr>
            <p:ph idx="1"/>
          </p:nvPr>
        </p:nvSpPr>
        <p:spPr>
          <a:xfrm>
            <a:off x="6336727" y="2249487"/>
            <a:ext cx="4710683" cy="3541714"/>
          </a:xfrm>
        </p:spPr>
        <p:txBody>
          <a:bodyPr>
            <a:normAutofit/>
          </a:bodyPr>
          <a:lstStyle/>
          <a:p>
            <a:pPr>
              <a:lnSpc>
                <a:spcPct val="110000"/>
              </a:lnSpc>
              <a:buFont typeface="Arial" panose="020B0604020202020204" pitchFamily="34" charset="0"/>
              <a:buChar char="•"/>
            </a:pPr>
            <a:r>
              <a:rPr lang="de-DE" sz="1200" b="0" i="0" dirty="0">
                <a:effectLst/>
                <a:latin typeface="Söhne"/>
              </a:rPr>
              <a:t>Die Platzierung wird vom </a:t>
            </a:r>
            <a:r>
              <a:rPr lang="de-DE" sz="1200" b="0" i="0" dirty="0" err="1">
                <a:effectLst/>
                <a:latin typeface="Söhne"/>
              </a:rPr>
              <a:t>Namenode</a:t>
            </a:r>
            <a:r>
              <a:rPr lang="de-DE" sz="1200" b="0" i="0" dirty="0">
                <a:effectLst/>
                <a:latin typeface="Söhne"/>
              </a:rPr>
              <a:t> gesteuert, der die Rack-Zugehörigkeit jedes </a:t>
            </a:r>
            <a:r>
              <a:rPr lang="de-DE" sz="1200" b="0" i="0" dirty="0" err="1">
                <a:effectLst/>
                <a:latin typeface="Söhne"/>
              </a:rPr>
              <a:t>Datanode</a:t>
            </a:r>
            <a:r>
              <a:rPr lang="de-DE" sz="1200" b="0" i="0" dirty="0">
                <a:effectLst/>
                <a:latin typeface="Söhne"/>
              </a:rPr>
              <a:t> bestimmt.</a:t>
            </a:r>
          </a:p>
          <a:p>
            <a:pPr>
              <a:lnSpc>
                <a:spcPct val="110000"/>
              </a:lnSpc>
              <a:buFont typeface="Arial" panose="020B0604020202020204" pitchFamily="34" charset="0"/>
              <a:buChar char="•"/>
            </a:pPr>
            <a:r>
              <a:rPr lang="de-DE" sz="1200" b="0" i="0" dirty="0">
                <a:effectLst/>
                <a:latin typeface="Söhne"/>
              </a:rPr>
              <a:t>Bei einem Replikationsfaktor von 3 legt HDFS eine Replik auf der lokalen Maschine oder einem zufälligen </a:t>
            </a:r>
            <a:r>
              <a:rPr lang="de-DE" sz="1200" b="0" i="0" dirty="0" err="1">
                <a:effectLst/>
                <a:latin typeface="Söhne"/>
              </a:rPr>
              <a:t>Datanode</a:t>
            </a:r>
            <a:r>
              <a:rPr lang="de-DE" sz="1200" b="0" i="0" dirty="0">
                <a:effectLst/>
                <a:latin typeface="Söhne"/>
              </a:rPr>
              <a:t> im selben Knoten wie der Schreibvorgang ab.</a:t>
            </a:r>
          </a:p>
          <a:p>
            <a:pPr>
              <a:lnSpc>
                <a:spcPct val="110000"/>
              </a:lnSpc>
              <a:buFont typeface="Arial" panose="020B0604020202020204" pitchFamily="34" charset="0"/>
              <a:buChar char="•"/>
            </a:pPr>
            <a:r>
              <a:rPr lang="de-DE" sz="1200" b="0" i="0" dirty="0">
                <a:effectLst/>
                <a:latin typeface="Söhne"/>
              </a:rPr>
              <a:t>Zwei weitere Replikate werden auf unterschiedlichen Knoten in einem anderen Rack platziert.</a:t>
            </a:r>
          </a:p>
          <a:p>
            <a:pPr>
              <a:lnSpc>
                <a:spcPct val="110000"/>
              </a:lnSpc>
              <a:buFont typeface="Arial" panose="020B0604020202020204" pitchFamily="34" charset="0"/>
              <a:buChar char="•"/>
            </a:pPr>
            <a:r>
              <a:rPr lang="de-DE" sz="1200" b="0" i="0" dirty="0">
                <a:effectLst/>
                <a:latin typeface="Söhne"/>
              </a:rPr>
              <a:t>Bei einem Replikationsfaktor größer als 3 werden zusätzliche Replikate zufällig platziert.</a:t>
            </a:r>
          </a:p>
          <a:p>
            <a:pPr>
              <a:lnSpc>
                <a:spcPct val="110000"/>
              </a:lnSpc>
              <a:buFont typeface="Arial" panose="020B0604020202020204" pitchFamily="34" charset="0"/>
              <a:buChar char="•"/>
            </a:pPr>
            <a:r>
              <a:rPr lang="de-DE" sz="1200" b="0" i="0" dirty="0">
                <a:effectLst/>
                <a:latin typeface="Söhne"/>
              </a:rPr>
              <a:t>Anzahl der Replikate pro Rack bleibt unter Obergrenze, die durch die Formel (Replikate - 1) / Racks + 2 gegeben ist.</a:t>
            </a:r>
          </a:p>
          <a:p>
            <a:pPr>
              <a:lnSpc>
                <a:spcPct val="110000"/>
              </a:lnSpc>
              <a:buFont typeface="Arial" panose="020B0604020202020204" pitchFamily="34" charset="0"/>
              <a:buChar char="•"/>
            </a:pPr>
            <a:r>
              <a:rPr lang="de-DE" sz="1200" b="0" i="0" dirty="0">
                <a:effectLst/>
                <a:latin typeface="Söhne"/>
              </a:rPr>
              <a:t>Platzierungsstrategie: Gleichgewicht zwischen Schreibperformance, Datenzuverlässigkeit und Lesegeschwindigkeit</a:t>
            </a:r>
            <a:endParaRPr lang="en-US" sz="1200" dirty="0"/>
          </a:p>
        </p:txBody>
      </p:sp>
      <p:sp>
        <p:nvSpPr>
          <p:cNvPr id="7" name="Fußzeilenplatzhalter 6">
            <a:extLst>
              <a:ext uri="{FF2B5EF4-FFF2-40B4-BE49-F238E27FC236}">
                <a16:creationId xmlns:a16="http://schemas.microsoft.com/office/drawing/2014/main" id="{7F72A7B3-8191-8AC9-9A80-413747E0855A}"/>
              </a:ext>
            </a:extLst>
          </p:cNvPr>
          <p:cNvSpPr>
            <a:spLocks noGrp="1"/>
          </p:cNvSpPr>
          <p:nvPr>
            <p:ph type="ftr" sz="quarter" idx="11"/>
          </p:nvPr>
        </p:nvSpPr>
        <p:spPr/>
        <p:txBody>
          <a:bodyPr/>
          <a:lstStyle/>
          <a:p>
            <a:r>
              <a:rPr lang="en-US" spc="200"/>
              <a:t>Tobias Walter</a:t>
            </a:r>
            <a:endParaRPr lang="en-US" spc="200" dirty="0"/>
          </a:p>
        </p:txBody>
      </p:sp>
      <p:sp>
        <p:nvSpPr>
          <p:cNvPr id="8" name="Foliennummernplatzhalter 7">
            <a:extLst>
              <a:ext uri="{FF2B5EF4-FFF2-40B4-BE49-F238E27FC236}">
                <a16:creationId xmlns:a16="http://schemas.microsoft.com/office/drawing/2014/main" id="{A3316A53-75FC-940B-17D6-9B967294FA90}"/>
              </a:ext>
            </a:extLst>
          </p:cNvPr>
          <p:cNvSpPr>
            <a:spLocks noGrp="1"/>
          </p:cNvSpPr>
          <p:nvPr>
            <p:ph type="sldNum" sz="quarter" idx="12"/>
          </p:nvPr>
        </p:nvSpPr>
        <p:spPr/>
        <p:txBody>
          <a:bodyPr/>
          <a:lstStyle/>
          <a:p>
            <a:fld id="{0D309695-DEC3-40DA-9DF5-330280C9D0E8}" type="slidenum">
              <a:rPr lang="en-US" smtClean="0"/>
              <a:pPr/>
              <a:t>13</a:t>
            </a:fld>
            <a:endParaRPr lang="en-US" dirty="0"/>
          </a:p>
        </p:txBody>
      </p:sp>
    </p:spTree>
    <p:extLst>
      <p:ext uri="{BB962C8B-B14F-4D97-AF65-F5344CB8AC3E}">
        <p14:creationId xmlns:p14="http://schemas.microsoft.com/office/powerpoint/2010/main" val="4079004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152" name="Rectangle 151">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4" name="Group 153">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55"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56"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7"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8"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9"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0"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1"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2"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3"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4"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5"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6"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67"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8"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9"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0"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1"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72"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3"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4"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5"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6"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7"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8"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9"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0"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1"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1141413" y="1082673"/>
            <a:ext cx="2869416" cy="4708528"/>
          </a:xfrm>
        </p:spPr>
        <p:txBody>
          <a:bodyPr>
            <a:normAutofit/>
          </a:bodyPr>
          <a:lstStyle/>
          <a:p>
            <a:pPr algn="r"/>
            <a:r>
              <a:rPr lang="de-DE" sz="2500" dirty="0"/>
              <a:t>Fehlerprüfungen</a:t>
            </a:r>
          </a:p>
        </p:txBody>
      </p:sp>
      <p:cxnSp>
        <p:nvCxnSpPr>
          <p:cNvPr id="183" name="Straight Connector 182">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a:xfrm>
            <a:off x="5297763" y="1082673"/>
            <a:ext cx="5751237" cy="4708528"/>
          </a:xfrm>
        </p:spPr>
        <p:txBody>
          <a:bodyPr anchor="ctr">
            <a:normAutofit/>
          </a:bodyPr>
          <a:lstStyle/>
          <a:p>
            <a:pPr>
              <a:lnSpc>
                <a:spcPct val="110000"/>
              </a:lnSpc>
              <a:buFont typeface="Arial" panose="020B0604020202020204" pitchFamily="34" charset="0"/>
              <a:buChar char="•"/>
            </a:pPr>
            <a:r>
              <a:rPr lang="de-DE" sz="1500" b="0" i="0" dirty="0">
                <a:effectLst/>
                <a:latin typeface="Söhne"/>
              </a:rPr>
              <a:t>HDFS (Hadoop Distributed File System) verwendet Prüfsummen (Checksummen), um Fehler zu erkennen.</a:t>
            </a:r>
          </a:p>
          <a:p>
            <a:pPr>
              <a:lnSpc>
                <a:spcPct val="110000"/>
              </a:lnSpc>
              <a:buFont typeface="Arial" panose="020B0604020202020204" pitchFamily="34" charset="0"/>
              <a:buChar char="•"/>
            </a:pPr>
            <a:r>
              <a:rPr lang="de-DE" sz="1500" b="0" i="0" dirty="0">
                <a:effectLst/>
                <a:latin typeface="Söhne"/>
              </a:rPr>
              <a:t>Eine Checksumme wird automatisch für alle geschriebenen Daten erstellt und beim Lesen der Daten überprüft.</a:t>
            </a:r>
          </a:p>
          <a:p>
            <a:pPr>
              <a:lnSpc>
                <a:spcPct val="110000"/>
              </a:lnSpc>
              <a:buFont typeface="Arial" panose="020B0604020202020204" pitchFamily="34" charset="0"/>
              <a:buChar char="•"/>
            </a:pPr>
            <a:r>
              <a:rPr lang="de-DE" sz="1500" b="0" i="0" dirty="0">
                <a:effectLst/>
                <a:latin typeface="Söhne"/>
              </a:rPr>
              <a:t>Datenknoten (</a:t>
            </a:r>
            <a:r>
              <a:rPr lang="de-DE" sz="1500" b="0" i="0" dirty="0" err="1">
                <a:effectLst/>
                <a:latin typeface="Söhne"/>
              </a:rPr>
              <a:t>Datanodes</a:t>
            </a:r>
            <a:r>
              <a:rPr lang="de-DE" sz="1500" b="0" i="0" dirty="0">
                <a:effectLst/>
                <a:latin typeface="Söhne"/>
              </a:rPr>
              <a:t>) verifizieren Daten und Prüfsummen vor der Speicherung und melden Fehler an den Client.</a:t>
            </a:r>
          </a:p>
          <a:p>
            <a:pPr>
              <a:lnSpc>
                <a:spcPct val="110000"/>
              </a:lnSpc>
              <a:buFont typeface="Arial" panose="020B0604020202020204" pitchFamily="34" charset="0"/>
              <a:buChar char="•"/>
            </a:pPr>
            <a:r>
              <a:rPr lang="de-DE" sz="1500" b="0" i="0" dirty="0">
                <a:effectLst/>
                <a:latin typeface="Söhne"/>
              </a:rPr>
              <a:t>Clients überprüfen ebenfalls die Checksummen beim Lesen und vergleichen sie mit den auf den Datenknoten gespeicherten Werten.</a:t>
            </a:r>
          </a:p>
          <a:p>
            <a:pPr>
              <a:lnSpc>
                <a:spcPct val="110000"/>
              </a:lnSpc>
              <a:buFont typeface="Arial" panose="020B0604020202020204" pitchFamily="34" charset="0"/>
              <a:buChar char="•"/>
            </a:pPr>
            <a:r>
              <a:rPr lang="de-DE" sz="1500" b="0" i="0" dirty="0">
                <a:effectLst/>
                <a:latin typeface="Söhne"/>
              </a:rPr>
              <a:t>Bei einem Fehler beim Lesen eines Blocks meldet der Client den betroffenen Block und Datenknoten an den </a:t>
            </a:r>
            <a:r>
              <a:rPr lang="de-DE" sz="1500" b="0" i="0" dirty="0" err="1">
                <a:effectLst/>
                <a:latin typeface="Söhne"/>
              </a:rPr>
              <a:t>Namenode</a:t>
            </a:r>
            <a:r>
              <a:rPr lang="de-DE" sz="1500" b="0" i="0" dirty="0">
                <a:effectLst/>
                <a:latin typeface="Söhne"/>
              </a:rPr>
              <a:t>.</a:t>
            </a:r>
          </a:p>
          <a:p>
            <a:pPr>
              <a:lnSpc>
                <a:spcPct val="110000"/>
              </a:lnSpc>
            </a:pPr>
            <a:r>
              <a:rPr lang="de-DE" sz="1500" b="0" i="0" dirty="0">
                <a:effectLst/>
                <a:latin typeface="Söhne"/>
              </a:rPr>
              <a:t>Periodische </a:t>
            </a:r>
            <a:r>
              <a:rPr lang="de-DE" sz="1500" b="0" i="0" dirty="0" err="1">
                <a:effectLst/>
                <a:latin typeface="Söhne"/>
              </a:rPr>
              <a:t>Heartbeat</a:t>
            </a:r>
            <a:r>
              <a:rPr lang="de-DE" sz="1500" b="0" i="0" dirty="0">
                <a:effectLst/>
                <a:latin typeface="Söhne"/>
              </a:rPr>
              <a:t>-Nachrichten werden von jedem </a:t>
            </a:r>
            <a:r>
              <a:rPr lang="de-DE" sz="1500" b="0" i="0" dirty="0" err="1">
                <a:effectLst/>
                <a:latin typeface="Söhne"/>
              </a:rPr>
              <a:t>Datanode</a:t>
            </a:r>
            <a:r>
              <a:rPr lang="de-DE" sz="1500" b="0" i="0" dirty="0">
                <a:effectLst/>
                <a:latin typeface="Söhne"/>
              </a:rPr>
              <a:t> an den </a:t>
            </a:r>
            <a:r>
              <a:rPr lang="de-DE" sz="1500" b="0" i="0" dirty="0" err="1">
                <a:effectLst/>
                <a:latin typeface="Söhne"/>
              </a:rPr>
              <a:t>Namenode</a:t>
            </a:r>
            <a:r>
              <a:rPr lang="de-DE" sz="1500" b="0" i="0" dirty="0">
                <a:effectLst/>
                <a:latin typeface="Söhne"/>
              </a:rPr>
              <a:t> gesendet, um die Erreichbarkeit der </a:t>
            </a:r>
            <a:r>
              <a:rPr lang="de-DE" sz="1500" b="0" i="0" dirty="0" err="1">
                <a:effectLst/>
                <a:latin typeface="Söhne"/>
              </a:rPr>
              <a:t>Datanodes</a:t>
            </a:r>
            <a:r>
              <a:rPr lang="de-DE" sz="1500" b="0" i="0" dirty="0">
                <a:effectLst/>
                <a:latin typeface="Söhne"/>
              </a:rPr>
              <a:t> zu überprüfen.</a:t>
            </a:r>
          </a:p>
          <a:p>
            <a:pPr marL="0" indent="0">
              <a:lnSpc>
                <a:spcPct val="110000"/>
              </a:lnSpc>
              <a:buNone/>
            </a:pPr>
            <a:endParaRPr lang="de-DE" sz="1500" dirty="0"/>
          </a:p>
        </p:txBody>
      </p:sp>
      <p:grpSp>
        <p:nvGrpSpPr>
          <p:cNvPr id="185" name="Group 184">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186"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7"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8"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9"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0"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1"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2"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3"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4"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5"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sp>
        <p:nvSpPr>
          <p:cNvPr id="5" name="Fußzeilenplatzhalter 4">
            <a:extLst>
              <a:ext uri="{FF2B5EF4-FFF2-40B4-BE49-F238E27FC236}">
                <a16:creationId xmlns:a16="http://schemas.microsoft.com/office/drawing/2014/main" id="{FC89EA10-975E-B992-2949-04A1F85EFC68}"/>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0FAB573D-90C1-D215-AF58-8BCD8CD547FC}"/>
              </a:ext>
            </a:extLst>
          </p:cNvPr>
          <p:cNvSpPr>
            <a:spLocks noGrp="1"/>
          </p:cNvSpPr>
          <p:nvPr>
            <p:ph type="sldNum" sz="quarter" idx="12"/>
          </p:nvPr>
        </p:nvSpPr>
        <p:spPr/>
        <p:txBody>
          <a:bodyPr/>
          <a:lstStyle/>
          <a:p>
            <a:fld id="{0D309695-DEC3-40DA-9DF5-330280C9D0E8}" type="slidenum">
              <a:rPr lang="en-US" smtClean="0"/>
              <a:pPr/>
              <a:t>14</a:t>
            </a:fld>
            <a:endParaRPr lang="en-US" dirty="0"/>
          </a:p>
        </p:txBody>
      </p:sp>
    </p:spTree>
    <p:extLst>
      <p:ext uri="{BB962C8B-B14F-4D97-AF65-F5344CB8AC3E}">
        <p14:creationId xmlns:p14="http://schemas.microsoft.com/office/powerpoint/2010/main" val="3983611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104" name="Rectangle 103">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6" name="Group 105">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07"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08"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09"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0"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1"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2"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3"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4"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5"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6"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7"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18"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19"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0"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1"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2"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3"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24"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5"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6"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7"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8"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29"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30"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31"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32"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33"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sp>
        <p:nvSpPr>
          <p:cNvPr id="2" name="Titel 1">
            <a:extLst>
              <a:ext uri="{FF2B5EF4-FFF2-40B4-BE49-F238E27FC236}">
                <a16:creationId xmlns:a16="http://schemas.microsoft.com/office/drawing/2014/main" id="{4D3D8F99-7D9A-6D61-A873-6BF7D3BA4DFA}"/>
              </a:ext>
            </a:extLst>
          </p:cNvPr>
          <p:cNvSpPr>
            <a:spLocks noGrp="1"/>
          </p:cNvSpPr>
          <p:nvPr>
            <p:ph type="title"/>
          </p:nvPr>
        </p:nvSpPr>
        <p:spPr>
          <a:xfrm>
            <a:off x="1141413" y="1082673"/>
            <a:ext cx="2869416" cy="4708528"/>
          </a:xfrm>
        </p:spPr>
        <p:txBody>
          <a:bodyPr>
            <a:normAutofit/>
          </a:bodyPr>
          <a:lstStyle/>
          <a:p>
            <a:pPr marL="0" indent="0" algn="r">
              <a:buNone/>
            </a:pPr>
            <a:r>
              <a:rPr lang="de-DE" sz="2200">
                <a:latin typeface="Söhne"/>
              </a:rPr>
              <a:t>Wiederherstellung durch Replikation</a:t>
            </a:r>
            <a:endParaRPr lang="de-DE" sz="2200" b="0" i="0">
              <a:effectLst/>
              <a:latin typeface="Söhne"/>
            </a:endParaRPr>
          </a:p>
        </p:txBody>
      </p:sp>
      <p:cxnSp>
        <p:nvCxnSpPr>
          <p:cNvPr id="135" name="Straight Connector 134">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BA2E1310-CEE3-8677-0DD7-ED93B47F3778}"/>
              </a:ext>
            </a:extLst>
          </p:cNvPr>
          <p:cNvSpPr>
            <a:spLocks noGrp="1"/>
          </p:cNvSpPr>
          <p:nvPr>
            <p:ph idx="1"/>
          </p:nvPr>
        </p:nvSpPr>
        <p:spPr>
          <a:xfrm>
            <a:off x="5297763" y="1082673"/>
            <a:ext cx="5751237" cy="4708528"/>
          </a:xfrm>
        </p:spPr>
        <p:txBody>
          <a:bodyPr anchor="ctr">
            <a:normAutofit/>
          </a:bodyPr>
          <a:lstStyle/>
          <a:p>
            <a:pPr>
              <a:buFont typeface="Arial" panose="020B0604020202020204" pitchFamily="34" charset="0"/>
              <a:buChar char="•"/>
            </a:pPr>
            <a:r>
              <a:rPr lang="de-DE" sz="1800" b="0" i="0" dirty="0">
                <a:effectLst/>
                <a:latin typeface="Söhne"/>
              </a:rPr>
              <a:t>HDFS kann beschädigte Blöcke "heilen", indem es eine gute Replik des Blocks kopiert.</a:t>
            </a:r>
          </a:p>
          <a:p>
            <a:pPr>
              <a:buFont typeface="Arial" panose="020B0604020202020204" pitchFamily="34" charset="0"/>
              <a:buChar char="•"/>
            </a:pPr>
            <a:r>
              <a:rPr lang="de-DE" sz="1800" b="0" i="0" dirty="0">
                <a:effectLst/>
                <a:latin typeface="Söhne"/>
              </a:rPr>
              <a:t>Der </a:t>
            </a:r>
            <a:r>
              <a:rPr lang="de-DE" sz="1800" b="0" i="0">
                <a:effectLst/>
                <a:latin typeface="Söhne"/>
              </a:rPr>
              <a:t>Namenode</a:t>
            </a:r>
            <a:r>
              <a:rPr lang="de-DE" sz="1800" b="0" i="0" dirty="0">
                <a:effectLst/>
                <a:latin typeface="Söhne"/>
              </a:rPr>
              <a:t> überwacht die Notwendigkeit zur Replikation von Blöcken und setzt diese ein, wenn erforderlich.</a:t>
            </a:r>
          </a:p>
          <a:p>
            <a:pPr>
              <a:buFont typeface="Arial" panose="020B0604020202020204" pitchFamily="34" charset="0"/>
              <a:buChar char="•"/>
            </a:pPr>
            <a:r>
              <a:rPr lang="de-DE" sz="1800" b="0" i="0" dirty="0">
                <a:effectLst/>
                <a:latin typeface="Söhne"/>
              </a:rPr>
              <a:t>Wenn ein </a:t>
            </a:r>
            <a:r>
              <a:rPr lang="de-DE" sz="1800" b="0" i="0">
                <a:effectLst/>
                <a:latin typeface="Söhne"/>
              </a:rPr>
              <a:t>Datanode</a:t>
            </a:r>
            <a:r>
              <a:rPr lang="de-DE" sz="1800" b="0" i="0" dirty="0">
                <a:effectLst/>
                <a:latin typeface="Söhne"/>
              </a:rPr>
              <a:t> keine </a:t>
            </a:r>
            <a:r>
              <a:rPr lang="de-DE" sz="1800" b="0" i="0">
                <a:effectLst/>
                <a:latin typeface="Söhne"/>
              </a:rPr>
              <a:t>Heartbeat</a:t>
            </a:r>
            <a:r>
              <a:rPr lang="de-DE" sz="1800" b="0" i="0" dirty="0">
                <a:effectLst/>
                <a:latin typeface="Söhne"/>
              </a:rPr>
              <a:t>-Nachricht sendet, erkennt der </a:t>
            </a:r>
            <a:r>
              <a:rPr lang="de-DE" sz="1800" b="0" i="0">
                <a:effectLst/>
                <a:latin typeface="Söhne"/>
              </a:rPr>
              <a:t>Namenode</a:t>
            </a:r>
            <a:r>
              <a:rPr lang="de-DE" sz="1800" b="0" i="0" dirty="0">
                <a:effectLst/>
                <a:latin typeface="Söhne"/>
              </a:rPr>
              <a:t> eine Netzwerkunterbrechung und klassifiziert den </a:t>
            </a:r>
            <a:r>
              <a:rPr lang="de-DE" sz="1800" b="0" i="0">
                <a:effectLst/>
                <a:latin typeface="Söhne"/>
              </a:rPr>
              <a:t>Datanode</a:t>
            </a:r>
            <a:r>
              <a:rPr lang="de-DE" sz="1800" b="0" i="0" dirty="0">
                <a:effectLst/>
                <a:latin typeface="Söhne"/>
              </a:rPr>
              <a:t> als "tot".</a:t>
            </a:r>
          </a:p>
          <a:p>
            <a:pPr>
              <a:buFont typeface="Arial" panose="020B0604020202020204" pitchFamily="34" charset="0"/>
              <a:buChar char="•"/>
            </a:pPr>
            <a:r>
              <a:rPr lang="de-DE" sz="1800" b="0" i="0" dirty="0">
                <a:effectLst/>
                <a:latin typeface="Söhne"/>
              </a:rPr>
              <a:t>Falls der Replikationsfaktor eines Blocks unter das vorgegebene Niveau sinkt, wird das entsprechende </a:t>
            </a:r>
            <a:r>
              <a:rPr lang="de-DE" sz="1800" b="0" i="0">
                <a:effectLst/>
                <a:latin typeface="Söhne"/>
              </a:rPr>
              <a:t>DataNode</a:t>
            </a:r>
            <a:r>
              <a:rPr lang="de-DE" sz="1800" b="0" i="0" dirty="0">
                <a:effectLst/>
                <a:latin typeface="Söhne"/>
              </a:rPr>
              <a:t> repliziert.</a:t>
            </a:r>
          </a:p>
          <a:p>
            <a:endParaRPr lang="de-DE" sz="1800" dirty="0"/>
          </a:p>
        </p:txBody>
      </p:sp>
      <p:grpSp>
        <p:nvGrpSpPr>
          <p:cNvPr id="137" name="Group 136">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138"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39"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0"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1"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2"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3"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4"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5"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6"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7"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sp>
        <p:nvSpPr>
          <p:cNvPr id="5" name="Fußzeilenplatzhalter 4">
            <a:extLst>
              <a:ext uri="{FF2B5EF4-FFF2-40B4-BE49-F238E27FC236}">
                <a16:creationId xmlns:a16="http://schemas.microsoft.com/office/drawing/2014/main" id="{49CC1BA1-CCDE-6FD3-CB09-2D0E884B9D12}"/>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C3BBAEC5-9CF8-B90B-97D5-DE09FC7BE8A5}"/>
              </a:ext>
            </a:extLst>
          </p:cNvPr>
          <p:cNvSpPr>
            <a:spLocks noGrp="1"/>
          </p:cNvSpPr>
          <p:nvPr>
            <p:ph type="sldNum" sz="quarter" idx="12"/>
          </p:nvPr>
        </p:nvSpPr>
        <p:spPr/>
        <p:txBody>
          <a:bodyPr/>
          <a:lstStyle/>
          <a:p>
            <a:fld id="{0D309695-DEC3-40DA-9DF5-330280C9D0E8}" type="slidenum">
              <a:rPr lang="en-US" smtClean="0"/>
              <a:pPr/>
              <a:t>15</a:t>
            </a:fld>
            <a:endParaRPr lang="en-US" dirty="0"/>
          </a:p>
        </p:txBody>
      </p:sp>
    </p:spTree>
    <p:extLst>
      <p:ext uri="{BB962C8B-B14F-4D97-AF65-F5344CB8AC3E}">
        <p14:creationId xmlns:p14="http://schemas.microsoft.com/office/powerpoint/2010/main" val="557641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1141413" y="618518"/>
            <a:ext cx="9905998" cy="1478570"/>
          </a:xfrm>
        </p:spPr>
        <p:txBody>
          <a:bodyPr>
            <a:normAutofit/>
          </a:bodyPr>
          <a:lstStyle/>
          <a:p>
            <a:r>
              <a:rPr lang="de-DE" dirty="0"/>
              <a:t>YARN und MapReduce</a:t>
            </a:r>
          </a:p>
        </p:txBody>
      </p:sp>
      <p:sp>
        <p:nvSpPr>
          <p:cNvPr id="8" name="Content Placeholder 7">
            <a:extLst>
              <a:ext uri="{FF2B5EF4-FFF2-40B4-BE49-F238E27FC236}">
                <a16:creationId xmlns:a16="http://schemas.microsoft.com/office/drawing/2014/main" id="{8E1495A0-261F-7336-2C33-46B47C5849AC}"/>
              </a:ext>
            </a:extLst>
          </p:cNvPr>
          <p:cNvSpPr>
            <a:spLocks noGrp="1"/>
          </p:cNvSpPr>
          <p:nvPr>
            <p:ph idx="1"/>
          </p:nvPr>
        </p:nvSpPr>
        <p:spPr>
          <a:xfrm>
            <a:off x="1141412" y="2249487"/>
            <a:ext cx="4844521" cy="3541714"/>
          </a:xfrm>
        </p:spPr>
        <p:txBody>
          <a:bodyPr anchor="ctr">
            <a:normAutofit/>
          </a:bodyPr>
          <a:lstStyle/>
          <a:p>
            <a:pPr marL="0" indent="0">
              <a:lnSpc>
                <a:spcPct val="110000"/>
              </a:lnSpc>
              <a:spcAft>
                <a:spcPts val="800"/>
              </a:spcAft>
              <a:buNone/>
            </a:pPr>
            <a:r>
              <a:rPr lang="de-DE" sz="1500" dirty="0"/>
              <a:t>YARN wurde entworfen, um viele der Einschränkungen in MapReduce 1 zu überwinden. Die Vorteile von YARN umfassen:</a:t>
            </a:r>
          </a:p>
          <a:p>
            <a:pPr>
              <a:lnSpc>
                <a:spcPct val="110000"/>
              </a:lnSpc>
              <a:spcAft>
                <a:spcPts val="800"/>
              </a:spcAft>
            </a:pPr>
            <a:r>
              <a:rPr lang="de-DE" sz="1500" dirty="0"/>
              <a:t>Skalierbarkeit: YARN kann auf größeren Clustern als MapReduce 1 laufen. </a:t>
            </a:r>
          </a:p>
          <a:p>
            <a:pPr>
              <a:lnSpc>
                <a:spcPct val="110000"/>
              </a:lnSpc>
              <a:spcAft>
                <a:spcPts val="800"/>
              </a:spcAft>
              <a:tabLst>
                <a:tab pos="228600" algn="l"/>
                <a:tab pos="457200" algn="l"/>
              </a:tabLst>
            </a:pPr>
            <a:r>
              <a:rPr lang="de-DE" sz="1500" dirty="0"/>
              <a:t>Verfügbarkeit: Aufgaben des </a:t>
            </a:r>
            <a:r>
              <a:rPr lang="de-DE" sz="1500" dirty="0" err="1"/>
              <a:t>JobTrackers</a:t>
            </a:r>
            <a:r>
              <a:rPr lang="de-DE" sz="1500" dirty="0"/>
              <a:t>, zwischen dem Ressourcenmanager und dem Anwendungsmaster aufgeteilt.</a:t>
            </a:r>
          </a:p>
          <a:p>
            <a:pPr>
              <a:lnSpc>
                <a:spcPct val="110000"/>
              </a:lnSpc>
              <a:spcAft>
                <a:spcPts val="800"/>
              </a:spcAft>
              <a:tabLst>
                <a:tab pos="228600" algn="l"/>
                <a:tab pos="457200" algn="l"/>
              </a:tabLst>
            </a:pPr>
            <a:r>
              <a:rPr lang="de-DE" sz="1500" dirty="0"/>
              <a:t>Auslastung: Ein Node Manager in YARN verwaltet einen Pool von Ressourcen.</a:t>
            </a:r>
          </a:p>
          <a:p>
            <a:pPr marL="0" indent="0">
              <a:lnSpc>
                <a:spcPct val="110000"/>
              </a:lnSpc>
              <a:buNone/>
            </a:pPr>
            <a:endParaRPr lang="en-US" sz="1500" dirty="0"/>
          </a:p>
          <a:p>
            <a:pPr marL="0" indent="0">
              <a:lnSpc>
                <a:spcPct val="110000"/>
              </a:lnSpc>
              <a:buNone/>
            </a:pPr>
            <a:endParaRPr lang="en-US" sz="1500" dirty="0"/>
          </a:p>
        </p:txBody>
      </p:sp>
      <p:pic>
        <p:nvPicPr>
          <p:cNvPr id="4" name="Inhaltsplatzhalter 3" descr="Hadoop 2.0">
            <a:extLst>
              <a:ext uri="{FF2B5EF4-FFF2-40B4-BE49-F238E27FC236}">
                <a16:creationId xmlns:a16="http://schemas.microsoft.com/office/drawing/2014/main" id="{15D79E75-2E6D-207C-8B43-123098489726}"/>
              </a:ext>
            </a:extLst>
          </p:cNvPr>
          <p:cNvPicPr>
            <a:picLocks noChangeAspect="1"/>
          </p:cNvPicPr>
          <p:nvPr/>
        </p:nvPicPr>
        <p:blipFill rotWithShape="1">
          <a:blip r:embed="rId4">
            <a:extLst>
              <a:ext uri="{28A0092B-C50C-407E-A947-70E740481C1C}">
                <a14:useLocalDpi xmlns:a14="http://schemas.microsoft.com/office/drawing/2010/main" val="0"/>
              </a:ext>
            </a:extLst>
          </a:blip>
          <a:srcRect r="3" b="41"/>
          <a:stretch/>
        </p:blipFill>
        <p:spPr bwMode="auto">
          <a:xfrm>
            <a:off x="6331375" y="2097088"/>
            <a:ext cx="4655075" cy="3047892"/>
          </a:xfrm>
          <a:prstGeom prst="round2DiagRect">
            <a:avLst>
              <a:gd name="adj1" fmla="val 4860"/>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6" name="Fußzeilenplatzhalter 5">
            <a:extLst>
              <a:ext uri="{FF2B5EF4-FFF2-40B4-BE49-F238E27FC236}">
                <a16:creationId xmlns:a16="http://schemas.microsoft.com/office/drawing/2014/main" id="{0D5722A2-BA26-6A76-8534-6C10811B9D09}"/>
              </a:ext>
            </a:extLst>
          </p:cNvPr>
          <p:cNvSpPr>
            <a:spLocks noGrp="1"/>
          </p:cNvSpPr>
          <p:nvPr>
            <p:ph type="ftr" sz="quarter" idx="11"/>
          </p:nvPr>
        </p:nvSpPr>
        <p:spPr/>
        <p:txBody>
          <a:bodyPr/>
          <a:lstStyle/>
          <a:p>
            <a:r>
              <a:rPr lang="en-US" spc="200"/>
              <a:t>Tobias Walter</a:t>
            </a:r>
            <a:endParaRPr lang="en-US" spc="200" dirty="0"/>
          </a:p>
        </p:txBody>
      </p:sp>
      <p:sp>
        <p:nvSpPr>
          <p:cNvPr id="7" name="Foliennummernplatzhalter 6">
            <a:extLst>
              <a:ext uri="{FF2B5EF4-FFF2-40B4-BE49-F238E27FC236}">
                <a16:creationId xmlns:a16="http://schemas.microsoft.com/office/drawing/2014/main" id="{12454052-35EE-A656-AC9D-90BCF5BBF8F3}"/>
              </a:ext>
            </a:extLst>
          </p:cNvPr>
          <p:cNvSpPr>
            <a:spLocks noGrp="1"/>
          </p:cNvSpPr>
          <p:nvPr>
            <p:ph type="sldNum" sz="quarter" idx="12"/>
          </p:nvPr>
        </p:nvSpPr>
        <p:spPr/>
        <p:txBody>
          <a:bodyPr/>
          <a:lstStyle/>
          <a:p>
            <a:fld id="{0D309695-DEC3-40DA-9DF5-330280C9D0E8}" type="slidenum">
              <a:rPr lang="en-US" smtClean="0"/>
              <a:pPr/>
              <a:t>16</a:t>
            </a:fld>
            <a:endParaRPr lang="en-US" dirty="0"/>
          </a:p>
        </p:txBody>
      </p:sp>
    </p:spTree>
    <p:extLst>
      <p:ext uri="{BB962C8B-B14F-4D97-AF65-F5344CB8AC3E}">
        <p14:creationId xmlns:p14="http://schemas.microsoft.com/office/powerpoint/2010/main" val="1073434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8036041" y="618518"/>
            <a:ext cx="3281003" cy="1478570"/>
          </a:xfrm>
        </p:spPr>
        <p:txBody>
          <a:bodyPr anchor="b">
            <a:normAutofit/>
          </a:bodyPr>
          <a:lstStyle/>
          <a:p>
            <a:r>
              <a:rPr lang="de-DE" sz="2800"/>
              <a:t>YARN-Architektur</a:t>
            </a:r>
          </a:p>
        </p:txBody>
      </p:sp>
      <p:sp>
        <p:nvSpPr>
          <p:cNvPr id="13" name="Round Diagonal Corner Rectangle 11">
            <a:extLst>
              <a:ext uri="{FF2B5EF4-FFF2-40B4-BE49-F238E27FC236}">
                <a16:creationId xmlns:a16="http://schemas.microsoft.com/office/drawing/2014/main" id="{03756949-AC79-48CD-A920-B0FE10D23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7" descr="Ein Bild, das Diagramm, Text, Reihe, Plan enthält.&#10;&#10;Automatisch generierte Beschreibung">
            <a:extLst>
              <a:ext uri="{FF2B5EF4-FFF2-40B4-BE49-F238E27FC236}">
                <a16:creationId xmlns:a16="http://schemas.microsoft.com/office/drawing/2014/main" id="{65A1278D-0D2D-2944-E618-5725E2EBEB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18988" y="1523791"/>
            <a:ext cx="6112382" cy="3804957"/>
          </a:xfrm>
          <a:prstGeom prst="rect">
            <a:avLst/>
          </a:prstGeom>
          <a:noFill/>
        </p:spPr>
      </p:pic>
      <p:sp>
        <p:nvSpPr>
          <p:cNvPr id="6" name="Inhaltsplatzhalter 5">
            <a:extLst>
              <a:ext uri="{FF2B5EF4-FFF2-40B4-BE49-F238E27FC236}">
                <a16:creationId xmlns:a16="http://schemas.microsoft.com/office/drawing/2014/main" id="{7A2790D0-603C-FED2-1693-659F6FC81FD5}"/>
              </a:ext>
            </a:extLst>
          </p:cNvPr>
          <p:cNvSpPr>
            <a:spLocks noGrp="1"/>
          </p:cNvSpPr>
          <p:nvPr>
            <p:ph idx="1"/>
          </p:nvPr>
        </p:nvSpPr>
        <p:spPr>
          <a:xfrm>
            <a:off x="8036041" y="2249487"/>
            <a:ext cx="3281004" cy="3541714"/>
          </a:xfrm>
        </p:spPr>
        <p:txBody>
          <a:bodyPr>
            <a:normAutofit/>
          </a:bodyPr>
          <a:lstStyle/>
          <a:p>
            <a:r>
              <a:rPr lang="de-DE" sz="1800"/>
              <a:t>Client</a:t>
            </a:r>
          </a:p>
          <a:p>
            <a:r>
              <a:rPr lang="de-DE" sz="1800"/>
              <a:t>Ressourcenmanager</a:t>
            </a:r>
          </a:p>
          <a:p>
            <a:pPr lvl="1"/>
            <a:r>
              <a:rPr lang="de-DE" sz="1800"/>
              <a:t>Scheduler</a:t>
            </a:r>
          </a:p>
          <a:p>
            <a:pPr lvl="1"/>
            <a:r>
              <a:rPr lang="de-DE" sz="1800"/>
              <a:t>Anwendungsmanager</a:t>
            </a:r>
          </a:p>
          <a:p>
            <a:r>
              <a:rPr lang="de-DE" sz="1800"/>
              <a:t>Knotenmanager</a:t>
            </a:r>
          </a:p>
          <a:p>
            <a:r>
              <a:rPr lang="de-DE" sz="1800"/>
              <a:t>Anwendungsmaster</a:t>
            </a:r>
          </a:p>
          <a:p>
            <a:r>
              <a:rPr lang="de-DE" sz="1800"/>
              <a:t>Container</a:t>
            </a:r>
          </a:p>
        </p:txBody>
      </p:sp>
      <p:sp>
        <p:nvSpPr>
          <p:cNvPr id="10" name="Fußzeilenplatzhalter 9">
            <a:extLst>
              <a:ext uri="{FF2B5EF4-FFF2-40B4-BE49-F238E27FC236}">
                <a16:creationId xmlns:a16="http://schemas.microsoft.com/office/drawing/2014/main" id="{51E8C57F-9238-03F5-5D3B-AE51D0CBA493}"/>
              </a:ext>
            </a:extLst>
          </p:cNvPr>
          <p:cNvSpPr>
            <a:spLocks noGrp="1"/>
          </p:cNvSpPr>
          <p:nvPr>
            <p:ph type="ftr" sz="quarter" idx="11"/>
          </p:nvPr>
        </p:nvSpPr>
        <p:spPr>
          <a:xfrm>
            <a:off x="798949" y="6065836"/>
            <a:ext cx="6239309" cy="365125"/>
          </a:xfrm>
        </p:spPr>
        <p:txBody>
          <a:bodyPr/>
          <a:lstStyle/>
          <a:p>
            <a:r>
              <a:rPr lang="en-US" spc="200" dirty="0"/>
              <a:t>Tobias Walter</a:t>
            </a:r>
          </a:p>
        </p:txBody>
      </p:sp>
      <p:sp>
        <p:nvSpPr>
          <p:cNvPr id="11" name="Foliennummernplatzhalter 10">
            <a:extLst>
              <a:ext uri="{FF2B5EF4-FFF2-40B4-BE49-F238E27FC236}">
                <a16:creationId xmlns:a16="http://schemas.microsoft.com/office/drawing/2014/main" id="{78130E2F-E6BE-014B-6FED-8889D4A75E3F}"/>
              </a:ext>
            </a:extLst>
          </p:cNvPr>
          <p:cNvSpPr>
            <a:spLocks noGrp="1"/>
          </p:cNvSpPr>
          <p:nvPr>
            <p:ph type="sldNum" sz="quarter" idx="12"/>
          </p:nvPr>
        </p:nvSpPr>
        <p:spPr/>
        <p:txBody>
          <a:bodyPr/>
          <a:lstStyle/>
          <a:p>
            <a:fld id="{0D309695-DEC3-40DA-9DF5-330280C9D0E8}" type="slidenum">
              <a:rPr lang="en-US" smtClean="0"/>
              <a:pPr/>
              <a:t>17</a:t>
            </a:fld>
            <a:endParaRPr lang="en-US" dirty="0"/>
          </a:p>
        </p:txBody>
      </p:sp>
    </p:spTree>
    <p:extLst>
      <p:ext uri="{BB962C8B-B14F-4D97-AF65-F5344CB8AC3E}">
        <p14:creationId xmlns:p14="http://schemas.microsoft.com/office/powerpoint/2010/main" val="462533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normAutofit/>
          </a:bodyPr>
          <a:lstStyle/>
          <a:p>
            <a:r>
              <a:rPr lang="de-DE" dirty="0"/>
              <a:t>MapReduce Algorithmus</a:t>
            </a:r>
          </a:p>
        </p:txBody>
      </p:sp>
      <p:sp>
        <p:nvSpPr>
          <p:cNvPr id="8" name="Content Placeholder 7">
            <a:extLst>
              <a:ext uri="{FF2B5EF4-FFF2-40B4-BE49-F238E27FC236}">
                <a16:creationId xmlns:a16="http://schemas.microsoft.com/office/drawing/2014/main" id="{4AB57F6C-C841-2DC8-EF61-BE4747113428}"/>
              </a:ext>
            </a:extLst>
          </p:cNvPr>
          <p:cNvSpPr>
            <a:spLocks noGrp="1"/>
          </p:cNvSpPr>
          <p:nvPr>
            <p:ph idx="1"/>
          </p:nvPr>
        </p:nvSpPr>
        <p:spPr>
          <a:xfrm>
            <a:off x="1141412" y="2249487"/>
            <a:ext cx="4844521" cy="3541714"/>
          </a:xfrm>
        </p:spPr>
        <p:txBody>
          <a:bodyPr anchor="ctr">
            <a:normAutofit fontScale="62500" lnSpcReduction="20000"/>
          </a:bodyPr>
          <a:lstStyle/>
          <a:p>
            <a:pPr algn="l">
              <a:buFont typeface="Arial" panose="020B0604020202020204" pitchFamily="34" charset="0"/>
              <a:buChar char="•"/>
            </a:pPr>
            <a:r>
              <a:rPr lang="de-DE" dirty="0"/>
              <a:t>Der MapReduce-Prozess besteht aus zwei Phasen: Map und </a:t>
            </a:r>
            <a:r>
              <a:rPr lang="de-DE" dirty="0" err="1"/>
              <a:t>Reduce</a:t>
            </a:r>
            <a:r>
              <a:rPr lang="de-DE" dirty="0"/>
              <a:t>.</a:t>
            </a:r>
          </a:p>
          <a:p>
            <a:pPr algn="l">
              <a:buFont typeface="Arial" panose="020B0604020202020204" pitchFamily="34" charset="0"/>
              <a:buChar char="•"/>
            </a:pPr>
            <a:r>
              <a:rPr lang="de-DE" dirty="0"/>
              <a:t>In der Map-Phase werden die Daten in einzelne </a:t>
            </a:r>
            <a:r>
              <a:rPr lang="de-DE" dirty="0" err="1"/>
              <a:t>Tuples</a:t>
            </a:r>
            <a:r>
              <a:rPr lang="de-DE" dirty="0"/>
              <a:t> (Schlüssel-Wert-Paare) zerlegt.</a:t>
            </a:r>
          </a:p>
          <a:p>
            <a:pPr algn="l">
              <a:buFont typeface="Arial" panose="020B0604020202020204" pitchFamily="34" charset="0"/>
              <a:buChar char="•"/>
            </a:pPr>
            <a:r>
              <a:rPr lang="de-DE" dirty="0"/>
              <a:t>Die </a:t>
            </a:r>
            <a:r>
              <a:rPr lang="de-DE" dirty="0" err="1"/>
              <a:t>Tuples</a:t>
            </a:r>
            <a:r>
              <a:rPr lang="de-DE" dirty="0"/>
              <a:t> werden zur </a:t>
            </a:r>
            <a:r>
              <a:rPr lang="de-DE" dirty="0" err="1"/>
              <a:t>Reduce</a:t>
            </a:r>
            <a:r>
              <a:rPr lang="de-DE" dirty="0"/>
              <a:t>-Phase weitergeleitet.</a:t>
            </a:r>
          </a:p>
          <a:p>
            <a:pPr algn="l">
              <a:buFont typeface="Arial" panose="020B0604020202020204" pitchFamily="34" charset="0"/>
              <a:buChar char="•"/>
            </a:pPr>
            <a:r>
              <a:rPr lang="de-DE" dirty="0"/>
              <a:t>In der </a:t>
            </a:r>
            <a:r>
              <a:rPr lang="de-DE" dirty="0" err="1"/>
              <a:t>Reduce</a:t>
            </a:r>
            <a:r>
              <a:rPr lang="de-DE" dirty="0"/>
              <a:t>-Phase werden die </a:t>
            </a:r>
            <a:r>
              <a:rPr lang="de-DE" dirty="0" err="1"/>
              <a:t>Tuples</a:t>
            </a:r>
            <a:r>
              <a:rPr lang="de-DE" dirty="0"/>
              <a:t> basierend auf ihren Schlüsseln kombiniert und eine bestimmte Operation durchgeführt.</a:t>
            </a:r>
          </a:p>
          <a:p>
            <a:pPr algn="l">
              <a:buFont typeface="Arial" panose="020B0604020202020204" pitchFamily="34" charset="0"/>
              <a:buChar char="•"/>
            </a:pPr>
            <a:r>
              <a:rPr lang="de-DE" dirty="0"/>
              <a:t>Das Endergebnis ist der resultierende Output.</a:t>
            </a:r>
          </a:p>
          <a:p>
            <a:pPr algn="l">
              <a:buFont typeface="Arial" panose="020B0604020202020204" pitchFamily="34" charset="0"/>
              <a:buChar char="•"/>
            </a:pPr>
            <a:r>
              <a:rPr lang="de-DE" dirty="0"/>
              <a:t>Die spezifische Datenverarbeitung in der </a:t>
            </a:r>
            <a:r>
              <a:rPr lang="de-DE" dirty="0" err="1"/>
              <a:t>Reduce</a:t>
            </a:r>
            <a:r>
              <a:rPr lang="de-DE" dirty="0"/>
              <a:t>-Phase variiert je nach Anforderungen des Einsatzbereichs.</a:t>
            </a:r>
          </a:p>
          <a:p>
            <a:endParaRPr lang="en-US" dirty="0"/>
          </a:p>
        </p:txBody>
      </p:sp>
      <p:pic>
        <p:nvPicPr>
          <p:cNvPr id="4" name="Inhaltsplatzhalter 3" descr="MapReduce workflow">
            <a:extLst>
              <a:ext uri="{FF2B5EF4-FFF2-40B4-BE49-F238E27FC236}">
                <a16:creationId xmlns:a16="http://schemas.microsoft.com/office/drawing/2014/main" id="{C53CFDA3-D806-D5D2-250F-35B2582A32F2}"/>
              </a:ext>
            </a:extLst>
          </p:cNvPr>
          <p:cNvPicPr>
            <a:picLocks noChangeAspect="1"/>
          </p:cNvPicPr>
          <p:nvPr/>
        </p:nvPicPr>
        <p:blipFill rotWithShape="1">
          <a:blip r:embed="rId3">
            <a:extLst>
              <a:ext uri="{28A0092B-C50C-407E-A947-70E740481C1C}">
                <a14:useLocalDpi xmlns:a14="http://schemas.microsoft.com/office/drawing/2010/main" val="0"/>
              </a:ext>
            </a:extLst>
          </a:blip>
          <a:srcRect r="345" b="2"/>
          <a:stretch/>
        </p:blipFill>
        <p:spPr bwMode="auto">
          <a:xfrm>
            <a:off x="6392335" y="2497720"/>
            <a:ext cx="4655075" cy="3047892"/>
          </a:xfrm>
          <a:prstGeom prst="round2DiagRect">
            <a:avLst>
              <a:gd name="adj1" fmla="val 4860"/>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6" name="Fußzeilenplatzhalter 5">
            <a:extLst>
              <a:ext uri="{FF2B5EF4-FFF2-40B4-BE49-F238E27FC236}">
                <a16:creationId xmlns:a16="http://schemas.microsoft.com/office/drawing/2014/main" id="{5BD07CF0-198B-201B-779D-6BEF57CAFACE}"/>
              </a:ext>
            </a:extLst>
          </p:cNvPr>
          <p:cNvSpPr>
            <a:spLocks noGrp="1"/>
          </p:cNvSpPr>
          <p:nvPr>
            <p:ph type="ftr" sz="quarter" idx="11"/>
          </p:nvPr>
        </p:nvSpPr>
        <p:spPr/>
        <p:txBody>
          <a:bodyPr/>
          <a:lstStyle/>
          <a:p>
            <a:r>
              <a:rPr lang="en-US" spc="200"/>
              <a:t>Tobias Walter</a:t>
            </a:r>
            <a:endParaRPr lang="en-US" spc="200" dirty="0"/>
          </a:p>
        </p:txBody>
      </p:sp>
      <p:sp>
        <p:nvSpPr>
          <p:cNvPr id="7" name="Foliennummernplatzhalter 6">
            <a:extLst>
              <a:ext uri="{FF2B5EF4-FFF2-40B4-BE49-F238E27FC236}">
                <a16:creationId xmlns:a16="http://schemas.microsoft.com/office/drawing/2014/main" id="{BE828B01-7733-7E74-2107-670A27ECE07B}"/>
              </a:ext>
            </a:extLst>
          </p:cNvPr>
          <p:cNvSpPr>
            <a:spLocks noGrp="1"/>
          </p:cNvSpPr>
          <p:nvPr>
            <p:ph type="sldNum" sz="quarter" idx="12"/>
          </p:nvPr>
        </p:nvSpPr>
        <p:spPr/>
        <p:txBody>
          <a:bodyPr/>
          <a:lstStyle/>
          <a:p>
            <a:fld id="{0D309695-DEC3-40DA-9DF5-330280C9D0E8}" type="slidenum">
              <a:rPr lang="en-US" smtClean="0"/>
              <a:pPr/>
              <a:t>18</a:t>
            </a:fld>
            <a:endParaRPr lang="en-US" dirty="0"/>
          </a:p>
        </p:txBody>
      </p:sp>
    </p:spTree>
    <p:extLst>
      <p:ext uri="{BB962C8B-B14F-4D97-AF65-F5344CB8AC3E}">
        <p14:creationId xmlns:p14="http://schemas.microsoft.com/office/powerpoint/2010/main" val="1144786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1141413" y="618518"/>
            <a:ext cx="9905998" cy="1478570"/>
          </a:xfrm>
        </p:spPr>
        <p:txBody>
          <a:bodyPr>
            <a:normAutofit/>
          </a:bodyPr>
          <a:lstStyle/>
          <a:p>
            <a:r>
              <a:rPr lang="de-DE" dirty="0"/>
              <a:t>Hadoop MapReduce Framework</a:t>
            </a:r>
          </a:p>
        </p:txBody>
      </p:sp>
      <p:pic>
        <p:nvPicPr>
          <p:cNvPr id="4" name="Inhaltsplatzhalter 3" descr="Map-Reduce WorkFlow">
            <a:extLst>
              <a:ext uri="{FF2B5EF4-FFF2-40B4-BE49-F238E27FC236}">
                <a16:creationId xmlns:a16="http://schemas.microsoft.com/office/drawing/2014/main" id="{E6A80FA0-A734-857F-385B-BFE6567405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1141411" y="2336189"/>
            <a:ext cx="4689234" cy="3376246"/>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8" name="Content Placeholder 7">
            <a:extLst>
              <a:ext uri="{FF2B5EF4-FFF2-40B4-BE49-F238E27FC236}">
                <a16:creationId xmlns:a16="http://schemas.microsoft.com/office/drawing/2014/main" id="{868CCF60-DA39-083D-0DFA-449E6B08AC68}"/>
              </a:ext>
            </a:extLst>
          </p:cNvPr>
          <p:cNvSpPr>
            <a:spLocks noGrp="1"/>
          </p:cNvSpPr>
          <p:nvPr>
            <p:ph idx="1"/>
          </p:nvPr>
        </p:nvSpPr>
        <p:spPr>
          <a:xfrm>
            <a:off x="6336727" y="2249487"/>
            <a:ext cx="4710683" cy="3541714"/>
          </a:xfrm>
        </p:spPr>
        <p:txBody>
          <a:bodyPr>
            <a:normAutofit fontScale="47500" lnSpcReduction="20000"/>
          </a:bodyPr>
          <a:lstStyle/>
          <a:p>
            <a:r>
              <a:rPr lang="de-DE" sz="2900" dirty="0"/>
              <a:t>Hadoop MapReduce verarbeitet massenhaft Daten auf großen Hardware-Clustern.</a:t>
            </a:r>
          </a:p>
          <a:p>
            <a:r>
              <a:rPr lang="de-DE" sz="2900" dirty="0"/>
              <a:t>Eingabedaten werden in unabhängige Teile aufgeteilt und parallel verarbeitet.</a:t>
            </a:r>
          </a:p>
          <a:p>
            <a:r>
              <a:rPr lang="de-DE" sz="2900" dirty="0"/>
              <a:t>Sortierte Ausgaben werden weiterverwendet und das Framework übernimmt die Aufgabenplanung und -überwachung.</a:t>
            </a:r>
          </a:p>
          <a:p>
            <a:r>
              <a:rPr lang="de-DE" sz="2900" dirty="0"/>
              <a:t>Rechen- und Speicherknoten werden gemeinsam genutzt, um eine effiziente Aufgabenplanung und hohe Gesamtbandbreite zu gewährleisten.</a:t>
            </a:r>
          </a:p>
          <a:p>
            <a:r>
              <a:rPr lang="de-DE" sz="2900" dirty="0"/>
              <a:t>Anwendungen müssen Eingabe-/Ausgabeorte definieren und Map- und </a:t>
            </a:r>
            <a:r>
              <a:rPr lang="de-DE" sz="2900" dirty="0" err="1"/>
              <a:t>Reduce</a:t>
            </a:r>
            <a:r>
              <a:rPr lang="de-DE" sz="2900" dirty="0"/>
              <a:t>-Funktionen bereitstellen.</a:t>
            </a:r>
          </a:p>
          <a:p>
            <a:pPr marL="0" indent="0">
              <a:buNone/>
            </a:pPr>
            <a:endParaRPr lang="de-DE" dirty="0"/>
          </a:p>
          <a:p>
            <a:pPr marL="0" indent="0">
              <a:buNone/>
            </a:pPr>
            <a:endParaRPr lang="de-DE" dirty="0"/>
          </a:p>
          <a:p>
            <a:pPr marL="0" indent="0">
              <a:buNone/>
            </a:pPr>
            <a:endParaRPr lang="de-DE" dirty="0"/>
          </a:p>
          <a:p>
            <a:pPr marL="0" indent="0">
              <a:buNone/>
            </a:pPr>
            <a:endParaRPr lang="en-US" dirty="0"/>
          </a:p>
        </p:txBody>
      </p:sp>
      <p:sp>
        <p:nvSpPr>
          <p:cNvPr id="6" name="Fußzeilenplatzhalter 5">
            <a:extLst>
              <a:ext uri="{FF2B5EF4-FFF2-40B4-BE49-F238E27FC236}">
                <a16:creationId xmlns:a16="http://schemas.microsoft.com/office/drawing/2014/main" id="{F0506E7E-7A1D-9078-343A-405A1B5074DA}"/>
              </a:ext>
            </a:extLst>
          </p:cNvPr>
          <p:cNvSpPr>
            <a:spLocks noGrp="1"/>
          </p:cNvSpPr>
          <p:nvPr>
            <p:ph type="ftr" sz="quarter" idx="11"/>
          </p:nvPr>
        </p:nvSpPr>
        <p:spPr/>
        <p:txBody>
          <a:bodyPr/>
          <a:lstStyle/>
          <a:p>
            <a:r>
              <a:rPr lang="en-US" spc="200"/>
              <a:t>Tobias Walter</a:t>
            </a:r>
            <a:endParaRPr lang="en-US" spc="200" dirty="0"/>
          </a:p>
        </p:txBody>
      </p:sp>
      <p:sp>
        <p:nvSpPr>
          <p:cNvPr id="7" name="Foliennummernplatzhalter 6">
            <a:extLst>
              <a:ext uri="{FF2B5EF4-FFF2-40B4-BE49-F238E27FC236}">
                <a16:creationId xmlns:a16="http://schemas.microsoft.com/office/drawing/2014/main" id="{A4DEE39D-291C-C680-3A34-A5007C78DB50}"/>
              </a:ext>
            </a:extLst>
          </p:cNvPr>
          <p:cNvSpPr>
            <a:spLocks noGrp="1"/>
          </p:cNvSpPr>
          <p:nvPr>
            <p:ph type="sldNum" sz="quarter" idx="12"/>
          </p:nvPr>
        </p:nvSpPr>
        <p:spPr/>
        <p:txBody>
          <a:bodyPr/>
          <a:lstStyle/>
          <a:p>
            <a:fld id="{0D309695-DEC3-40DA-9DF5-330280C9D0E8}" type="slidenum">
              <a:rPr lang="en-US" smtClean="0"/>
              <a:pPr/>
              <a:t>19</a:t>
            </a:fld>
            <a:endParaRPr lang="en-US" dirty="0"/>
          </a:p>
        </p:txBody>
      </p:sp>
    </p:spTree>
    <p:extLst>
      <p:ext uri="{BB962C8B-B14F-4D97-AF65-F5344CB8AC3E}">
        <p14:creationId xmlns:p14="http://schemas.microsoft.com/office/powerpoint/2010/main" val="3199806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1CEC2E-0D3B-7685-D66D-3D72135CC65D}"/>
              </a:ext>
            </a:extLst>
          </p:cNvPr>
          <p:cNvSpPr>
            <a:spLocks noGrp="1"/>
          </p:cNvSpPr>
          <p:nvPr>
            <p:ph type="title"/>
          </p:nvPr>
        </p:nvSpPr>
        <p:spPr/>
        <p:txBody>
          <a:bodyPr/>
          <a:lstStyle/>
          <a:p>
            <a:r>
              <a:rPr lang="de-DE" dirty="0"/>
              <a:t>Jobtracker und Tasktracker</a:t>
            </a:r>
          </a:p>
        </p:txBody>
      </p:sp>
      <p:sp>
        <p:nvSpPr>
          <p:cNvPr id="3" name="Inhaltsplatzhalter 2">
            <a:extLst>
              <a:ext uri="{FF2B5EF4-FFF2-40B4-BE49-F238E27FC236}">
                <a16:creationId xmlns:a16="http://schemas.microsoft.com/office/drawing/2014/main" id="{8BBED263-A304-9319-EA74-70FBE5955A51}"/>
              </a:ext>
            </a:extLst>
          </p:cNvPr>
          <p:cNvSpPr>
            <a:spLocks noGrp="1"/>
          </p:cNvSpPr>
          <p:nvPr>
            <p:ph idx="1"/>
          </p:nvPr>
        </p:nvSpPr>
        <p:spPr/>
        <p:txBody>
          <a:bodyPr>
            <a:normAutofit/>
          </a:bodyPr>
          <a:lstStyle/>
          <a:p>
            <a:r>
              <a:rPr lang="de-DE" sz="2400" dirty="0"/>
              <a:t>Das MapReduce-Framework besteht aus einem zentralen </a:t>
            </a:r>
            <a:r>
              <a:rPr lang="de-DE" sz="2400" dirty="0" err="1"/>
              <a:t>JobTracker</a:t>
            </a:r>
            <a:r>
              <a:rPr lang="de-DE" sz="2400" dirty="0"/>
              <a:t> und einem </a:t>
            </a:r>
            <a:r>
              <a:rPr lang="de-DE" sz="2400" dirty="0" err="1"/>
              <a:t>TaskTracker</a:t>
            </a:r>
            <a:r>
              <a:rPr lang="de-DE" sz="2400" dirty="0"/>
              <a:t> pro Knoten.</a:t>
            </a:r>
          </a:p>
          <a:p>
            <a:r>
              <a:rPr lang="de-DE" sz="2400" dirty="0"/>
              <a:t>Der </a:t>
            </a:r>
            <a:r>
              <a:rPr lang="de-DE" sz="2400" dirty="0" err="1"/>
              <a:t>JobTracker</a:t>
            </a:r>
            <a:r>
              <a:rPr lang="de-DE" sz="2400" dirty="0"/>
              <a:t> plant und überwacht Aufgaben, während die </a:t>
            </a:r>
            <a:r>
              <a:rPr lang="de-DE" sz="2400" dirty="0" err="1"/>
              <a:t>TaskTracker</a:t>
            </a:r>
            <a:r>
              <a:rPr lang="de-DE" sz="2400" dirty="0"/>
              <a:t> die Aufgaben ausführen.</a:t>
            </a:r>
          </a:p>
          <a:p>
            <a:r>
              <a:rPr lang="de-DE" sz="2400" dirty="0"/>
              <a:t>Der Hadoop-Job-Client übermittelt den Job und die Konfiguration an den </a:t>
            </a:r>
            <a:r>
              <a:rPr lang="de-DE" sz="2400" dirty="0" err="1"/>
              <a:t>JobTracker</a:t>
            </a:r>
            <a:r>
              <a:rPr lang="de-DE" sz="2400" dirty="0"/>
              <a:t>.</a:t>
            </a:r>
          </a:p>
          <a:p>
            <a:endParaRPr lang="de-DE" dirty="0"/>
          </a:p>
        </p:txBody>
      </p:sp>
      <p:sp>
        <p:nvSpPr>
          <p:cNvPr id="4" name="Fußzeilenplatzhalter 3">
            <a:extLst>
              <a:ext uri="{FF2B5EF4-FFF2-40B4-BE49-F238E27FC236}">
                <a16:creationId xmlns:a16="http://schemas.microsoft.com/office/drawing/2014/main" id="{460FDAB1-FD40-FE8B-8327-A57EABCB698F}"/>
              </a:ext>
            </a:extLst>
          </p:cNvPr>
          <p:cNvSpPr>
            <a:spLocks noGrp="1"/>
          </p:cNvSpPr>
          <p:nvPr>
            <p:ph type="ftr" sz="quarter" idx="11"/>
          </p:nvPr>
        </p:nvSpPr>
        <p:spPr/>
        <p:txBody>
          <a:bodyPr/>
          <a:lstStyle/>
          <a:p>
            <a:r>
              <a:rPr lang="en-US" spc="200" dirty="0"/>
              <a:t>Tobias Walter</a:t>
            </a:r>
          </a:p>
        </p:txBody>
      </p:sp>
      <p:sp>
        <p:nvSpPr>
          <p:cNvPr id="5" name="Foliennummernplatzhalter 4">
            <a:extLst>
              <a:ext uri="{FF2B5EF4-FFF2-40B4-BE49-F238E27FC236}">
                <a16:creationId xmlns:a16="http://schemas.microsoft.com/office/drawing/2014/main" id="{73CC3048-D226-B72C-A7AE-223F796B6505}"/>
              </a:ext>
            </a:extLst>
          </p:cNvPr>
          <p:cNvSpPr>
            <a:spLocks noGrp="1"/>
          </p:cNvSpPr>
          <p:nvPr>
            <p:ph type="sldNum" sz="quarter" idx="12"/>
          </p:nvPr>
        </p:nvSpPr>
        <p:spPr/>
        <p:txBody>
          <a:bodyPr/>
          <a:lstStyle/>
          <a:p>
            <a:fld id="{0D309695-DEC3-40DA-9DF5-330280C9D0E8}" type="slidenum">
              <a:rPr lang="en-US" smtClean="0"/>
              <a:pPr/>
              <a:t>20</a:t>
            </a:fld>
            <a:endParaRPr lang="en-US" dirty="0"/>
          </a:p>
        </p:txBody>
      </p:sp>
    </p:spTree>
    <p:extLst>
      <p:ext uri="{BB962C8B-B14F-4D97-AF65-F5344CB8AC3E}">
        <p14:creationId xmlns:p14="http://schemas.microsoft.com/office/powerpoint/2010/main" val="3522619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1141413" y="1082673"/>
            <a:ext cx="2869416" cy="4708528"/>
          </a:xfrm>
        </p:spPr>
        <p:txBody>
          <a:bodyPr>
            <a:normAutofit/>
          </a:bodyPr>
          <a:lstStyle/>
          <a:p>
            <a:pPr algn="r"/>
            <a:r>
              <a:rPr lang="de-DE" sz="4000" dirty="0"/>
              <a:t>Map Task</a:t>
            </a:r>
          </a:p>
        </p:txBody>
      </p:sp>
      <p:sp>
        <p:nvSpPr>
          <p:cNvPr id="52" name="Inhaltsplatzhalter 2">
            <a:extLst>
              <a:ext uri="{FF2B5EF4-FFF2-40B4-BE49-F238E27FC236}">
                <a16:creationId xmlns:a16="http://schemas.microsoft.com/office/drawing/2014/main" id="{C2AB9C99-2297-6273-B1C6-0F9C52F6373A}"/>
              </a:ext>
            </a:extLst>
          </p:cNvPr>
          <p:cNvSpPr>
            <a:spLocks noGrp="1"/>
          </p:cNvSpPr>
          <p:nvPr>
            <p:ph idx="1"/>
          </p:nvPr>
        </p:nvSpPr>
        <p:spPr>
          <a:xfrm>
            <a:off x="5297763" y="1082673"/>
            <a:ext cx="5751237" cy="4708528"/>
          </a:xfrm>
        </p:spPr>
        <p:txBody>
          <a:bodyPr anchor="ctr">
            <a:normAutofit/>
          </a:bodyPr>
          <a:lstStyle/>
          <a:p>
            <a:pPr marL="342900" lvl="0" indent="-342900">
              <a:lnSpc>
                <a:spcPct val="110000"/>
              </a:lnSpc>
              <a:spcAft>
                <a:spcPts val="800"/>
              </a:spcAft>
              <a:buSzPts val="1000"/>
              <a:buFont typeface="Symbol" panose="05050102010706020507" pitchFamily="18" charset="2"/>
              <a:buChar char=""/>
              <a:tabLst>
                <a:tab pos="228600" algn="l"/>
                <a:tab pos="457200" algn="l"/>
              </a:tabLst>
            </a:pPr>
            <a:r>
              <a:rPr lang="de-DE" sz="1300" b="1" dirty="0" err="1">
                <a:effectLst/>
                <a:latin typeface="Century Gothic" panose="020B0502020202020204" pitchFamily="34" charset="0"/>
                <a:ea typeface="Times New Roman" panose="02020603050405020304" pitchFamily="18" charset="0"/>
                <a:cs typeface="Times New Roman" panose="02020603050405020304" pitchFamily="18" charset="0"/>
              </a:rPr>
              <a:t>RecordReader</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Dieses Element zerteilt Datensätze in Schlüssel-Wert-Paare, die der Map-Funktion zugeführt werden. Dabei repräsentiert der Schlüssel die Positionsinformationen und der Wert die damit assoziierten Daten.</a:t>
            </a:r>
          </a:p>
          <a:p>
            <a:pPr marL="342900" lvl="0" indent="-342900">
              <a:lnSpc>
                <a:spcPct val="110000"/>
              </a:lnSpc>
              <a:spcAft>
                <a:spcPts val="800"/>
              </a:spcAft>
              <a:buSzPts val="1000"/>
              <a:buFont typeface="Symbol" panose="05050102010706020507" pitchFamily="18" charset="2"/>
              <a:buChar char=""/>
              <a:tabLst>
                <a:tab pos="228600" algn="l"/>
                <a:tab pos="457200" algn="l"/>
              </a:tabLst>
            </a:pPr>
            <a:r>
              <a:rPr lang="de-DE" sz="1300" b="1" dirty="0">
                <a:effectLst/>
                <a:latin typeface="Century Gothic" panose="020B0502020202020204" pitchFamily="34" charset="0"/>
                <a:ea typeface="Times New Roman" panose="02020603050405020304" pitchFamily="18" charset="0"/>
                <a:cs typeface="Times New Roman" panose="02020603050405020304" pitchFamily="18" charset="0"/>
              </a:rPr>
              <a:t>Map-Funktion</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Diese benutzerdefinierte Funktion bearbeitet die von </a:t>
            </a:r>
            <a:r>
              <a:rPr lang="de-DE" sz="1300" dirty="0" err="1">
                <a:effectLst/>
                <a:latin typeface="Century Gothic" panose="020B0502020202020204" pitchFamily="34" charset="0"/>
                <a:ea typeface="Times New Roman" panose="02020603050405020304" pitchFamily="18" charset="0"/>
                <a:cs typeface="Times New Roman" panose="02020603050405020304" pitchFamily="18" charset="0"/>
              </a:rPr>
              <a:t>RecordReader</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bereitgestellten Tupel. In der Regel erzeugt die Map-Funktion entweder kein Schlüssel-Wert-Paar oder mehrere solche Paare.</a:t>
            </a:r>
          </a:p>
          <a:p>
            <a:pPr marL="342900" lvl="0" indent="-342900">
              <a:lnSpc>
                <a:spcPct val="110000"/>
              </a:lnSpc>
              <a:spcAft>
                <a:spcPts val="800"/>
              </a:spcAft>
              <a:buSzPts val="1000"/>
              <a:buFont typeface="Symbol" panose="05050102010706020507" pitchFamily="18" charset="2"/>
              <a:buChar char=""/>
              <a:tabLst>
                <a:tab pos="228600" algn="l"/>
                <a:tab pos="457200" algn="l"/>
              </a:tabLst>
            </a:pPr>
            <a:r>
              <a:rPr lang="de-DE" sz="1300" b="1" dirty="0" err="1">
                <a:effectLst/>
                <a:latin typeface="Century Gothic" panose="020B0502020202020204" pitchFamily="34" charset="0"/>
                <a:ea typeface="Times New Roman" panose="02020603050405020304" pitchFamily="18" charset="0"/>
                <a:cs typeface="Times New Roman" panose="02020603050405020304" pitchFamily="18" charset="0"/>
              </a:rPr>
              <a:t>Combiner</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Der </a:t>
            </a:r>
            <a:r>
              <a:rPr lang="de-DE" sz="1300" dirty="0" err="1">
                <a:effectLst/>
                <a:latin typeface="Century Gothic" panose="020B0502020202020204" pitchFamily="34" charset="0"/>
                <a:ea typeface="Times New Roman" panose="02020603050405020304" pitchFamily="18" charset="0"/>
                <a:cs typeface="Times New Roman" panose="02020603050405020304" pitchFamily="18" charset="0"/>
              </a:rPr>
              <a:t>Combiner</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dient dazu, Daten im Ablauf der Map-Funktion zu gruppieren, ähnlich wie ein lokaler </a:t>
            </a:r>
            <a:r>
              <a:rPr lang="de-DE" sz="1300" dirty="0" err="1">
                <a:effectLst/>
                <a:latin typeface="Century Gothic" panose="020B0502020202020204" pitchFamily="34" charset="0"/>
                <a:ea typeface="Times New Roman" panose="02020603050405020304" pitchFamily="18" charset="0"/>
                <a:cs typeface="Times New Roman" panose="02020603050405020304" pitchFamily="18" charset="0"/>
              </a:rPr>
              <a:t>Reducer</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Er kombiniert die von der Map-Funktion erzeugten Zwischenschlüssel-Wert-Paare. Seine Verwendung ist optional.</a:t>
            </a:r>
          </a:p>
          <a:p>
            <a:pPr marL="342900" lvl="0" indent="-342900">
              <a:lnSpc>
                <a:spcPct val="110000"/>
              </a:lnSpc>
              <a:spcAft>
                <a:spcPts val="800"/>
              </a:spcAft>
              <a:buSzPts val="1000"/>
              <a:buFont typeface="Symbol" panose="05050102010706020507" pitchFamily="18" charset="2"/>
              <a:buChar char=""/>
              <a:tabLst>
                <a:tab pos="228600" algn="l"/>
                <a:tab pos="457200" algn="l"/>
              </a:tabLst>
            </a:pPr>
            <a:r>
              <a:rPr lang="de-DE" sz="1300" b="1" dirty="0" err="1">
                <a:effectLst/>
                <a:latin typeface="Century Gothic" panose="020B0502020202020204" pitchFamily="34" charset="0"/>
                <a:ea typeface="Times New Roman" panose="02020603050405020304" pitchFamily="18" charset="0"/>
                <a:cs typeface="Times New Roman" panose="02020603050405020304" pitchFamily="18" charset="0"/>
              </a:rPr>
              <a:t>Partitionierer</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Dieses Modul ist dafür verantwortlich, die in der Mapper-Phase generierten Schlüssel-Wert-Paare mit ihrem </a:t>
            </a:r>
            <a:r>
              <a:rPr lang="de-DE" sz="1300" dirty="0" err="1">
                <a:effectLst/>
                <a:latin typeface="Century Gothic" panose="020B0502020202020204" pitchFamily="34" charset="0"/>
                <a:ea typeface="Times New Roman" panose="02020603050405020304" pitchFamily="18" charset="0"/>
                <a:cs typeface="Times New Roman" panose="02020603050405020304" pitchFamily="18" charset="0"/>
              </a:rPr>
              <a:t>Hashcode</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zu sammeln. Es erstellt die </a:t>
            </a:r>
            <a:r>
              <a:rPr lang="de-DE" sz="1300" dirty="0" err="1">
                <a:effectLst/>
                <a:latin typeface="Century Gothic" panose="020B0502020202020204" pitchFamily="34" charset="0"/>
                <a:ea typeface="Times New Roman" panose="02020603050405020304" pitchFamily="18" charset="0"/>
                <a:cs typeface="Times New Roman" panose="02020603050405020304" pitchFamily="18" charset="0"/>
              </a:rPr>
              <a:t>Shards</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die jedem </a:t>
            </a:r>
            <a:r>
              <a:rPr lang="de-DE" sz="1300" dirty="0" err="1">
                <a:effectLst/>
                <a:latin typeface="Century Gothic" panose="020B0502020202020204" pitchFamily="34" charset="0"/>
                <a:ea typeface="Times New Roman" panose="02020603050405020304" pitchFamily="18" charset="0"/>
                <a:cs typeface="Times New Roman" panose="02020603050405020304" pitchFamily="18" charset="0"/>
              </a:rPr>
              <a:t>Reducer</a:t>
            </a:r>
            <a:r>
              <a:rPr lang="de-DE" sz="1300" dirty="0">
                <a:effectLst/>
                <a:latin typeface="Century Gothic" panose="020B0502020202020204" pitchFamily="34" charset="0"/>
                <a:ea typeface="Times New Roman" panose="02020603050405020304" pitchFamily="18" charset="0"/>
                <a:cs typeface="Times New Roman" panose="02020603050405020304" pitchFamily="18" charset="0"/>
              </a:rPr>
              <a:t> zugeordnet sind.</a:t>
            </a:r>
          </a:p>
        </p:txBody>
      </p:sp>
      <p:sp>
        <p:nvSpPr>
          <p:cNvPr id="6" name="Fußzeilenplatzhalter 5">
            <a:extLst>
              <a:ext uri="{FF2B5EF4-FFF2-40B4-BE49-F238E27FC236}">
                <a16:creationId xmlns:a16="http://schemas.microsoft.com/office/drawing/2014/main" id="{02AC1CFC-A180-C3B7-9A62-401FCAB999F9}"/>
              </a:ext>
            </a:extLst>
          </p:cNvPr>
          <p:cNvSpPr>
            <a:spLocks noGrp="1"/>
          </p:cNvSpPr>
          <p:nvPr>
            <p:ph type="ftr" sz="quarter" idx="11"/>
          </p:nvPr>
        </p:nvSpPr>
        <p:spPr/>
        <p:txBody>
          <a:bodyPr/>
          <a:lstStyle/>
          <a:p>
            <a:r>
              <a:rPr lang="en-US" spc="200"/>
              <a:t>Tobias Walter</a:t>
            </a:r>
            <a:endParaRPr lang="en-US" spc="200" dirty="0"/>
          </a:p>
        </p:txBody>
      </p:sp>
      <p:sp>
        <p:nvSpPr>
          <p:cNvPr id="7" name="Foliennummernplatzhalter 6">
            <a:extLst>
              <a:ext uri="{FF2B5EF4-FFF2-40B4-BE49-F238E27FC236}">
                <a16:creationId xmlns:a16="http://schemas.microsoft.com/office/drawing/2014/main" id="{323D9B3C-93B5-7B06-7DFE-81C5CE88CAD0}"/>
              </a:ext>
            </a:extLst>
          </p:cNvPr>
          <p:cNvSpPr>
            <a:spLocks noGrp="1"/>
          </p:cNvSpPr>
          <p:nvPr>
            <p:ph type="sldNum" sz="quarter" idx="12"/>
          </p:nvPr>
        </p:nvSpPr>
        <p:spPr/>
        <p:txBody>
          <a:bodyPr/>
          <a:lstStyle/>
          <a:p>
            <a:fld id="{0D309695-DEC3-40DA-9DF5-330280C9D0E8}" type="slidenum">
              <a:rPr lang="en-US" smtClean="0"/>
              <a:pPr/>
              <a:t>21</a:t>
            </a:fld>
            <a:endParaRPr lang="en-US" dirty="0"/>
          </a:p>
        </p:txBody>
      </p:sp>
    </p:spTree>
    <p:extLst>
      <p:ext uri="{BB962C8B-B14F-4D97-AF65-F5344CB8AC3E}">
        <p14:creationId xmlns:p14="http://schemas.microsoft.com/office/powerpoint/2010/main" val="3200744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a:xfrm>
            <a:off x="603249" y="1082673"/>
            <a:ext cx="3407580" cy="4708528"/>
          </a:xfrm>
        </p:spPr>
        <p:txBody>
          <a:bodyPr>
            <a:normAutofit/>
          </a:bodyPr>
          <a:lstStyle/>
          <a:p>
            <a:pPr algn="r"/>
            <a:r>
              <a:rPr lang="de-DE" sz="4000" dirty="0" err="1"/>
              <a:t>Reduce</a:t>
            </a:r>
            <a:r>
              <a:rPr lang="de-DE" sz="4000" dirty="0"/>
              <a:t> Task</a:t>
            </a:r>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a:xfrm>
            <a:off x="5297763" y="1082673"/>
            <a:ext cx="5751237" cy="4708528"/>
          </a:xfrm>
        </p:spPr>
        <p:txBody>
          <a:bodyPr anchor="ctr">
            <a:normAutofit/>
          </a:bodyPr>
          <a:lstStyle/>
          <a:p>
            <a:pPr marL="342900" lvl="0" indent="-342900">
              <a:lnSpc>
                <a:spcPct val="110000"/>
              </a:lnSpc>
              <a:buFont typeface="Symbol" panose="05050102010706020507" pitchFamily="18" charset="2"/>
              <a:buChar char=""/>
            </a:pPr>
            <a:r>
              <a:rPr lang="de-DE" sz="1400" b="1" dirty="0">
                <a:effectLst/>
                <a:latin typeface="Century Gothic" panose="020B0502020202020204" pitchFamily="34" charset="0"/>
                <a:ea typeface="Times New Roman" panose="02020603050405020304" pitchFamily="18" charset="0"/>
                <a:cs typeface="Times New Roman" panose="02020603050405020304" pitchFamily="18" charset="0"/>
              </a:rPr>
              <a:t>Shuffle and </a:t>
            </a:r>
            <a:r>
              <a:rPr lang="de-DE" sz="1400" b="1" dirty="0" err="1">
                <a:effectLst/>
                <a:latin typeface="Century Gothic" panose="020B0502020202020204" pitchFamily="34" charset="0"/>
                <a:ea typeface="Times New Roman" panose="02020603050405020304" pitchFamily="18" charset="0"/>
                <a:cs typeface="Times New Roman" panose="02020603050405020304" pitchFamily="18" charset="0"/>
              </a:rPr>
              <a:t>Sort</a:t>
            </a:r>
            <a:r>
              <a:rPr lang="de-DE" sz="1400" dirty="0">
                <a:effectLst/>
                <a:latin typeface="Century Gothic" panose="020B0502020202020204" pitchFamily="34" charset="0"/>
                <a:ea typeface="Times New Roman" panose="02020603050405020304" pitchFamily="18" charset="0"/>
                <a:cs typeface="Times New Roman" panose="02020603050405020304" pitchFamily="18" charset="0"/>
              </a:rPr>
              <a:t>: In diesem Schritt werden die von der Map-Funktion erzeugten Zwischenschlüssel-Wert-Paare an die </a:t>
            </a:r>
            <a:r>
              <a:rPr lang="de-DE" sz="1400" dirty="0" err="1">
                <a:effectLst/>
                <a:latin typeface="Century Gothic" panose="020B0502020202020204" pitchFamily="34" charset="0"/>
                <a:ea typeface="Times New Roman" panose="02020603050405020304" pitchFamily="18" charset="0"/>
                <a:cs typeface="Times New Roman" panose="02020603050405020304" pitchFamily="18" charset="0"/>
              </a:rPr>
              <a:t>Reducer</a:t>
            </a:r>
            <a:r>
              <a:rPr lang="de-DE" sz="1400" dirty="0">
                <a:effectLst/>
                <a:latin typeface="Century Gothic" panose="020B0502020202020204" pitchFamily="34" charset="0"/>
                <a:ea typeface="Times New Roman" panose="02020603050405020304" pitchFamily="18" charset="0"/>
                <a:cs typeface="Times New Roman" panose="02020603050405020304" pitchFamily="18" charset="0"/>
              </a:rPr>
              <a:t>-Aufgabe übertragen, und über ihre Schlüsselwerte sortiert.</a:t>
            </a:r>
          </a:p>
          <a:p>
            <a:pPr marL="342900" lvl="0" indent="-342900">
              <a:lnSpc>
                <a:spcPct val="110000"/>
              </a:lnSpc>
              <a:buFont typeface="Symbol" panose="05050102010706020507" pitchFamily="18" charset="2"/>
              <a:buChar char=""/>
            </a:pPr>
            <a:r>
              <a:rPr lang="de-DE" sz="1400" b="1" dirty="0" err="1">
                <a:effectLst/>
                <a:latin typeface="Century Gothic" panose="020B0502020202020204" pitchFamily="34" charset="0"/>
                <a:ea typeface="Times New Roman" panose="02020603050405020304" pitchFamily="18" charset="0"/>
                <a:cs typeface="Times New Roman" panose="02020603050405020304" pitchFamily="18" charset="0"/>
              </a:rPr>
              <a:t>Reducer</a:t>
            </a:r>
            <a:r>
              <a:rPr lang="de-DE" sz="1400" b="1" dirty="0">
                <a:effectLst/>
                <a:latin typeface="Century Gothic" panose="020B0502020202020204" pitchFamily="34" charset="0"/>
                <a:ea typeface="Times New Roman" panose="02020603050405020304" pitchFamily="18" charset="0"/>
                <a:cs typeface="Times New Roman" panose="02020603050405020304" pitchFamily="18" charset="0"/>
              </a:rPr>
              <a:t>:</a:t>
            </a:r>
            <a:r>
              <a:rPr lang="de-DE" sz="1400" dirty="0">
                <a:effectLst/>
                <a:latin typeface="Century Gothic" panose="020B0502020202020204" pitchFamily="34" charset="0"/>
                <a:ea typeface="Times New Roman" panose="02020603050405020304" pitchFamily="18" charset="0"/>
                <a:cs typeface="Times New Roman" panose="02020603050405020304" pitchFamily="18" charset="0"/>
              </a:rPr>
              <a:t> Die von der Map-Funktion erzeugten Tupel werden gesammelt und je nach Schlüsselelement Sortier- und Aggregationsprozesse durchzuführen.</a:t>
            </a:r>
          </a:p>
          <a:p>
            <a:pPr marL="342900" lvl="0" indent="-342900">
              <a:lnSpc>
                <a:spcPct val="110000"/>
              </a:lnSpc>
              <a:spcAft>
                <a:spcPts val="800"/>
              </a:spcAft>
              <a:buFont typeface="Symbol" panose="05050102010706020507" pitchFamily="18" charset="2"/>
              <a:buChar char=""/>
            </a:pPr>
            <a:r>
              <a:rPr lang="de-DE" sz="1400" b="1" dirty="0">
                <a:effectLst/>
                <a:latin typeface="Century Gothic" panose="020B0502020202020204" pitchFamily="34" charset="0"/>
                <a:ea typeface="Times New Roman" panose="02020603050405020304" pitchFamily="18" charset="0"/>
                <a:cs typeface="Times New Roman" panose="02020603050405020304" pitchFamily="18" charset="0"/>
              </a:rPr>
              <a:t>Output</a:t>
            </a:r>
            <a:r>
              <a:rPr lang="de-DE" sz="1400" dirty="0">
                <a:effectLst/>
                <a:latin typeface="Century Gothic" panose="020B0502020202020204" pitchFamily="34" charset="0"/>
                <a:ea typeface="Times New Roman" panose="02020603050405020304" pitchFamily="18" charset="0"/>
                <a:cs typeface="Times New Roman" panose="02020603050405020304" pitchFamily="18" charset="0"/>
              </a:rPr>
              <a:t>: Nachdem alle Operationen durchgeführt wurden, werden die Schlüssel-Wert-Paare mithilfe eines Datensatzschreibers in eine Datei geschrieben.</a:t>
            </a:r>
          </a:p>
          <a:p>
            <a:pPr>
              <a:lnSpc>
                <a:spcPct val="110000"/>
              </a:lnSpc>
            </a:pPr>
            <a:endParaRPr lang="de-DE" sz="1800" dirty="0"/>
          </a:p>
        </p:txBody>
      </p:sp>
      <p:sp>
        <p:nvSpPr>
          <p:cNvPr id="5" name="Fußzeilenplatzhalter 4">
            <a:extLst>
              <a:ext uri="{FF2B5EF4-FFF2-40B4-BE49-F238E27FC236}">
                <a16:creationId xmlns:a16="http://schemas.microsoft.com/office/drawing/2014/main" id="{13BE231A-150E-66F7-3A5A-2C3A37BCBFAA}"/>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4139CBA3-5F3D-71F4-4F1F-8BF5917349BE}"/>
              </a:ext>
            </a:extLst>
          </p:cNvPr>
          <p:cNvSpPr>
            <a:spLocks noGrp="1"/>
          </p:cNvSpPr>
          <p:nvPr>
            <p:ph type="sldNum" sz="quarter" idx="12"/>
          </p:nvPr>
        </p:nvSpPr>
        <p:spPr/>
        <p:txBody>
          <a:bodyPr/>
          <a:lstStyle/>
          <a:p>
            <a:fld id="{0D309695-DEC3-40DA-9DF5-330280C9D0E8}" type="slidenum">
              <a:rPr lang="en-US" smtClean="0"/>
              <a:pPr/>
              <a:t>22</a:t>
            </a:fld>
            <a:endParaRPr lang="en-US" dirty="0"/>
          </a:p>
        </p:txBody>
      </p:sp>
    </p:spTree>
    <p:extLst>
      <p:ext uri="{BB962C8B-B14F-4D97-AF65-F5344CB8AC3E}">
        <p14:creationId xmlns:p14="http://schemas.microsoft.com/office/powerpoint/2010/main" val="3212262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r>
              <a:rPr lang="de-DE"/>
              <a:t>NCDC WetterDatensatz</a:t>
            </a:r>
            <a:endParaRPr lang="de-DE" dirty="0"/>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a:xfrm>
            <a:off x="1141412" y="2249487"/>
            <a:ext cx="9905999" cy="768033"/>
          </a:xfrm>
        </p:spPr>
        <p:txBody>
          <a:bodyPr>
            <a:normAutofit fontScale="92500" lnSpcReduction="20000"/>
          </a:bodyPr>
          <a:lstStyle/>
          <a:p>
            <a:pPr marL="0" indent="0">
              <a:buNone/>
            </a:pPr>
            <a:r>
              <a:rPr lang="de-DE" dirty="0"/>
              <a:t>Eine MapReduce-Anwendung, die auf einem großen Wetterdatensatz ausgeführt wird. Die Hauptaufgabe besteht darin, die höchste Temperatur für jedes Jahr zu finden.</a:t>
            </a:r>
          </a:p>
        </p:txBody>
      </p:sp>
      <p:graphicFrame>
        <p:nvGraphicFramePr>
          <p:cNvPr id="8" name="Diagramm 7">
            <a:extLst>
              <a:ext uri="{FF2B5EF4-FFF2-40B4-BE49-F238E27FC236}">
                <a16:creationId xmlns:a16="http://schemas.microsoft.com/office/drawing/2014/main" id="{9576B79D-8F85-D791-F72F-BA1414A220CB}"/>
              </a:ext>
            </a:extLst>
          </p:cNvPr>
          <p:cNvGraphicFramePr/>
          <p:nvPr>
            <p:extLst>
              <p:ext uri="{D42A27DB-BD31-4B8C-83A1-F6EECF244321}">
                <p14:modId xmlns:p14="http://schemas.microsoft.com/office/powerpoint/2010/main" val="3853561314"/>
              </p:ext>
            </p:extLst>
          </p:nvPr>
        </p:nvGraphicFramePr>
        <p:xfrm>
          <a:off x="1234440" y="3517315"/>
          <a:ext cx="10241280" cy="17543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Fußzeilenplatzhalter 9">
            <a:extLst>
              <a:ext uri="{FF2B5EF4-FFF2-40B4-BE49-F238E27FC236}">
                <a16:creationId xmlns:a16="http://schemas.microsoft.com/office/drawing/2014/main" id="{6B527D03-33E1-3650-4F33-81DBA01583E9}"/>
              </a:ext>
            </a:extLst>
          </p:cNvPr>
          <p:cNvSpPr>
            <a:spLocks noGrp="1"/>
          </p:cNvSpPr>
          <p:nvPr>
            <p:ph type="ftr" sz="quarter" idx="11"/>
          </p:nvPr>
        </p:nvSpPr>
        <p:spPr/>
        <p:txBody>
          <a:bodyPr/>
          <a:lstStyle/>
          <a:p>
            <a:r>
              <a:rPr lang="en-US" spc="200"/>
              <a:t>Tobias Walter</a:t>
            </a:r>
            <a:endParaRPr lang="en-US" spc="200" dirty="0"/>
          </a:p>
        </p:txBody>
      </p:sp>
      <p:sp>
        <p:nvSpPr>
          <p:cNvPr id="12" name="Foliennummernplatzhalter 11">
            <a:extLst>
              <a:ext uri="{FF2B5EF4-FFF2-40B4-BE49-F238E27FC236}">
                <a16:creationId xmlns:a16="http://schemas.microsoft.com/office/drawing/2014/main" id="{E2D4D2F4-7204-61B6-8B9D-A936C081C58E}"/>
              </a:ext>
            </a:extLst>
          </p:cNvPr>
          <p:cNvSpPr>
            <a:spLocks noGrp="1"/>
          </p:cNvSpPr>
          <p:nvPr>
            <p:ph type="sldNum" sz="quarter" idx="12"/>
          </p:nvPr>
        </p:nvSpPr>
        <p:spPr/>
        <p:txBody>
          <a:bodyPr/>
          <a:lstStyle/>
          <a:p>
            <a:fld id="{0D309695-DEC3-40DA-9DF5-330280C9D0E8}" type="slidenum">
              <a:rPr lang="en-US" smtClean="0"/>
              <a:pPr/>
              <a:t>23</a:t>
            </a:fld>
            <a:endParaRPr lang="en-US" dirty="0"/>
          </a:p>
        </p:txBody>
      </p:sp>
    </p:spTree>
    <p:extLst>
      <p:ext uri="{BB962C8B-B14F-4D97-AF65-F5344CB8AC3E}">
        <p14:creationId xmlns:p14="http://schemas.microsoft.com/office/powerpoint/2010/main" val="3328696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pPr algn="ctr"/>
            <a:r>
              <a:rPr lang="de-DE" dirty="0" err="1"/>
              <a:t>Definiton</a:t>
            </a:r>
            <a:r>
              <a:rPr lang="de-DE" dirty="0"/>
              <a:t> der </a:t>
            </a:r>
            <a:r>
              <a:rPr lang="de-DE" dirty="0" err="1"/>
              <a:t>MapperKlasse</a:t>
            </a:r>
            <a:endParaRPr lang="de-DE" dirty="0"/>
          </a:p>
        </p:txBody>
      </p:sp>
      <p:pic>
        <p:nvPicPr>
          <p:cNvPr id="7" name="Inhaltsplatzhalter 6" descr="Ein Bild, das Text, Screenshot, Software enthält.&#10;&#10;Automatisch generierte Beschreibung">
            <a:extLst>
              <a:ext uri="{FF2B5EF4-FFF2-40B4-BE49-F238E27FC236}">
                <a16:creationId xmlns:a16="http://schemas.microsoft.com/office/drawing/2014/main" id="{4FC9F408-7FB2-E5B2-A766-BC259A30A23A}"/>
              </a:ext>
            </a:extLst>
          </p:cNvPr>
          <p:cNvPicPr>
            <a:picLocks noGrp="1" noChangeAspect="1"/>
          </p:cNvPicPr>
          <p:nvPr>
            <p:ph idx="1"/>
          </p:nvPr>
        </p:nvPicPr>
        <p:blipFill>
          <a:blip r:embed="rId3"/>
          <a:stretch>
            <a:fillRect/>
          </a:stretch>
        </p:blipFill>
        <p:spPr>
          <a:xfrm>
            <a:off x="2462120" y="2249488"/>
            <a:ext cx="7264585" cy="3541712"/>
          </a:xfrm>
          <a:prstGeom prst="rect">
            <a:avLst/>
          </a:prstGeom>
        </p:spPr>
      </p:pic>
      <p:sp>
        <p:nvSpPr>
          <p:cNvPr id="9" name="Fußzeilenplatzhalter 8">
            <a:extLst>
              <a:ext uri="{FF2B5EF4-FFF2-40B4-BE49-F238E27FC236}">
                <a16:creationId xmlns:a16="http://schemas.microsoft.com/office/drawing/2014/main" id="{C98D984C-6D8C-7517-104D-41FBFCE64306}"/>
              </a:ext>
            </a:extLst>
          </p:cNvPr>
          <p:cNvSpPr>
            <a:spLocks noGrp="1"/>
          </p:cNvSpPr>
          <p:nvPr>
            <p:ph type="ftr" sz="quarter" idx="11"/>
          </p:nvPr>
        </p:nvSpPr>
        <p:spPr/>
        <p:txBody>
          <a:bodyPr/>
          <a:lstStyle/>
          <a:p>
            <a:r>
              <a:rPr lang="en-US" spc="200"/>
              <a:t>Tobias Walter</a:t>
            </a:r>
            <a:endParaRPr lang="en-US" spc="200" dirty="0"/>
          </a:p>
        </p:txBody>
      </p:sp>
      <p:sp>
        <p:nvSpPr>
          <p:cNvPr id="10" name="Foliennummernplatzhalter 9">
            <a:extLst>
              <a:ext uri="{FF2B5EF4-FFF2-40B4-BE49-F238E27FC236}">
                <a16:creationId xmlns:a16="http://schemas.microsoft.com/office/drawing/2014/main" id="{4DC7319A-0E1E-6D61-D6C5-A9FD249366B7}"/>
              </a:ext>
            </a:extLst>
          </p:cNvPr>
          <p:cNvSpPr>
            <a:spLocks noGrp="1"/>
          </p:cNvSpPr>
          <p:nvPr>
            <p:ph type="sldNum" sz="quarter" idx="12"/>
          </p:nvPr>
        </p:nvSpPr>
        <p:spPr/>
        <p:txBody>
          <a:bodyPr/>
          <a:lstStyle/>
          <a:p>
            <a:fld id="{0D309695-DEC3-40DA-9DF5-330280C9D0E8}" type="slidenum">
              <a:rPr lang="en-US" smtClean="0"/>
              <a:pPr/>
              <a:t>24</a:t>
            </a:fld>
            <a:endParaRPr lang="en-US" dirty="0"/>
          </a:p>
        </p:txBody>
      </p:sp>
    </p:spTree>
    <p:extLst>
      <p:ext uri="{BB962C8B-B14F-4D97-AF65-F5344CB8AC3E}">
        <p14:creationId xmlns:p14="http://schemas.microsoft.com/office/powerpoint/2010/main" val="1400146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pPr algn="ctr"/>
            <a:r>
              <a:rPr lang="de-DE" dirty="0" err="1"/>
              <a:t>Definiton</a:t>
            </a:r>
            <a:r>
              <a:rPr lang="de-DE" dirty="0"/>
              <a:t> der </a:t>
            </a:r>
            <a:r>
              <a:rPr lang="de-DE" dirty="0" err="1"/>
              <a:t>ReducerKlasse</a:t>
            </a:r>
            <a:endParaRPr lang="de-DE" dirty="0"/>
          </a:p>
        </p:txBody>
      </p:sp>
      <p:pic>
        <p:nvPicPr>
          <p:cNvPr id="5" name="Grafik 4" descr="Ein Bild, das Text, Screenshot, Schrift enthält.&#10;&#10;Automatisch generierte Beschreibung">
            <a:extLst>
              <a:ext uri="{FF2B5EF4-FFF2-40B4-BE49-F238E27FC236}">
                <a16:creationId xmlns:a16="http://schemas.microsoft.com/office/drawing/2014/main" id="{67975B59-89F0-F6E2-E113-BF469033B49E}"/>
              </a:ext>
            </a:extLst>
          </p:cNvPr>
          <p:cNvPicPr>
            <a:picLocks noChangeAspect="1"/>
          </p:cNvPicPr>
          <p:nvPr/>
        </p:nvPicPr>
        <p:blipFill>
          <a:blip r:embed="rId3"/>
          <a:stretch>
            <a:fillRect/>
          </a:stretch>
        </p:blipFill>
        <p:spPr>
          <a:xfrm>
            <a:off x="2374233" y="2332672"/>
            <a:ext cx="7443533" cy="2498408"/>
          </a:xfrm>
          <a:prstGeom prst="rect">
            <a:avLst/>
          </a:prstGeom>
        </p:spPr>
      </p:pic>
      <p:sp>
        <p:nvSpPr>
          <p:cNvPr id="8" name="Fußzeilenplatzhalter 7">
            <a:extLst>
              <a:ext uri="{FF2B5EF4-FFF2-40B4-BE49-F238E27FC236}">
                <a16:creationId xmlns:a16="http://schemas.microsoft.com/office/drawing/2014/main" id="{79DE2188-3C6C-3521-E72F-6C027BC70A6C}"/>
              </a:ext>
            </a:extLst>
          </p:cNvPr>
          <p:cNvSpPr>
            <a:spLocks noGrp="1"/>
          </p:cNvSpPr>
          <p:nvPr>
            <p:ph type="ftr" sz="quarter" idx="11"/>
          </p:nvPr>
        </p:nvSpPr>
        <p:spPr/>
        <p:txBody>
          <a:bodyPr/>
          <a:lstStyle/>
          <a:p>
            <a:r>
              <a:rPr lang="en-US" spc="200"/>
              <a:t>Tobias Walter</a:t>
            </a:r>
            <a:endParaRPr lang="en-US" spc="200" dirty="0"/>
          </a:p>
        </p:txBody>
      </p:sp>
      <p:sp>
        <p:nvSpPr>
          <p:cNvPr id="9" name="Foliennummernplatzhalter 8">
            <a:extLst>
              <a:ext uri="{FF2B5EF4-FFF2-40B4-BE49-F238E27FC236}">
                <a16:creationId xmlns:a16="http://schemas.microsoft.com/office/drawing/2014/main" id="{AC5E95E1-74D0-1B24-383A-9CD64538051B}"/>
              </a:ext>
            </a:extLst>
          </p:cNvPr>
          <p:cNvSpPr>
            <a:spLocks noGrp="1"/>
          </p:cNvSpPr>
          <p:nvPr>
            <p:ph type="sldNum" sz="quarter" idx="12"/>
          </p:nvPr>
        </p:nvSpPr>
        <p:spPr/>
        <p:txBody>
          <a:bodyPr/>
          <a:lstStyle/>
          <a:p>
            <a:fld id="{0D309695-DEC3-40DA-9DF5-330280C9D0E8}" type="slidenum">
              <a:rPr lang="en-US" smtClean="0"/>
              <a:pPr/>
              <a:t>25</a:t>
            </a:fld>
            <a:endParaRPr lang="en-US" dirty="0"/>
          </a:p>
        </p:txBody>
      </p:sp>
    </p:spTree>
    <p:extLst>
      <p:ext uri="{BB962C8B-B14F-4D97-AF65-F5344CB8AC3E}">
        <p14:creationId xmlns:p14="http://schemas.microsoft.com/office/powerpoint/2010/main" val="413078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pPr algn="ctr"/>
            <a:r>
              <a:rPr lang="de-DE" dirty="0"/>
              <a:t>Ausführung über </a:t>
            </a:r>
            <a:r>
              <a:rPr lang="de-DE" dirty="0" err="1"/>
              <a:t>JobRunner</a:t>
            </a:r>
            <a:endParaRPr lang="de-DE" dirty="0"/>
          </a:p>
        </p:txBody>
      </p:sp>
      <p:pic>
        <p:nvPicPr>
          <p:cNvPr id="3" name="Grafik 2" descr="Ein Bild, das Text, Screenshot, Schrift enthält.&#10;&#10;Automatisch generierte Beschreibung">
            <a:extLst>
              <a:ext uri="{FF2B5EF4-FFF2-40B4-BE49-F238E27FC236}">
                <a16:creationId xmlns:a16="http://schemas.microsoft.com/office/drawing/2014/main" id="{80CB120D-3F29-38E3-1E84-F21F50FB7947}"/>
              </a:ext>
            </a:extLst>
          </p:cNvPr>
          <p:cNvPicPr>
            <a:picLocks noChangeAspect="1"/>
          </p:cNvPicPr>
          <p:nvPr/>
        </p:nvPicPr>
        <p:blipFill>
          <a:blip r:embed="rId3"/>
          <a:stretch>
            <a:fillRect/>
          </a:stretch>
        </p:blipFill>
        <p:spPr>
          <a:xfrm>
            <a:off x="3214052" y="1959928"/>
            <a:ext cx="5760720" cy="3963035"/>
          </a:xfrm>
          <a:prstGeom prst="rect">
            <a:avLst/>
          </a:prstGeom>
        </p:spPr>
      </p:pic>
      <p:sp>
        <p:nvSpPr>
          <p:cNvPr id="6" name="Fußzeilenplatzhalter 5">
            <a:extLst>
              <a:ext uri="{FF2B5EF4-FFF2-40B4-BE49-F238E27FC236}">
                <a16:creationId xmlns:a16="http://schemas.microsoft.com/office/drawing/2014/main" id="{2C3B4885-FD20-EA14-973B-DA78D08B3F4A}"/>
              </a:ext>
            </a:extLst>
          </p:cNvPr>
          <p:cNvSpPr>
            <a:spLocks noGrp="1"/>
          </p:cNvSpPr>
          <p:nvPr>
            <p:ph type="ftr" sz="quarter" idx="11"/>
          </p:nvPr>
        </p:nvSpPr>
        <p:spPr/>
        <p:txBody>
          <a:bodyPr/>
          <a:lstStyle/>
          <a:p>
            <a:r>
              <a:rPr lang="en-US" spc="200"/>
              <a:t>Tobias Walter</a:t>
            </a:r>
            <a:endParaRPr lang="en-US" spc="200" dirty="0"/>
          </a:p>
        </p:txBody>
      </p:sp>
      <p:sp>
        <p:nvSpPr>
          <p:cNvPr id="7" name="Foliennummernplatzhalter 6">
            <a:extLst>
              <a:ext uri="{FF2B5EF4-FFF2-40B4-BE49-F238E27FC236}">
                <a16:creationId xmlns:a16="http://schemas.microsoft.com/office/drawing/2014/main" id="{2BF60781-D6E3-5CF5-2D8C-BAA7294A6804}"/>
              </a:ext>
            </a:extLst>
          </p:cNvPr>
          <p:cNvSpPr>
            <a:spLocks noGrp="1"/>
          </p:cNvSpPr>
          <p:nvPr>
            <p:ph type="sldNum" sz="quarter" idx="12"/>
          </p:nvPr>
        </p:nvSpPr>
        <p:spPr/>
        <p:txBody>
          <a:bodyPr/>
          <a:lstStyle/>
          <a:p>
            <a:fld id="{0D309695-DEC3-40DA-9DF5-330280C9D0E8}" type="slidenum">
              <a:rPr lang="en-US" smtClean="0"/>
              <a:pPr/>
              <a:t>26</a:t>
            </a:fld>
            <a:endParaRPr lang="en-US" dirty="0"/>
          </a:p>
        </p:txBody>
      </p:sp>
    </p:spTree>
    <p:extLst>
      <p:ext uri="{BB962C8B-B14F-4D97-AF65-F5344CB8AC3E}">
        <p14:creationId xmlns:p14="http://schemas.microsoft.com/office/powerpoint/2010/main" val="1490524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r>
              <a:rPr lang="de-DE" dirty="0"/>
              <a:t>Übungsaufgabe 1</a:t>
            </a:r>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p:txBody>
          <a:bodyPr>
            <a:normAutofit fontScale="70000" lnSpcReduction="20000"/>
          </a:bodyPr>
          <a:lstStyle/>
          <a:p>
            <a:pPr marL="0" lvl="0" indent="0" algn="just">
              <a:lnSpc>
                <a:spcPct val="125000"/>
              </a:lnSpc>
              <a:spcAft>
                <a:spcPts val="800"/>
              </a:spcAft>
              <a:buNone/>
              <a:tabLst>
                <a:tab pos="228600" algn="l"/>
              </a:tabLst>
            </a:pPr>
            <a:r>
              <a:rPr lang="de-DE" dirty="0"/>
              <a:t>1. Erstellen sie eine Map-Funktion und eine </a:t>
            </a:r>
            <a:r>
              <a:rPr lang="de-DE" dirty="0" err="1"/>
              <a:t>Reduce</a:t>
            </a:r>
            <a:r>
              <a:rPr lang="de-DE" dirty="0"/>
              <a:t>-Funktion mit dessen Hilfe ein Job in Apache Hadoop die Anzahl von einem Token/Wort aus einer Textdatei lesen kann.</a:t>
            </a:r>
          </a:p>
          <a:p>
            <a:pPr algn="just">
              <a:lnSpc>
                <a:spcPct val="125000"/>
              </a:lnSpc>
              <a:spcAft>
                <a:spcPts val="800"/>
              </a:spcAft>
            </a:pPr>
            <a:r>
              <a:rPr lang="de-DE" dirty="0"/>
              <a:t>Für die Map-Funktion gibt es die Klasse </a:t>
            </a:r>
            <a:r>
              <a:rPr lang="de-DE" dirty="0" err="1"/>
              <a:t>StringTokenizer</a:t>
            </a:r>
            <a:r>
              <a:rPr lang="de-DE" dirty="0"/>
              <a:t> die vom MapReduce Framework bereitgestellt wird:</a:t>
            </a:r>
          </a:p>
          <a:p>
            <a:pPr algn="just">
              <a:lnSpc>
                <a:spcPct val="125000"/>
              </a:lnSpc>
              <a:spcAft>
                <a:spcPts val="800"/>
              </a:spcAft>
            </a:pPr>
            <a:r>
              <a:rPr lang="de-DE" dirty="0" err="1"/>
              <a:t>new</a:t>
            </a:r>
            <a:r>
              <a:rPr lang="de-DE" dirty="0"/>
              <a:t> </a:t>
            </a:r>
            <a:r>
              <a:rPr lang="de-DE" dirty="0" err="1"/>
              <a:t>StringTokenizer</a:t>
            </a:r>
            <a:r>
              <a:rPr lang="de-DE" dirty="0"/>
              <a:t>(String </a:t>
            </a:r>
            <a:r>
              <a:rPr lang="de-DE" dirty="0" err="1"/>
              <a:t>input</a:t>
            </a:r>
            <a:r>
              <a:rPr lang="de-DE" dirty="0"/>
              <a:t>) - Erstellt einen </a:t>
            </a:r>
            <a:r>
              <a:rPr lang="de-DE" dirty="0" err="1"/>
              <a:t>Tokenizer</a:t>
            </a:r>
            <a:r>
              <a:rPr lang="de-DE" dirty="0"/>
              <a:t> für ein String</a:t>
            </a:r>
          </a:p>
          <a:p>
            <a:pPr algn="just">
              <a:lnSpc>
                <a:spcPct val="125000"/>
              </a:lnSpc>
              <a:spcAft>
                <a:spcPts val="800"/>
              </a:spcAft>
            </a:pPr>
            <a:r>
              <a:rPr lang="de-DE" dirty="0" err="1"/>
              <a:t>StringTokenizer.hasMoreTokes</a:t>
            </a:r>
            <a:r>
              <a:rPr lang="de-DE" dirty="0"/>
              <a:t>() - Es existieren weitere Tokens/Wörter im String</a:t>
            </a:r>
          </a:p>
          <a:p>
            <a:pPr algn="just">
              <a:lnSpc>
                <a:spcPct val="125000"/>
              </a:lnSpc>
              <a:spcAft>
                <a:spcPts val="800"/>
              </a:spcAft>
            </a:pPr>
            <a:r>
              <a:rPr lang="de-DE" dirty="0" err="1"/>
              <a:t>StringTokenizer.nextToken</a:t>
            </a:r>
            <a:r>
              <a:rPr lang="de-DE" dirty="0"/>
              <a:t>() - Gibt den nächsten Token zurück und setzt den Iterator auf den nächsten Token</a:t>
            </a:r>
          </a:p>
          <a:p>
            <a:pPr marL="0" indent="0" algn="just">
              <a:lnSpc>
                <a:spcPct val="125000"/>
              </a:lnSpc>
              <a:spcAft>
                <a:spcPts val="800"/>
              </a:spcAft>
              <a:buNone/>
            </a:pPr>
            <a:r>
              <a:rPr lang="de-DE" b="1" dirty="0"/>
              <a:t>In diesem Fall müssen sie statt </a:t>
            </a:r>
            <a:r>
              <a:rPr lang="de-DE" b="1" dirty="0" err="1"/>
              <a:t>context.write</a:t>
            </a:r>
            <a:r>
              <a:rPr lang="de-DE" b="1" dirty="0"/>
              <a:t>() den Befehl </a:t>
            </a:r>
            <a:r>
              <a:rPr lang="de-DE" b="1" dirty="0" err="1"/>
              <a:t>output.collect</a:t>
            </a:r>
            <a:r>
              <a:rPr lang="de-DE" b="1" dirty="0"/>
              <a:t>(Text </a:t>
            </a:r>
            <a:r>
              <a:rPr lang="de-DE" b="1" dirty="0" err="1"/>
              <a:t>key</a:t>
            </a:r>
            <a:r>
              <a:rPr lang="de-DE" b="1" dirty="0"/>
              <a:t>, </a:t>
            </a:r>
            <a:r>
              <a:rPr lang="de-DE" b="1" dirty="0" err="1"/>
              <a:t>IntWritable</a:t>
            </a:r>
            <a:r>
              <a:rPr lang="de-DE" b="1" dirty="0"/>
              <a:t> </a:t>
            </a:r>
            <a:r>
              <a:rPr lang="de-DE" b="1" dirty="0" err="1"/>
              <a:t>value</a:t>
            </a:r>
            <a:r>
              <a:rPr lang="de-DE" b="1" dirty="0"/>
              <a:t>) verwenden.</a:t>
            </a:r>
          </a:p>
          <a:p>
            <a:pPr marL="0" indent="0">
              <a:buNone/>
            </a:pPr>
            <a:endParaRPr lang="de-DE" dirty="0"/>
          </a:p>
        </p:txBody>
      </p:sp>
      <p:sp>
        <p:nvSpPr>
          <p:cNvPr id="5" name="Fußzeilenplatzhalter 4">
            <a:extLst>
              <a:ext uri="{FF2B5EF4-FFF2-40B4-BE49-F238E27FC236}">
                <a16:creationId xmlns:a16="http://schemas.microsoft.com/office/drawing/2014/main" id="{9D48983A-126A-FEC0-1B39-14453B726C01}"/>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12F7FBBE-81D5-6BAC-E08C-9B68EF5A4CA6}"/>
              </a:ext>
            </a:extLst>
          </p:cNvPr>
          <p:cNvSpPr>
            <a:spLocks noGrp="1"/>
          </p:cNvSpPr>
          <p:nvPr>
            <p:ph type="sldNum" sz="quarter" idx="12"/>
          </p:nvPr>
        </p:nvSpPr>
        <p:spPr/>
        <p:txBody>
          <a:bodyPr/>
          <a:lstStyle/>
          <a:p>
            <a:fld id="{0D309695-DEC3-40DA-9DF5-330280C9D0E8}" type="slidenum">
              <a:rPr lang="en-US" smtClean="0"/>
              <a:pPr/>
              <a:t>27</a:t>
            </a:fld>
            <a:endParaRPr lang="en-US" dirty="0"/>
          </a:p>
        </p:txBody>
      </p:sp>
    </p:spTree>
    <p:extLst>
      <p:ext uri="{BB962C8B-B14F-4D97-AF65-F5344CB8AC3E}">
        <p14:creationId xmlns:p14="http://schemas.microsoft.com/office/powerpoint/2010/main" val="3553834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4751EC-83D3-ECFF-CBF1-E244DD491F11}"/>
              </a:ext>
            </a:extLst>
          </p:cNvPr>
          <p:cNvSpPr>
            <a:spLocks noGrp="1"/>
          </p:cNvSpPr>
          <p:nvPr>
            <p:ph type="title"/>
          </p:nvPr>
        </p:nvSpPr>
        <p:spPr/>
        <p:txBody>
          <a:bodyPr/>
          <a:lstStyle/>
          <a:p>
            <a:r>
              <a:rPr lang="de-DE" dirty="0"/>
              <a:t>Lösung – Übung 1</a:t>
            </a:r>
          </a:p>
        </p:txBody>
      </p:sp>
      <p:pic>
        <p:nvPicPr>
          <p:cNvPr id="5" name="Inhaltsplatzhalter 4">
            <a:extLst>
              <a:ext uri="{FF2B5EF4-FFF2-40B4-BE49-F238E27FC236}">
                <a16:creationId xmlns:a16="http://schemas.microsoft.com/office/drawing/2014/main" id="{4EB112E4-3FD6-FFBB-DA50-A40C8EF8E10B}"/>
              </a:ext>
            </a:extLst>
          </p:cNvPr>
          <p:cNvPicPr>
            <a:picLocks noGrp="1" noChangeAspect="1"/>
          </p:cNvPicPr>
          <p:nvPr>
            <p:ph idx="1"/>
          </p:nvPr>
        </p:nvPicPr>
        <p:blipFill>
          <a:blip r:embed="rId3"/>
          <a:stretch>
            <a:fillRect/>
          </a:stretch>
        </p:blipFill>
        <p:spPr>
          <a:xfrm>
            <a:off x="1141413" y="1867006"/>
            <a:ext cx="9906000" cy="2081636"/>
          </a:xfrm>
        </p:spPr>
      </p:pic>
      <p:pic>
        <p:nvPicPr>
          <p:cNvPr id="8" name="Grafik 7">
            <a:extLst>
              <a:ext uri="{FF2B5EF4-FFF2-40B4-BE49-F238E27FC236}">
                <a16:creationId xmlns:a16="http://schemas.microsoft.com/office/drawing/2014/main" id="{148ABD1E-CFBC-962B-23C1-87B4B85484E0}"/>
              </a:ext>
            </a:extLst>
          </p:cNvPr>
          <p:cNvPicPr>
            <a:picLocks noChangeAspect="1"/>
          </p:cNvPicPr>
          <p:nvPr/>
        </p:nvPicPr>
        <p:blipFill>
          <a:blip r:embed="rId4"/>
          <a:stretch>
            <a:fillRect/>
          </a:stretch>
        </p:blipFill>
        <p:spPr>
          <a:xfrm>
            <a:off x="1141414" y="4106227"/>
            <a:ext cx="9905998" cy="1357313"/>
          </a:xfrm>
          <a:prstGeom prst="rect">
            <a:avLst/>
          </a:prstGeom>
        </p:spPr>
      </p:pic>
      <p:sp>
        <p:nvSpPr>
          <p:cNvPr id="10" name="Fußzeilenplatzhalter 9">
            <a:extLst>
              <a:ext uri="{FF2B5EF4-FFF2-40B4-BE49-F238E27FC236}">
                <a16:creationId xmlns:a16="http://schemas.microsoft.com/office/drawing/2014/main" id="{8A023575-6003-CF13-7544-B307F9D2FADE}"/>
              </a:ext>
            </a:extLst>
          </p:cNvPr>
          <p:cNvSpPr>
            <a:spLocks noGrp="1"/>
          </p:cNvSpPr>
          <p:nvPr>
            <p:ph type="ftr" sz="quarter" idx="11"/>
          </p:nvPr>
        </p:nvSpPr>
        <p:spPr/>
        <p:txBody>
          <a:bodyPr/>
          <a:lstStyle/>
          <a:p>
            <a:r>
              <a:rPr lang="en-US" spc="200"/>
              <a:t>Tobias Walter</a:t>
            </a:r>
            <a:endParaRPr lang="en-US" spc="200" dirty="0"/>
          </a:p>
        </p:txBody>
      </p:sp>
      <p:sp>
        <p:nvSpPr>
          <p:cNvPr id="11" name="Foliennummernplatzhalter 10">
            <a:extLst>
              <a:ext uri="{FF2B5EF4-FFF2-40B4-BE49-F238E27FC236}">
                <a16:creationId xmlns:a16="http://schemas.microsoft.com/office/drawing/2014/main" id="{2D4BD2B2-F165-4175-BB6E-5B3112B74E84}"/>
              </a:ext>
            </a:extLst>
          </p:cNvPr>
          <p:cNvSpPr>
            <a:spLocks noGrp="1"/>
          </p:cNvSpPr>
          <p:nvPr>
            <p:ph type="sldNum" sz="quarter" idx="12"/>
          </p:nvPr>
        </p:nvSpPr>
        <p:spPr/>
        <p:txBody>
          <a:bodyPr/>
          <a:lstStyle/>
          <a:p>
            <a:fld id="{0D309695-DEC3-40DA-9DF5-330280C9D0E8}" type="slidenum">
              <a:rPr lang="en-US" smtClean="0"/>
              <a:pPr/>
              <a:t>28</a:t>
            </a:fld>
            <a:endParaRPr lang="en-US" dirty="0"/>
          </a:p>
        </p:txBody>
      </p:sp>
    </p:spTree>
    <p:extLst>
      <p:ext uri="{BB962C8B-B14F-4D97-AF65-F5344CB8AC3E}">
        <p14:creationId xmlns:p14="http://schemas.microsoft.com/office/powerpoint/2010/main" val="3407172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r>
              <a:rPr lang="de-DE" dirty="0"/>
              <a:t>Übungsaufgabe 2</a:t>
            </a:r>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p:txBody>
          <a:bodyPr>
            <a:normAutofit fontScale="85000" lnSpcReduction="10000"/>
          </a:bodyPr>
          <a:lstStyle/>
          <a:p>
            <a:pPr marL="0" indent="0" algn="just">
              <a:lnSpc>
                <a:spcPct val="125000"/>
              </a:lnSpc>
              <a:spcAft>
                <a:spcPts val="800"/>
              </a:spcAft>
              <a:buNone/>
            </a:pPr>
            <a:r>
              <a:rPr lang="de-DE" dirty="0"/>
              <a:t>2. Visualisieren Sie nun die Schritte die ihr MapReduce Job für Sie erledigt. Sie können dafür 3 Cluster als Ausganspunkt nehmen die Daten einer Textdatei beinhalten. Wenn sie das Beispiel ganz einfach halten wollen, können Sie als String einfach ein Set aus Buchstaben verwenden.</a:t>
            </a:r>
          </a:p>
          <a:p>
            <a:pPr marL="0" indent="0" algn="just">
              <a:lnSpc>
                <a:spcPct val="125000"/>
              </a:lnSpc>
              <a:spcAft>
                <a:spcPts val="800"/>
              </a:spcAft>
              <a:buNone/>
            </a:pPr>
            <a:r>
              <a:rPr lang="de-DE" dirty="0"/>
              <a:t>Schritte die es zu visualisieren gilt:</a:t>
            </a:r>
          </a:p>
          <a:p>
            <a:pPr marL="342900" lvl="0" indent="-342900" algn="just">
              <a:lnSpc>
                <a:spcPct val="125000"/>
              </a:lnSpc>
              <a:buFont typeface="Symbol" panose="05050102010706020507" pitchFamily="18" charset="2"/>
              <a:buChar char=""/>
            </a:pPr>
            <a:r>
              <a:rPr lang="de-DE" dirty="0"/>
              <a:t>Mapping Phase</a:t>
            </a:r>
          </a:p>
          <a:p>
            <a:pPr marL="342900" lvl="0" indent="-342900" algn="just">
              <a:lnSpc>
                <a:spcPct val="125000"/>
              </a:lnSpc>
              <a:buFont typeface="Symbol" panose="05050102010706020507" pitchFamily="18" charset="2"/>
              <a:buChar char=""/>
            </a:pPr>
            <a:r>
              <a:rPr lang="de-DE" dirty="0" err="1"/>
              <a:t>Sort</a:t>
            </a:r>
            <a:r>
              <a:rPr lang="de-DE" dirty="0"/>
              <a:t> und Shuffle Phase</a:t>
            </a:r>
          </a:p>
          <a:p>
            <a:pPr marL="342900" lvl="0" indent="-342900" algn="just">
              <a:lnSpc>
                <a:spcPct val="125000"/>
              </a:lnSpc>
              <a:spcAft>
                <a:spcPts val="800"/>
              </a:spcAft>
              <a:buFont typeface="Symbol" panose="05050102010706020507" pitchFamily="18" charset="2"/>
              <a:buChar char=""/>
            </a:pPr>
            <a:r>
              <a:rPr lang="de-DE" dirty="0" err="1"/>
              <a:t>Reduce</a:t>
            </a:r>
            <a:r>
              <a:rPr lang="de-DE" dirty="0"/>
              <a:t> Phase</a:t>
            </a:r>
          </a:p>
          <a:p>
            <a:pPr marL="0" indent="0">
              <a:buNone/>
            </a:pPr>
            <a:endParaRPr lang="de-DE" dirty="0"/>
          </a:p>
        </p:txBody>
      </p:sp>
      <p:sp>
        <p:nvSpPr>
          <p:cNvPr id="5" name="Fußzeilenplatzhalter 4">
            <a:extLst>
              <a:ext uri="{FF2B5EF4-FFF2-40B4-BE49-F238E27FC236}">
                <a16:creationId xmlns:a16="http://schemas.microsoft.com/office/drawing/2014/main" id="{8553AED2-F6D5-FFFF-31B2-8E61FDAE8DFF}"/>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D5D026DB-167F-E7B7-83C1-BE867B81112E}"/>
              </a:ext>
            </a:extLst>
          </p:cNvPr>
          <p:cNvSpPr>
            <a:spLocks noGrp="1"/>
          </p:cNvSpPr>
          <p:nvPr>
            <p:ph type="sldNum" sz="quarter" idx="12"/>
          </p:nvPr>
        </p:nvSpPr>
        <p:spPr/>
        <p:txBody>
          <a:bodyPr/>
          <a:lstStyle/>
          <a:p>
            <a:fld id="{0D309695-DEC3-40DA-9DF5-330280C9D0E8}" type="slidenum">
              <a:rPr lang="en-US" smtClean="0"/>
              <a:pPr/>
              <a:t>29</a:t>
            </a:fld>
            <a:endParaRPr lang="en-US" dirty="0"/>
          </a:p>
        </p:txBody>
      </p:sp>
    </p:spTree>
    <p:extLst>
      <p:ext uri="{BB962C8B-B14F-4D97-AF65-F5344CB8AC3E}">
        <p14:creationId xmlns:p14="http://schemas.microsoft.com/office/powerpoint/2010/main" val="2456622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D5D7A9-491A-6138-895F-8EA7B27656F7}"/>
              </a:ext>
            </a:extLst>
          </p:cNvPr>
          <p:cNvSpPr>
            <a:spLocks noGrp="1"/>
          </p:cNvSpPr>
          <p:nvPr>
            <p:ph type="title"/>
          </p:nvPr>
        </p:nvSpPr>
        <p:spPr/>
        <p:txBody>
          <a:bodyPr/>
          <a:lstStyle/>
          <a:p>
            <a:r>
              <a:rPr lang="de-DE" dirty="0"/>
              <a:t>Lösung – Übung 2</a:t>
            </a:r>
          </a:p>
        </p:txBody>
      </p:sp>
      <p:sp>
        <p:nvSpPr>
          <p:cNvPr id="3" name="Inhaltsplatzhalter 2">
            <a:extLst>
              <a:ext uri="{FF2B5EF4-FFF2-40B4-BE49-F238E27FC236}">
                <a16:creationId xmlns:a16="http://schemas.microsoft.com/office/drawing/2014/main" id="{9DCCE3A3-7BE9-F8FD-D75B-3BBD8CF23B81}"/>
              </a:ext>
            </a:extLst>
          </p:cNvPr>
          <p:cNvSpPr>
            <a:spLocks noGrp="1"/>
          </p:cNvSpPr>
          <p:nvPr>
            <p:ph idx="1"/>
          </p:nvPr>
        </p:nvSpPr>
        <p:spPr/>
        <p:txBody>
          <a:bodyPr/>
          <a:lstStyle/>
          <a:p>
            <a:pPr marL="0" indent="0">
              <a:buNone/>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Input:	</a:t>
            </a:r>
          </a:p>
          <a:p>
            <a:pPr marL="0" indent="0">
              <a:buNone/>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This is an Apple; </a:t>
            </a:r>
          </a:p>
          <a:p>
            <a:pPr marL="0" indent="0">
              <a:buNone/>
            </a:pP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The Apple is </a:t>
            </a:r>
            <a:r>
              <a:rPr lang="de-DE" sz="1800" dirty="0" err="1">
                <a:effectLst/>
                <a:latin typeface="Century Gothic" panose="020B0502020202020204" pitchFamily="34" charset="0"/>
                <a:ea typeface="Times New Roman" panose="02020603050405020304" pitchFamily="18" charset="0"/>
                <a:cs typeface="Times New Roman" panose="02020603050405020304" pitchFamily="18" charset="0"/>
              </a:rPr>
              <a:t>red</a:t>
            </a:r>
            <a:endParaRPr lang="de-DE" sz="18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0" indent="0">
              <a:buNone/>
            </a:pPr>
            <a:endParaRPr lang="de-DE" dirty="0"/>
          </a:p>
        </p:txBody>
      </p:sp>
      <p:graphicFrame>
        <p:nvGraphicFramePr>
          <p:cNvPr id="5" name="Diagramm 4">
            <a:extLst>
              <a:ext uri="{FF2B5EF4-FFF2-40B4-BE49-F238E27FC236}">
                <a16:creationId xmlns:a16="http://schemas.microsoft.com/office/drawing/2014/main" id="{731B5C90-32FF-DF2B-7477-6E653B1C8790}"/>
              </a:ext>
            </a:extLst>
          </p:cNvPr>
          <p:cNvGraphicFramePr/>
          <p:nvPr>
            <p:extLst>
              <p:ext uri="{D42A27DB-BD31-4B8C-83A1-F6EECF244321}">
                <p14:modId xmlns:p14="http://schemas.microsoft.com/office/powerpoint/2010/main" val="2869459553"/>
              </p:ext>
            </p:extLst>
          </p:nvPr>
        </p:nvGraphicFramePr>
        <p:xfrm>
          <a:off x="4716780" y="2097088"/>
          <a:ext cx="548640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ußzeilenplatzhalter 6">
            <a:extLst>
              <a:ext uri="{FF2B5EF4-FFF2-40B4-BE49-F238E27FC236}">
                <a16:creationId xmlns:a16="http://schemas.microsoft.com/office/drawing/2014/main" id="{CD357447-4999-553D-1E54-F0667F2AA472}"/>
              </a:ext>
            </a:extLst>
          </p:cNvPr>
          <p:cNvSpPr>
            <a:spLocks noGrp="1"/>
          </p:cNvSpPr>
          <p:nvPr>
            <p:ph type="ftr" sz="quarter" idx="11"/>
          </p:nvPr>
        </p:nvSpPr>
        <p:spPr/>
        <p:txBody>
          <a:bodyPr/>
          <a:lstStyle/>
          <a:p>
            <a:r>
              <a:rPr lang="en-US" spc="200"/>
              <a:t>Tobias Walter</a:t>
            </a:r>
            <a:endParaRPr lang="en-US" spc="200" dirty="0"/>
          </a:p>
        </p:txBody>
      </p:sp>
      <p:sp>
        <p:nvSpPr>
          <p:cNvPr id="8" name="Foliennummernplatzhalter 7">
            <a:extLst>
              <a:ext uri="{FF2B5EF4-FFF2-40B4-BE49-F238E27FC236}">
                <a16:creationId xmlns:a16="http://schemas.microsoft.com/office/drawing/2014/main" id="{92A27F77-AFF1-1513-C806-12B7A2FDA3C8}"/>
              </a:ext>
            </a:extLst>
          </p:cNvPr>
          <p:cNvSpPr>
            <a:spLocks noGrp="1"/>
          </p:cNvSpPr>
          <p:nvPr>
            <p:ph type="sldNum" sz="quarter" idx="12"/>
          </p:nvPr>
        </p:nvSpPr>
        <p:spPr/>
        <p:txBody>
          <a:bodyPr/>
          <a:lstStyle/>
          <a:p>
            <a:fld id="{0D309695-DEC3-40DA-9DF5-330280C9D0E8}" type="slidenum">
              <a:rPr lang="en-US" smtClean="0"/>
              <a:pPr/>
              <a:t>30</a:t>
            </a:fld>
            <a:endParaRPr lang="en-US" dirty="0"/>
          </a:p>
        </p:txBody>
      </p:sp>
    </p:spTree>
    <p:extLst>
      <p:ext uri="{BB962C8B-B14F-4D97-AF65-F5344CB8AC3E}">
        <p14:creationId xmlns:p14="http://schemas.microsoft.com/office/powerpoint/2010/main" val="3466670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r>
              <a:rPr lang="de-DE" dirty="0"/>
              <a:t>Netflix</a:t>
            </a:r>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p:txBody>
          <a:bodyPr>
            <a:normAutofit fontScale="55000" lnSpcReduction="20000"/>
          </a:bodyPr>
          <a:lstStyle/>
          <a:p>
            <a:pPr algn="l">
              <a:buFont typeface="Arial" panose="020B0604020202020204" pitchFamily="34" charset="0"/>
              <a:buChar char="•"/>
            </a:pPr>
            <a:r>
              <a:rPr lang="de-DE" sz="2500" dirty="0"/>
              <a:t>Netflix verwendet Hadoop umfangreich in ihrer Cloud-basierten Datenarchitektur, um ein Datenlager von quasi unendlicher Größe zu erstellen.</a:t>
            </a:r>
          </a:p>
          <a:p>
            <a:pPr algn="l">
              <a:buFont typeface="Arial" panose="020B0604020202020204" pitchFamily="34" charset="0"/>
              <a:buChar char="•"/>
            </a:pPr>
            <a:r>
              <a:rPr lang="de-DE" sz="2500" dirty="0"/>
              <a:t>Sie nutzen die Flexibilität der Cloud für ein dynamisch skalierbares System.</a:t>
            </a:r>
          </a:p>
          <a:p>
            <a:pPr algn="l">
              <a:buFont typeface="Arial" panose="020B0604020202020204" pitchFamily="34" charset="0"/>
              <a:buChar char="•"/>
            </a:pPr>
            <a:r>
              <a:rPr lang="de-DE" sz="2500" dirty="0"/>
              <a:t>Netflix hat eine eigene Hadoop-Plattform als Service (PaaS) namens "Genie" entwickelt.</a:t>
            </a:r>
          </a:p>
          <a:p>
            <a:pPr algn="l">
              <a:buFont typeface="Arial" panose="020B0604020202020204" pitchFamily="34" charset="0"/>
              <a:buChar char="•"/>
            </a:pPr>
            <a:r>
              <a:rPr lang="de-DE" sz="2500" dirty="0"/>
              <a:t>Genie bietet REST-APIs für Jobausführung und Ressourcenverwaltung.</a:t>
            </a:r>
          </a:p>
          <a:p>
            <a:pPr algn="l">
              <a:buFont typeface="Arial" panose="020B0604020202020204" pitchFamily="34" charset="0"/>
              <a:buChar char="•"/>
            </a:pPr>
            <a:r>
              <a:rPr lang="de-DE" sz="2500" dirty="0"/>
              <a:t>Benutzer können über Genie Hadoop-, Hive- und Pig-Jobs über eine REST-API einreichen, ohne neue Hadoop-Cluster bereitstellen oder spezielle Clients installieren zu müssen.</a:t>
            </a:r>
          </a:p>
          <a:p>
            <a:pPr algn="l">
              <a:buFont typeface="Arial" panose="020B0604020202020204" pitchFamily="34" charset="0"/>
              <a:buChar char="•"/>
            </a:pPr>
            <a:r>
              <a:rPr lang="de-DE" sz="2500" dirty="0"/>
              <a:t>Administratoren können mit Genie die Konfigurationen verschiedener Hadoop-Ressourcen in der Cloud verwalten und abstrahieren.</a:t>
            </a:r>
          </a:p>
          <a:p>
            <a:pPr algn="l">
              <a:buFont typeface="Arial" panose="020B0604020202020204" pitchFamily="34" charset="0"/>
              <a:buChar char="•"/>
            </a:pPr>
            <a:r>
              <a:rPr lang="de-DE" sz="2500" dirty="0"/>
              <a:t>Genie wurde entwickelt um eine API für Jobausführung, die Abstraktion von Backend-Clustern und die Skalierbarkeit zu bieten.</a:t>
            </a:r>
          </a:p>
          <a:p>
            <a:pPr algn="l">
              <a:buFont typeface="Arial" panose="020B0604020202020204" pitchFamily="34" charset="0"/>
              <a:buChar char="•"/>
            </a:pPr>
            <a:r>
              <a:rPr lang="de-DE" sz="2500" dirty="0"/>
              <a:t>Andere Lösungen wurden geprüft, erfüllten aber nicht alle Anforderungen, wie z.B. die Unterstützung von Hive oder die Möglichkeit, gleichzeitig Jobs an mehrere Cluster zu senden.</a:t>
            </a:r>
          </a:p>
          <a:p>
            <a:pPr marL="0" indent="0">
              <a:buNone/>
            </a:pPr>
            <a:endParaRPr lang="de-DE" dirty="0"/>
          </a:p>
        </p:txBody>
      </p:sp>
      <p:sp>
        <p:nvSpPr>
          <p:cNvPr id="5" name="Fußzeilenplatzhalter 4">
            <a:extLst>
              <a:ext uri="{FF2B5EF4-FFF2-40B4-BE49-F238E27FC236}">
                <a16:creationId xmlns:a16="http://schemas.microsoft.com/office/drawing/2014/main" id="{E050BD13-0AEF-5A77-BD26-DE05E9C75D15}"/>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A0D85047-F92F-E174-A849-C7B7E999BFB7}"/>
              </a:ext>
            </a:extLst>
          </p:cNvPr>
          <p:cNvSpPr>
            <a:spLocks noGrp="1"/>
          </p:cNvSpPr>
          <p:nvPr>
            <p:ph type="sldNum" sz="quarter" idx="12"/>
          </p:nvPr>
        </p:nvSpPr>
        <p:spPr/>
        <p:txBody>
          <a:bodyPr/>
          <a:lstStyle/>
          <a:p>
            <a:fld id="{0D309695-DEC3-40DA-9DF5-330280C9D0E8}" type="slidenum">
              <a:rPr lang="en-US" smtClean="0"/>
              <a:pPr/>
              <a:t>31</a:t>
            </a:fld>
            <a:endParaRPr lang="en-US" dirty="0"/>
          </a:p>
        </p:txBody>
      </p:sp>
    </p:spTree>
    <p:extLst>
      <p:ext uri="{BB962C8B-B14F-4D97-AF65-F5344CB8AC3E}">
        <p14:creationId xmlns:p14="http://schemas.microsoft.com/office/powerpoint/2010/main" val="3209195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r>
              <a:rPr lang="de-DE" dirty="0"/>
              <a:t>Twitter</a:t>
            </a:r>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de-DE" dirty="0"/>
              <a:t>Twitter nutzt Apache Hadoop und entwickelte den Data </a:t>
            </a:r>
            <a:r>
              <a:rPr lang="de-DE" dirty="0" err="1"/>
              <a:t>Platform</a:t>
            </a:r>
            <a:r>
              <a:rPr lang="de-DE" dirty="0"/>
              <a:t> Cluster Operator (DCO) Service aufgrund des Mangels an standardisierten Cluster-Management-Tools.</a:t>
            </a:r>
          </a:p>
          <a:p>
            <a:pPr algn="l">
              <a:buFont typeface="Arial" panose="020B0604020202020204" pitchFamily="34" charset="0"/>
              <a:buChar char="•"/>
            </a:pPr>
            <a:r>
              <a:rPr lang="de-DE" dirty="0"/>
              <a:t>DCO, ein in Python geschriebener Service, zielt darauf ab, die Betriebseffizienz zu erhöhen und robuste Lösungen für das Management von Hadoop-Clustern bereitzustellen.</a:t>
            </a:r>
          </a:p>
          <a:p>
            <a:pPr algn="l">
              <a:buFont typeface="Arial" panose="020B0604020202020204" pitchFamily="34" charset="0"/>
              <a:buChar char="•"/>
            </a:pPr>
            <a:r>
              <a:rPr lang="de-DE" dirty="0"/>
              <a:t>Vor der Einführung des DCO mussten viel Zeit für das Management und die Wartung von Hadoop-Cluster-Operationen aufwenden. </a:t>
            </a:r>
          </a:p>
          <a:p>
            <a:pPr algn="l">
              <a:buFont typeface="Arial" panose="020B0604020202020204" pitchFamily="34" charset="0"/>
              <a:buChar char="•"/>
            </a:pPr>
            <a:r>
              <a:rPr lang="de-DE" dirty="0"/>
              <a:t>Der DCO-Service hat diese Prozesse optimiert und das Cluster-Management zu einem nahtlosen Erlebnis gemacht.</a:t>
            </a:r>
          </a:p>
          <a:p>
            <a:pPr algn="l">
              <a:buFont typeface="Arial" panose="020B0604020202020204" pitchFamily="34" charset="0"/>
              <a:buChar char="•"/>
            </a:pPr>
            <a:r>
              <a:rPr lang="de-DE" dirty="0"/>
              <a:t>Der DCO-Service hat wesentliche Verbesserungen in Bezug auf Betrieb, Wartung und Skalierbarkeit gebracht.</a:t>
            </a:r>
          </a:p>
          <a:p>
            <a:pPr algn="l">
              <a:buFont typeface="Arial" panose="020B0604020202020204" pitchFamily="34" charset="0"/>
              <a:buChar char="•"/>
            </a:pPr>
            <a:r>
              <a:rPr lang="de-DE" dirty="0"/>
              <a:t>Der Service hat umfangreiche Tests durchlaufen und wurde erfolgreich auf Produktionsclustern eingesetzt, was die Infrastruktur robuster und zuverlässiger gemacht hat.</a:t>
            </a:r>
          </a:p>
          <a:p>
            <a:endParaRPr lang="de-DE" dirty="0"/>
          </a:p>
        </p:txBody>
      </p:sp>
      <p:sp>
        <p:nvSpPr>
          <p:cNvPr id="5" name="Fußzeilenplatzhalter 4">
            <a:extLst>
              <a:ext uri="{FF2B5EF4-FFF2-40B4-BE49-F238E27FC236}">
                <a16:creationId xmlns:a16="http://schemas.microsoft.com/office/drawing/2014/main" id="{E050BD13-0AEF-5A77-BD26-DE05E9C75D15}"/>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A0D85047-F92F-E174-A849-C7B7E999BFB7}"/>
              </a:ext>
            </a:extLst>
          </p:cNvPr>
          <p:cNvSpPr>
            <a:spLocks noGrp="1"/>
          </p:cNvSpPr>
          <p:nvPr>
            <p:ph type="sldNum" sz="quarter" idx="12"/>
          </p:nvPr>
        </p:nvSpPr>
        <p:spPr/>
        <p:txBody>
          <a:bodyPr/>
          <a:lstStyle/>
          <a:p>
            <a:fld id="{0D309695-DEC3-40DA-9DF5-330280C9D0E8}" type="slidenum">
              <a:rPr lang="en-US" smtClean="0"/>
              <a:pPr/>
              <a:t>32</a:t>
            </a:fld>
            <a:endParaRPr lang="en-US" dirty="0"/>
          </a:p>
        </p:txBody>
      </p:sp>
    </p:spTree>
    <p:extLst>
      <p:ext uri="{BB962C8B-B14F-4D97-AF65-F5344CB8AC3E}">
        <p14:creationId xmlns:p14="http://schemas.microsoft.com/office/powerpoint/2010/main" val="2515326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r>
              <a:rPr lang="de-DE" dirty="0"/>
              <a:t>Facebook</a:t>
            </a:r>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de-DE" b="0" i="0" dirty="0">
                <a:effectLst/>
                <a:latin typeface="Söhne"/>
              </a:rPr>
              <a:t>Facebook Messages eingeführt, basiert auf Apache Hadoop und Apache </a:t>
            </a:r>
            <a:r>
              <a:rPr lang="de-DE" b="0" i="0" dirty="0" err="1">
                <a:effectLst/>
                <a:latin typeface="Söhne"/>
              </a:rPr>
              <a:t>HBase</a:t>
            </a:r>
            <a:r>
              <a:rPr lang="de-DE" b="0" i="0" dirty="0">
                <a:effectLst/>
                <a:latin typeface="Söhne"/>
              </a:rPr>
              <a:t>.</a:t>
            </a:r>
          </a:p>
          <a:p>
            <a:pPr algn="l">
              <a:buFont typeface="Arial" panose="020B0604020202020204" pitchFamily="34" charset="0"/>
              <a:buChar char="•"/>
            </a:pPr>
            <a:r>
              <a:rPr lang="de-DE" b="0" i="0" dirty="0">
                <a:effectLst/>
                <a:latin typeface="Söhne"/>
              </a:rPr>
              <a:t>Apache </a:t>
            </a:r>
            <a:r>
              <a:rPr lang="de-DE" b="0" i="0" dirty="0" err="1">
                <a:effectLst/>
                <a:latin typeface="Söhne"/>
              </a:rPr>
              <a:t>HBase</a:t>
            </a:r>
            <a:r>
              <a:rPr lang="de-DE" b="0" i="0" dirty="0">
                <a:effectLst/>
                <a:latin typeface="Söhne"/>
              </a:rPr>
              <a:t>, unterstützt Milliarden von Nachrichten pro Tag.</a:t>
            </a:r>
          </a:p>
          <a:p>
            <a:pPr algn="l">
              <a:buFont typeface="Arial" panose="020B0604020202020204" pitchFamily="34" charset="0"/>
              <a:buChar char="•"/>
            </a:pPr>
            <a:r>
              <a:rPr lang="de-DE" b="0" i="0" dirty="0">
                <a:effectLst/>
                <a:latin typeface="Söhne"/>
              </a:rPr>
              <a:t>Facebook entschied sich für Hadoop und </a:t>
            </a:r>
            <a:r>
              <a:rPr lang="de-DE" b="0" i="0" dirty="0" err="1">
                <a:effectLst/>
                <a:latin typeface="Söhne"/>
              </a:rPr>
              <a:t>HBase</a:t>
            </a:r>
            <a:r>
              <a:rPr lang="de-DE" b="0" i="0" dirty="0">
                <a:effectLst/>
                <a:latin typeface="Söhne"/>
              </a:rPr>
              <a:t> aufgrund ihrer Eigenschaften hinsichtlich Konsistenz, Verfügbarkeit, Partitionstoleranz, Datenmodell und Skalierbarkeit.</a:t>
            </a:r>
          </a:p>
          <a:p>
            <a:pPr algn="l">
              <a:buFont typeface="Arial" panose="020B0604020202020204" pitchFamily="34" charset="0"/>
              <a:buChar char="•"/>
            </a:pPr>
            <a:r>
              <a:rPr lang="de-DE" b="0" i="0" dirty="0">
                <a:effectLst/>
                <a:latin typeface="Söhne"/>
              </a:rPr>
              <a:t>Es wurden Anpassungen an Hadoop vorgenommen, um es als effektives Echtzeitsystem zu nutzen.</a:t>
            </a:r>
          </a:p>
          <a:p>
            <a:pPr algn="l">
              <a:buFont typeface="Arial" panose="020B0604020202020204" pitchFamily="34" charset="0"/>
              <a:buChar char="•"/>
            </a:pPr>
            <a:r>
              <a:rPr lang="de-DE" b="0" i="0" dirty="0">
                <a:effectLst/>
                <a:latin typeface="Söhne"/>
              </a:rPr>
              <a:t>Die Hadoop-basierte Lösung bietet Vorteile gegenüber dem </a:t>
            </a:r>
            <a:r>
              <a:rPr lang="de-DE" b="0" i="0" dirty="0" err="1">
                <a:effectLst/>
                <a:latin typeface="Söhne"/>
              </a:rPr>
              <a:t>sharded</a:t>
            </a:r>
            <a:r>
              <a:rPr lang="de-DE" b="0" i="0" dirty="0">
                <a:effectLst/>
                <a:latin typeface="Söhne"/>
              </a:rPr>
              <a:t> MySQL-Datenbankschema, das in anderen Anwendungen bei Facebook und anderen Web-</a:t>
            </a:r>
            <a:r>
              <a:rPr lang="de-DE" b="0" i="0" dirty="0" err="1">
                <a:effectLst/>
                <a:latin typeface="Söhne"/>
              </a:rPr>
              <a:t>Scale</a:t>
            </a:r>
            <a:r>
              <a:rPr lang="de-DE" b="0" i="0" dirty="0">
                <a:effectLst/>
                <a:latin typeface="Söhne"/>
              </a:rPr>
              <a:t>-Unternehmen verwendet wird.</a:t>
            </a:r>
          </a:p>
          <a:p>
            <a:pPr algn="l">
              <a:buFont typeface="Arial" panose="020B0604020202020204" pitchFamily="34" charset="0"/>
              <a:buChar char="•"/>
            </a:pPr>
            <a:r>
              <a:rPr lang="de-DE" b="0" i="0" dirty="0">
                <a:effectLst/>
                <a:latin typeface="Söhne"/>
              </a:rPr>
              <a:t>Facebook bietet diese Bereitstellung als Modell für andere Unternehmen an, die eine Hadoop-basierte Lösung in Erwägung ziehen</a:t>
            </a:r>
          </a:p>
          <a:p>
            <a:pPr marL="0" indent="0">
              <a:buNone/>
            </a:pPr>
            <a:endParaRPr lang="de-DE" dirty="0"/>
          </a:p>
        </p:txBody>
      </p:sp>
      <p:sp>
        <p:nvSpPr>
          <p:cNvPr id="5" name="Fußzeilenplatzhalter 4">
            <a:extLst>
              <a:ext uri="{FF2B5EF4-FFF2-40B4-BE49-F238E27FC236}">
                <a16:creationId xmlns:a16="http://schemas.microsoft.com/office/drawing/2014/main" id="{C1202B90-724A-6CA4-D3C2-9D1F6F17AD7E}"/>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F458B5C2-35D0-16E3-A62F-301CB24BF43D}"/>
              </a:ext>
            </a:extLst>
          </p:cNvPr>
          <p:cNvSpPr>
            <a:spLocks noGrp="1"/>
          </p:cNvSpPr>
          <p:nvPr>
            <p:ph type="sldNum" sz="quarter" idx="12"/>
          </p:nvPr>
        </p:nvSpPr>
        <p:spPr/>
        <p:txBody>
          <a:bodyPr/>
          <a:lstStyle/>
          <a:p>
            <a:fld id="{0D309695-DEC3-40DA-9DF5-330280C9D0E8}" type="slidenum">
              <a:rPr lang="en-US" smtClean="0"/>
              <a:pPr/>
              <a:t>33</a:t>
            </a:fld>
            <a:endParaRPr lang="en-US" dirty="0"/>
          </a:p>
        </p:txBody>
      </p:sp>
    </p:spTree>
    <p:extLst>
      <p:ext uri="{BB962C8B-B14F-4D97-AF65-F5344CB8AC3E}">
        <p14:creationId xmlns:p14="http://schemas.microsoft.com/office/powerpoint/2010/main" val="1128204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7545-D093-6D66-873B-796ED3433386}"/>
              </a:ext>
            </a:extLst>
          </p:cNvPr>
          <p:cNvSpPr>
            <a:spLocks noGrp="1"/>
          </p:cNvSpPr>
          <p:nvPr>
            <p:ph type="title"/>
          </p:nvPr>
        </p:nvSpPr>
        <p:spPr/>
        <p:txBody>
          <a:bodyPr/>
          <a:lstStyle/>
          <a:p>
            <a:r>
              <a:rPr lang="de-DE" dirty="0"/>
              <a:t>Spark vs. MapReduce</a:t>
            </a:r>
          </a:p>
        </p:txBody>
      </p:sp>
      <p:sp>
        <p:nvSpPr>
          <p:cNvPr id="3" name="Inhaltsplatzhalter 2">
            <a:extLst>
              <a:ext uri="{FF2B5EF4-FFF2-40B4-BE49-F238E27FC236}">
                <a16:creationId xmlns:a16="http://schemas.microsoft.com/office/drawing/2014/main" id="{C2AB9C99-2297-6273-B1C6-0F9C52F6373A}"/>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de-DE" dirty="0"/>
              <a:t>Spark, ein neues Cluster-Computing-Framework, wird vorgestellt, das die Skalierbarkeit und Fehlertoleranz von MapReduce bietet, aber besser mit Arbeitsdatensätzen umgeht.</a:t>
            </a:r>
          </a:p>
          <a:p>
            <a:pPr algn="l">
              <a:buFont typeface="Arial" panose="020B0604020202020204" pitchFamily="34" charset="0"/>
              <a:buChar char="•"/>
            </a:pPr>
            <a:r>
              <a:rPr lang="de-DE" dirty="0"/>
              <a:t>Die Hauptabstraktion in Spark sind resiliente verteilte Datensätze (RDDs), die schreibgeschützt sind und über einen Satz von Maschinen verteilt wiederhergestellt werden können, wenn eine Partition verloren geht.</a:t>
            </a:r>
          </a:p>
          <a:p>
            <a:pPr algn="l">
              <a:buFont typeface="Arial" panose="020B0604020202020204" pitchFamily="34" charset="0"/>
              <a:buChar char="•"/>
            </a:pPr>
            <a:r>
              <a:rPr lang="de-DE" dirty="0"/>
              <a:t>MapReduce ist nicht effizient in zwei Anwendungsfällen: iterative Jobs und interaktive Analysen.</a:t>
            </a:r>
          </a:p>
          <a:p>
            <a:pPr algn="l">
              <a:buFont typeface="Arial" panose="020B0604020202020204" pitchFamily="34" charset="0"/>
              <a:buChar char="•"/>
            </a:pPr>
            <a:r>
              <a:rPr lang="de-DE" dirty="0"/>
              <a:t>Bei iterativen Jobs, z.B. bei vielen maschinellen Lernalgorithmen, muss MapReduce die Daten für jeden Job erneut von der Festplatte laden, was zu erheblichen Performanceeinbußen führt.</a:t>
            </a:r>
          </a:p>
          <a:p>
            <a:pPr algn="l">
              <a:buFont typeface="Arial" panose="020B0604020202020204" pitchFamily="34" charset="0"/>
              <a:buChar char="•"/>
            </a:pPr>
            <a:r>
              <a:rPr lang="de-DE" dirty="0"/>
              <a:t>Bei interaktiven Analysen, wie explorativen Abfragen auf großen Datensätzen, führt jeder Abfragevorgang mit Hadoop zu erheblicher Latenz, da jeder Job als separate MapReduce-Aufgabe ausgeführt wird und Daten von der Festplatte liest.</a:t>
            </a:r>
          </a:p>
          <a:p>
            <a:endParaRPr lang="de-DE" dirty="0"/>
          </a:p>
        </p:txBody>
      </p:sp>
      <p:sp>
        <p:nvSpPr>
          <p:cNvPr id="5" name="Fußzeilenplatzhalter 4">
            <a:extLst>
              <a:ext uri="{FF2B5EF4-FFF2-40B4-BE49-F238E27FC236}">
                <a16:creationId xmlns:a16="http://schemas.microsoft.com/office/drawing/2014/main" id="{3A713CB5-55D4-A29E-BBC7-FF47BBCAD502}"/>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CFC616BE-C117-7BAB-E65E-38905556EEEE}"/>
              </a:ext>
            </a:extLst>
          </p:cNvPr>
          <p:cNvSpPr>
            <a:spLocks noGrp="1"/>
          </p:cNvSpPr>
          <p:nvPr>
            <p:ph type="sldNum" sz="quarter" idx="12"/>
          </p:nvPr>
        </p:nvSpPr>
        <p:spPr/>
        <p:txBody>
          <a:bodyPr/>
          <a:lstStyle/>
          <a:p>
            <a:fld id="{0D309695-DEC3-40DA-9DF5-330280C9D0E8}" type="slidenum">
              <a:rPr lang="en-US" smtClean="0"/>
              <a:pPr/>
              <a:t>34</a:t>
            </a:fld>
            <a:endParaRPr lang="en-US" dirty="0"/>
          </a:p>
        </p:txBody>
      </p:sp>
    </p:spTree>
    <p:extLst>
      <p:ext uri="{BB962C8B-B14F-4D97-AF65-F5344CB8AC3E}">
        <p14:creationId xmlns:p14="http://schemas.microsoft.com/office/powerpoint/2010/main" val="3036210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A26DE6-DC6F-2730-FEC7-EC58343336B3}"/>
              </a:ext>
            </a:extLst>
          </p:cNvPr>
          <p:cNvSpPr>
            <a:spLocks noGrp="1"/>
          </p:cNvSpPr>
          <p:nvPr>
            <p:ph type="title"/>
          </p:nvPr>
        </p:nvSpPr>
        <p:spPr/>
        <p:txBody>
          <a:bodyPr/>
          <a:lstStyle/>
          <a:p>
            <a:r>
              <a:rPr lang="de-DE" dirty="0" err="1"/>
              <a:t>LiteraturQuellen</a:t>
            </a:r>
            <a:endParaRPr lang="de-DE" dirty="0"/>
          </a:p>
        </p:txBody>
      </p:sp>
      <p:sp>
        <p:nvSpPr>
          <p:cNvPr id="3" name="Inhaltsplatzhalter 2">
            <a:extLst>
              <a:ext uri="{FF2B5EF4-FFF2-40B4-BE49-F238E27FC236}">
                <a16:creationId xmlns:a16="http://schemas.microsoft.com/office/drawing/2014/main" id="{D8019AF5-2263-6E32-17B9-FA5A5DAC14E7}"/>
              </a:ext>
            </a:extLst>
          </p:cNvPr>
          <p:cNvSpPr>
            <a:spLocks noGrp="1"/>
          </p:cNvSpPr>
          <p:nvPr>
            <p:ph idx="1"/>
          </p:nvPr>
        </p:nvSpPr>
        <p:spPr/>
        <p:txBody>
          <a:bodyPr>
            <a:normAutofit fontScale="40000" lnSpcReduction="20000"/>
          </a:bodyPr>
          <a:lstStyle/>
          <a:p>
            <a:pPr marL="0" indent="0">
              <a:buNone/>
            </a:pPr>
            <a:r>
              <a:rPr lang="de-DE" dirty="0"/>
              <a:t>Blog, Netflix Technology (2013): Hadoop </a:t>
            </a:r>
            <a:r>
              <a:rPr lang="de-DE" dirty="0" err="1"/>
              <a:t>Platform</a:t>
            </a:r>
            <a:r>
              <a:rPr lang="de-DE" dirty="0"/>
              <a:t> as a Service in the Cloud - Netflix </a:t>
            </a:r>
            <a:r>
              <a:rPr lang="de-DE" dirty="0" err="1"/>
              <a:t>TechBlog</a:t>
            </a:r>
            <a:r>
              <a:rPr lang="de-DE" dirty="0"/>
              <a:t>, in: Netflix </a:t>
            </a:r>
            <a:r>
              <a:rPr lang="de-DE" dirty="0" err="1"/>
              <a:t>TechBlog</a:t>
            </a:r>
            <a:r>
              <a:rPr lang="de-DE" dirty="0"/>
              <a:t>, v. 10.01.2013, https://netflixtechblog.com/hadoop-platform-as-a-service-in-the-cloud-c23f35f965e7, 05.06.2023</a:t>
            </a:r>
          </a:p>
          <a:p>
            <a:pPr marL="0" indent="0">
              <a:buNone/>
            </a:pPr>
            <a:r>
              <a:rPr lang="de-DE" dirty="0" err="1"/>
              <a:t>Dhruba</a:t>
            </a:r>
            <a:r>
              <a:rPr lang="de-DE" dirty="0"/>
              <a:t> </a:t>
            </a:r>
            <a:r>
              <a:rPr lang="de-DE" dirty="0" err="1"/>
              <a:t>Borthakur</a:t>
            </a:r>
            <a:r>
              <a:rPr lang="de-DE" dirty="0"/>
              <a:t>: The Hadoop Distributed File System: Architecture and Design, in: , 2007</a:t>
            </a:r>
          </a:p>
          <a:p>
            <a:pPr marL="0" indent="0">
              <a:buNone/>
            </a:pPr>
            <a:r>
              <a:rPr lang="de-DE" dirty="0"/>
              <a:t>Jeffrey Dean and Sanjay </a:t>
            </a:r>
            <a:r>
              <a:rPr lang="de-DE" dirty="0" err="1"/>
              <a:t>Ghemawat</a:t>
            </a:r>
            <a:r>
              <a:rPr lang="de-DE" dirty="0"/>
              <a:t> (2004): MapReduce: </a:t>
            </a:r>
            <a:r>
              <a:rPr lang="de-DE" dirty="0" err="1"/>
              <a:t>Simplified</a:t>
            </a:r>
            <a:r>
              <a:rPr lang="de-DE" dirty="0"/>
              <a:t> Data Processing on Large Clusters, in: , 2004</a:t>
            </a:r>
          </a:p>
          <a:p>
            <a:pPr marL="0" indent="0">
              <a:buNone/>
            </a:pPr>
            <a:r>
              <a:rPr lang="de-DE" dirty="0" err="1"/>
              <a:t>Sellis</a:t>
            </a:r>
            <a:r>
              <a:rPr lang="de-DE" dirty="0"/>
              <a:t>, Timos (2011): Proceedings of the 2011 ACM SIGMOD International Conference on Management of data, ACM </a:t>
            </a:r>
            <a:r>
              <a:rPr lang="de-DE" dirty="0" err="1"/>
              <a:t>Conferences</a:t>
            </a:r>
            <a:r>
              <a:rPr lang="de-DE" dirty="0"/>
              <a:t>, New York, NY, 2011, http://dl.acm.org/citation.cfm?id=1989323</a:t>
            </a:r>
          </a:p>
          <a:p>
            <a:pPr marL="0" indent="0">
              <a:buNone/>
            </a:pPr>
            <a:r>
              <a:rPr lang="de-DE" dirty="0" err="1"/>
              <a:t>Shvachko</a:t>
            </a:r>
            <a:r>
              <a:rPr lang="de-DE" dirty="0"/>
              <a:t>, Konstantin u. a. (2010): The Hadoop Distributed File System, in: , 2010, 2010 IEEE 26th Symposium on </a:t>
            </a:r>
            <a:r>
              <a:rPr lang="de-DE" dirty="0" err="1"/>
              <a:t>Mass</a:t>
            </a:r>
            <a:r>
              <a:rPr lang="de-DE" dirty="0"/>
              <a:t> Storage Systems and Technologies (MSST), 2010 IEEE 26th Symposium on </a:t>
            </a:r>
            <a:r>
              <a:rPr lang="de-DE" dirty="0" err="1"/>
              <a:t>Mass</a:t>
            </a:r>
            <a:r>
              <a:rPr lang="de-DE" dirty="0"/>
              <a:t> Storage Systems and Technologies (MSST), </a:t>
            </a:r>
            <a:r>
              <a:rPr lang="de-DE" dirty="0" err="1"/>
              <a:t>Incline</a:t>
            </a:r>
            <a:r>
              <a:rPr lang="de-DE" dirty="0"/>
              <a:t> Village, NV, USA, 03.05.2010 - 07.05.2010, S. 1–10</a:t>
            </a:r>
          </a:p>
          <a:p>
            <a:pPr marL="0" indent="0">
              <a:buNone/>
            </a:pPr>
            <a:r>
              <a:rPr lang="de-DE" dirty="0"/>
              <a:t>White, Tom (2015): Hadoop: The definitive </a:t>
            </a:r>
            <a:r>
              <a:rPr lang="de-DE" dirty="0" err="1"/>
              <a:t>guide</a:t>
            </a:r>
            <a:r>
              <a:rPr lang="de-DE" dirty="0"/>
              <a:t>, </a:t>
            </a:r>
            <a:r>
              <a:rPr lang="de-DE" dirty="0" err="1"/>
              <a:t>Fourth</a:t>
            </a:r>
            <a:r>
              <a:rPr lang="de-DE" dirty="0"/>
              <a:t> </a:t>
            </a:r>
            <a:r>
              <a:rPr lang="de-DE" dirty="0" err="1"/>
              <a:t>edition</a:t>
            </a:r>
            <a:r>
              <a:rPr lang="de-DE" dirty="0"/>
              <a:t>, Beijing, 2015</a:t>
            </a:r>
          </a:p>
          <a:p>
            <a:pPr marL="0" indent="0">
              <a:buNone/>
            </a:pPr>
            <a:r>
              <a:rPr lang="de-DE" dirty="0" err="1"/>
              <a:t>Zaharia</a:t>
            </a:r>
            <a:r>
              <a:rPr lang="de-DE" dirty="0"/>
              <a:t> (2013): Sparks, in: , 2013</a:t>
            </a:r>
          </a:p>
          <a:p>
            <a:pPr marL="0" indent="0">
              <a:buNone/>
            </a:pPr>
            <a:r>
              <a:rPr lang="de-DE" dirty="0"/>
              <a:t>Apache (14.04.2023): Apache Hadoop, https://hadoop.apache.org/, 03.06.2023</a:t>
            </a:r>
          </a:p>
          <a:p>
            <a:pPr marL="0" indent="0">
              <a:buNone/>
            </a:pPr>
            <a:r>
              <a:rPr lang="de-DE" dirty="0" err="1"/>
              <a:t>GeeksForGeeks</a:t>
            </a:r>
            <a:r>
              <a:rPr lang="de-DE" dirty="0"/>
              <a:t> (04.06.2023): Hadoop Architecture, https://www.geeksforgeeks.org/hadoop-architecture/, 04.06.2023</a:t>
            </a:r>
          </a:p>
          <a:p>
            <a:pPr marL="0" indent="0">
              <a:buNone/>
            </a:pPr>
            <a:r>
              <a:rPr lang="de-DE" dirty="0"/>
              <a:t>Twitter (05.06.2023): The data </a:t>
            </a:r>
            <a:r>
              <a:rPr lang="de-DE" dirty="0" err="1"/>
              <a:t>platform</a:t>
            </a:r>
            <a:r>
              <a:rPr lang="de-DE" dirty="0"/>
              <a:t> </a:t>
            </a:r>
            <a:r>
              <a:rPr lang="de-DE" dirty="0" err="1"/>
              <a:t>cluster</a:t>
            </a:r>
            <a:r>
              <a:rPr lang="de-DE" dirty="0"/>
              <a:t> </a:t>
            </a:r>
            <a:r>
              <a:rPr lang="de-DE" dirty="0" err="1"/>
              <a:t>operator</a:t>
            </a:r>
            <a:r>
              <a:rPr lang="de-DE" dirty="0"/>
              <a:t> </a:t>
            </a:r>
            <a:r>
              <a:rPr lang="de-DE" dirty="0" err="1"/>
              <a:t>service</a:t>
            </a:r>
            <a:r>
              <a:rPr lang="de-DE" dirty="0"/>
              <a:t> for Hadoop </a:t>
            </a:r>
            <a:r>
              <a:rPr lang="de-DE" dirty="0" err="1"/>
              <a:t>cluster</a:t>
            </a:r>
            <a:r>
              <a:rPr lang="de-DE" dirty="0"/>
              <a:t> </a:t>
            </a:r>
            <a:r>
              <a:rPr lang="de-DE" dirty="0" err="1"/>
              <a:t>ma-nagement</a:t>
            </a:r>
            <a:r>
              <a:rPr lang="de-DE" dirty="0"/>
              <a:t>, https://blog.twitter.com/engineering/en_us/topics/infrastructure/2023/the-data-platform-cluster-operator-service-for-hadoop-cluster-management, 05.06.2023</a:t>
            </a:r>
          </a:p>
          <a:p>
            <a:pPr marL="0" indent="0">
              <a:buNone/>
            </a:pPr>
            <a:endParaRPr lang="de-DE" dirty="0"/>
          </a:p>
        </p:txBody>
      </p:sp>
      <p:sp>
        <p:nvSpPr>
          <p:cNvPr id="5" name="Fußzeilenplatzhalter 4">
            <a:extLst>
              <a:ext uri="{FF2B5EF4-FFF2-40B4-BE49-F238E27FC236}">
                <a16:creationId xmlns:a16="http://schemas.microsoft.com/office/drawing/2014/main" id="{355E688C-7BB1-D678-D56C-3155F24100B9}"/>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5585F0E3-FD0A-5034-7103-323A9771FC5F}"/>
              </a:ext>
            </a:extLst>
          </p:cNvPr>
          <p:cNvSpPr>
            <a:spLocks noGrp="1"/>
          </p:cNvSpPr>
          <p:nvPr>
            <p:ph type="sldNum" sz="quarter" idx="12"/>
          </p:nvPr>
        </p:nvSpPr>
        <p:spPr/>
        <p:txBody>
          <a:bodyPr/>
          <a:lstStyle/>
          <a:p>
            <a:fld id="{0D309695-DEC3-40DA-9DF5-330280C9D0E8}" type="slidenum">
              <a:rPr lang="en-US" smtClean="0"/>
              <a:pPr/>
              <a:t>35</a:t>
            </a:fld>
            <a:endParaRPr lang="en-US" dirty="0"/>
          </a:p>
        </p:txBody>
      </p:sp>
    </p:spTree>
    <p:extLst>
      <p:ext uri="{BB962C8B-B14F-4D97-AF65-F5344CB8AC3E}">
        <p14:creationId xmlns:p14="http://schemas.microsoft.com/office/powerpoint/2010/main" val="12644746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B898D2-FEB1-FD0A-02ED-2008FA786FDD}"/>
              </a:ext>
            </a:extLst>
          </p:cNvPr>
          <p:cNvSpPr>
            <a:spLocks noGrp="1"/>
          </p:cNvSpPr>
          <p:nvPr>
            <p:ph type="title"/>
          </p:nvPr>
        </p:nvSpPr>
        <p:spPr/>
        <p:txBody>
          <a:bodyPr/>
          <a:lstStyle/>
          <a:p>
            <a:r>
              <a:rPr lang="de-DE" dirty="0" err="1"/>
              <a:t>BildQuellen</a:t>
            </a:r>
            <a:endParaRPr lang="de-DE" dirty="0"/>
          </a:p>
        </p:txBody>
      </p:sp>
      <p:sp>
        <p:nvSpPr>
          <p:cNvPr id="3" name="Inhaltsplatzhalter 2">
            <a:extLst>
              <a:ext uri="{FF2B5EF4-FFF2-40B4-BE49-F238E27FC236}">
                <a16:creationId xmlns:a16="http://schemas.microsoft.com/office/drawing/2014/main" id="{468E03DF-E490-EEAA-EECC-2B8E3F3D6EFF}"/>
              </a:ext>
            </a:extLst>
          </p:cNvPr>
          <p:cNvSpPr>
            <a:spLocks noGrp="1"/>
          </p:cNvSpPr>
          <p:nvPr>
            <p:ph idx="1"/>
          </p:nvPr>
        </p:nvSpPr>
        <p:spPr/>
        <p:txBody>
          <a:bodyPr>
            <a:normAutofit fontScale="70000" lnSpcReduction="20000"/>
          </a:bodyPr>
          <a:lstStyle/>
          <a:p>
            <a:pPr marL="0" indent="0">
              <a:buNone/>
            </a:pPr>
            <a:r>
              <a:rPr lang="de-DE" dirty="0"/>
              <a:t>Folie 1: </a:t>
            </a:r>
            <a:r>
              <a:rPr lang="de-DE" dirty="0">
                <a:hlinkClick r:id="rId3"/>
              </a:rPr>
              <a:t>https://de.cleanpng.com/png-sfshvn/</a:t>
            </a:r>
            <a:br>
              <a:rPr lang="de-DE" dirty="0"/>
            </a:br>
            <a:r>
              <a:rPr lang="de-DE" dirty="0"/>
              <a:t>Folie 7: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4"/>
              </a:rPr>
              <a:t>https://www.itmagazine.ch/imgserver/artikel/Illustrationen/2014/mid/ITM09_50.jpg_140908_110954.jpg</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r>
              <a:rPr lang="de-DE" dirty="0"/>
              <a:t>Folie 9 (Architektur):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5"/>
              </a:rPr>
              <a:t>https://cdn.ttgtmedia.com/rms/German/Die-HDFS-Architektur-deutsch.png</a:t>
            </a:r>
            <a:b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br>
            <a:r>
              <a:rPr lang="de-DE" dirty="0"/>
              <a:t>Folie 9 (Blocks):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6"/>
              </a:rPr>
              <a:t>https://media.geeksforgeeks.org/wp-content/uploads/20200621121959/3164-1.png</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r>
              <a:rPr lang="de-DE" dirty="0"/>
              <a:t>Folie 11: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7"/>
              </a:rPr>
              <a:t>https://media.geeksforgeeks.org/wp-content/uploads/20200611181201/HDFS_Read.png</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r>
              <a:rPr lang="de-DE" dirty="0"/>
              <a:t>Folie 12: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8"/>
              </a:rPr>
              <a:t>https://media.geeksforgeeks.org/wp-content/uploads/20200611181133/HDFS_write-1.png</a:t>
            </a:r>
            <a:r>
              <a:rPr lang="de-DE" sz="1800" dirty="0">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r>
              <a:rPr lang="de-DE" dirty="0"/>
              <a:t>Folie 13: </a:t>
            </a:r>
            <a:r>
              <a:rPr lang="de-DE" sz="1800" dirty="0">
                <a:latin typeface="Century Gothic" panose="020B0502020202020204" pitchFamily="34" charset="0"/>
                <a:ea typeface="Times New Roman" panose="02020603050405020304" pitchFamily="18" charset="0"/>
                <a:cs typeface="Times New Roman" panose="02020603050405020304" pitchFamily="18" charset="0"/>
                <a:hlinkClick r:id="rId9"/>
              </a:rPr>
              <a:t>https://media.licdn.com/</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9"/>
              </a:rPr>
              <a:t>dms/image/C4E12AQHZUggkhbx3JQ/article-cover_image-shrink_720_1280/0/1602430399757?e=2147483647&amp;v=beta&amp;t=53VTI1gR-EE6W1IVX-1exEQuxZhLgoMqM_OGEXEXGlw</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r>
              <a:rPr lang="de-DE" dirty="0"/>
              <a:t>Folie 15: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10"/>
              </a:rPr>
              <a:t>https://media.geeksforgeeks.org/wp-content/uploads/Application_WorkFlow_YARN.jpg</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r>
              <a:rPr lang="de-DE" dirty="0"/>
              <a:t>Folie 16: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11"/>
              </a:rPr>
              <a:t>https://media.geeksforgeeks.org/wp-content/uploads/20200621105657/mapreduce-workflow.png</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r>
              <a:rPr lang="de-DE" dirty="0"/>
              <a:t>Folie 17: </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hlinkClick r:id="rId12"/>
              </a:rPr>
              <a:t>https://media.geeksforgeeks.org/wp-content/uploads/20200621115714/Map-reduce-workflow.png</a:t>
            </a:r>
            <a:r>
              <a:rPr lang="de-DE" sz="1800" dirty="0">
                <a:effectLst/>
                <a:latin typeface="Century Gothic" panose="020B0502020202020204" pitchFamily="34" charset="0"/>
                <a:ea typeface="Times New Roman" panose="02020603050405020304" pitchFamily="18" charset="0"/>
                <a:cs typeface="Times New Roman" panose="02020603050405020304" pitchFamily="18" charset="0"/>
              </a:rPr>
              <a:t> </a:t>
            </a:r>
            <a:br>
              <a:rPr lang="de-DE" dirty="0"/>
            </a:br>
            <a:endParaRPr lang="de-DE" dirty="0"/>
          </a:p>
        </p:txBody>
      </p:sp>
      <p:sp>
        <p:nvSpPr>
          <p:cNvPr id="5" name="Fußzeilenplatzhalter 4">
            <a:extLst>
              <a:ext uri="{FF2B5EF4-FFF2-40B4-BE49-F238E27FC236}">
                <a16:creationId xmlns:a16="http://schemas.microsoft.com/office/drawing/2014/main" id="{E55CC110-C981-43D3-BDDC-C46F15966D6A}"/>
              </a:ext>
            </a:extLst>
          </p:cNvPr>
          <p:cNvSpPr>
            <a:spLocks noGrp="1"/>
          </p:cNvSpPr>
          <p:nvPr>
            <p:ph type="ftr" sz="quarter" idx="11"/>
          </p:nvPr>
        </p:nvSpPr>
        <p:spPr/>
        <p:txBody>
          <a:bodyPr/>
          <a:lstStyle/>
          <a:p>
            <a:r>
              <a:rPr lang="en-US" spc="200"/>
              <a:t>Tobias Walter</a:t>
            </a:r>
            <a:endParaRPr lang="en-US" spc="200" dirty="0"/>
          </a:p>
        </p:txBody>
      </p:sp>
      <p:sp>
        <p:nvSpPr>
          <p:cNvPr id="6" name="Foliennummernplatzhalter 5">
            <a:extLst>
              <a:ext uri="{FF2B5EF4-FFF2-40B4-BE49-F238E27FC236}">
                <a16:creationId xmlns:a16="http://schemas.microsoft.com/office/drawing/2014/main" id="{16451F97-79BC-E877-6B63-E3AAF191220E}"/>
              </a:ext>
            </a:extLst>
          </p:cNvPr>
          <p:cNvSpPr>
            <a:spLocks noGrp="1"/>
          </p:cNvSpPr>
          <p:nvPr>
            <p:ph type="sldNum" sz="quarter" idx="12"/>
          </p:nvPr>
        </p:nvSpPr>
        <p:spPr/>
        <p:txBody>
          <a:bodyPr/>
          <a:lstStyle/>
          <a:p>
            <a:fld id="{0D309695-DEC3-40DA-9DF5-330280C9D0E8}" type="slidenum">
              <a:rPr lang="en-US" smtClean="0"/>
              <a:pPr/>
              <a:t>36</a:t>
            </a:fld>
            <a:endParaRPr lang="en-US" dirty="0"/>
          </a:p>
        </p:txBody>
      </p:sp>
    </p:spTree>
    <p:extLst>
      <p:ext uri="{BB962C8B-B14F-4D97-AF65-F5344CB8AC3E}">
        <p14:creationId xmlns:p14="http://schemas.microsoft.com/office/powerpoint/2010/main" val="41250198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chaltkreis">
  <a:themeElements>
    <a:clrScheme name="Schaltkreis">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Schaltkreis">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chaltkreis">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TM04033919[[fn=Schaltkreis]]</Template>
  <TotalTime>0</TotalTime>
  <Words>4108</Words>
  <Application>Microsoft Office PowerPoint</Application>
  <PresentationFormat>Breitbild</PresentationFormat>
  <Paragraphs>362</Paragraphs>
  <Slides>36</Slides>
  <Notes>13</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36</vt:i4>
      </vt:variant>
    </vt:vector>
  </HeadingPairs>
  <TitlesOfParts>
    <vt:vector size="43" baseType="lpstr">
      <vt:lpstr>Arial</vt:lpstr>
      <vt:lpstr>Calibri</vt:lpstr>
      <vt:lpstr>Century Gothic</vt:lpstr>
      <vt:lpstr>Söhne</vt:lpstr>
      <vt:lpstr>Symbol</vt:lpstr>
      <vt:lpstr>Tw Cen MT</vt:lpstr>
      <vt:lpstr>Schaltkreis</vt:lpstr>
      <vt:lpstr>Hadoop &amp; MapReduce</vt:lpstr>
      <vt:lpstr>Agenda</vt:lpstr>
      <vt:lpstr>Zeitalter der Daten</vt:lpstr>
      <vt:lpstr>Herausforderungen mit Big Data</vt:lpstr>
      <vt:lpstr>Hadoop</vt:lpstr>
      <vt:lpstr>MapReduce</vt:lpstr>
      <vt:lpstr>Hadoop Ökosystem</vt:lpstr>
      <vt:lpstr>Hadoop Distributed Filesystem</vt:lpstr>
      <vt:lpstr>HDFS-Architektur</vt:lpstr>
      <vt:lpstr>Datanodes und Namenodes</vt:lpstr>
      <vt:lpstr>HDFS CLIENT LEsezugriff</vt:lpstr>
      <vt:lpstr>HDFS CLIENT Schreibzugriff</vt:lpstr>
      <vt:lpstr>DatenReplikation</vt:lpstr>
      <vt:lpstr>Fehlerprüfungen</vt:lpstr>
      <vt:lpstr>Wiederherstellung durch Replikation</vt:lpstr>
      <vt:lpstr>YARN und MapReduce</vt:lpstr>
      <vt:lpstr>YARN-Architektur</vt:lpstr>
      <vt:lpstr>MapReduce Algorithmus</vt:lpstr>
      <vt:lpstr>Hadoop MapReduce Framework</vt:lpstr>
      <vt:lpstr>Jobtracker und Tasktracker</vt:lpstr>
      <vt:lpstr>Map Task</vt:lpstr>
      <vt:lpstr>Reduce Task</vt:lpstr>
      <vt:lpstr>NCDC WetterDatensatz</vt:lpstr>
      <vt:lpstr>Definiton der MapperKlasse</vt:lpstr>
      <vt:lpstr>Definiton der ReducerKlasse</vt:lpstr>
      <vt:lpstr>Ausführung über JobRunner</vt:lpstr>
      <vt:lpstr>Übungsaufgabe 1</vt:lpstr>
      <vt:lpstr>Lösung – Übung 1</vt:lpstr>
      <vt:lpstr>Übungsaufgabe 2</vt:lpstr>
      <vt:lpstr>Lösung – Übung 2</vt:lpstr>
      <vt:lpstr>Netflix</vt:lpstr>
      <vt:lpstr>Twitter</vt:lpstr>
      <vt:lpstr>Facebook</vt:lpstr>
      <vt:lpstr>Spark vs. MapReduce</vt:lpstr>
      <vt:lpstr>LiteraturQuellen</vt:lpstr>
      <vt:lpstr>BildQuellen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 &amp; MapReduce</dc:title>
  <dc:creator>Tobias</dc:creator>
  <cp:lastModifiedBy>Tobias</cp:lastModifiedBy>
  <cp:revision>4</cp:revision>
  <dcterms:created xsi:type="dcterms:W3CDTF">2023-06-04T22:11:10Z</dcterms:created>
  <dcterms:modified xsi:type="dcterms:W3CDTF">2023-06-05T06:37:31Z</dcterms:modified>
</cp:coreProperties>
</file>