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320" r:id="rId2"/>
    <p:sldId id="337" r:id="rId3"/>
    <p:sldId id="338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3" r:id="rId18"/>
    <p:sldId id="355" r:id="rId19"/>
    <p:sldId id="354" r:id="rId20"/>
    <p:sldId id="356" r:id="rId21"/>
    <p:sldId id="357" r:id="rId22"/>
    <p:sldId id="359" r:id="rId23"/>
    <p:sldId id="358" r:id="rId24"/>
    <p:sldId id="361" r:id="rId25"/>
    <p:sldId id="362" r:id="rId26"/>
    <p:sldId id="363" r:id="rId27"/>
    <p:sldId id="365" r:id="rId28"/>
    <p:sldId id="367" r:id="rId29"/>
    <p:sldId id="366" r:id="rId30"/>
    <p:sldId id="368" r:id="rId31"/>
    <p:sldId id="371" r:id="rId32"/>
    <p:sldId id="369" r:id="rId33"/>
    <p:sldId id="370" r:id="rId34"/>
    <p:sldId id="374" r:id="rId35"/>
    <p:sldId id="372" r:id="rId36"/>
    <p:sldId id="373" r:id="rId37"/>
    <p:sldId id="375" r:id="rId38"/>
    <p:sldId id="376" r:id="rId39"/>
    <p:sldId id="377" r:id="rId40"/>
    <p:sldId id="378" r:id="rId41"/>
    <p:sldId id="380" r:id="rId42"/>
    <p:sldId id="381" r:id="rId43"/>
    <p:sldId id="382" r:id="rId44"/>
    <p:sldId id="383" r:id="rId45"/>
    <p:sldId id="384" r:id="rId46"/>
    <p:sldId id="385" r:id="rId47"/>
    <p:sldId id="386" r:id="rId48"/>
    <p:sldId id="387" r:id="rId49"/>
    <p:sldId id="388" r:id="rId50"/>
    <p:sldId id="389" r:id="rId51"/>
    <p:sldId id="390" r:id="rId52"/>
    <p:sldId id="392" r:id="rId53"/>
    <p:sldId id="391" r:id="rId54"/>
    <p:sldId id="393" r:id="rId55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pos="272" userDrawn="1">
          <p15:clr>
            <a:srgbClr val="A4A3A4"/>
          </p15:clr>
        </p15:guide>
        <p15:guide id="3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C66"/>
    <a:srgbClr val="80BA24"/>
    <a:srgbClr val="FFFFFF"/>
    <a:srgbClr val="8996A0"/>
    <a:srgbClr val="BDC4C5"/>
    <a:srgbClr val="DF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 autoAdjust="0"/>
    <p:restoredTop sz="94551"/>
  </p:normalViewPr>
  <p:slideViewPr>
    <p:cSldViewPr showGuides="1">
      <p:cViewPr varScale="1">
        <p:scale>
          <a:sx n="108" d="100"/>
          <a:sy n="108" d="100"/>
        </p:scale>
        <p:origin x="792" y="96"/>
      </p:cViewPr>
      <p:guideLst>
        <p:guide orient="horz" pos="3884"/>
        <p:guide pos="272"/>
        <p:guide orient="horz" pos="935"/>
      </p:guideLst>
    </p:cSldViewPr>
  </p:slideViewPr>
  <p:outlineViewPr>
    <p:cViewPr>
      <p:scale>
        <a:sx n="33" d="100"/>
        <a:sy n="33" d="100"/>
      </p:scale>
      <p:origin x="0" y="-157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7" d="100"/>
          <a:sy n="87" d="100"/>
        </p:scale>
        <p:origin x="3840" y="6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549A58-65A2-1C4E-BD33-6061F52BCE58}" type="datetimeFigureOut">
              <a:rPr lang="de-DE" altLang="de-DE"/>
              <a:pPr>
                <a:defRPr/>
              </a:pPr>
              <a:t>05.06.2023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A2CBF72-E928-E147-A1D9-782F6DF0FEA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1665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B8FA84D-43F1-B541-9232-7D50279E8043}" type="datetimeFigureOut">
              <a:rPr lang="de-DE" altLang="de-DE"/>
              <a:pPr>
                <a:defRPr/>
              </a:pPr>
              <a:t>05.06.2023</a:t>
            </a:fld>
            <a:endParaRPr lang="de-DE" altLang="de-DE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Textmasterformate durch Klicken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79F7848-E2AA-B947-8B0B-A0FBC6F783BE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060364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28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7350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29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02683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30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87510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31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422402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32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148988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33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92096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34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76684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35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42321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36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551615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37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5307517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38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75603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39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5292512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40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33537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41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43416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42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133595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43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2562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9F7848-E2AA-B947-8B0B-A0FBC6F783BE}" type="slidenum">
              <a:rPr lang="de-DE" altLang="de-DE" smtClean="0"/>
              <a:pPr>
                <a:defRPr/>
              </a:pPr>
              <a:t>44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5627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  <p:sp>
        <p:nvSpPr>
          <p:cNvPr id="5" name="Titel 2"/>
          <p:cNvSpPr>
            <a:spLocks noGrp="1"/>
          </p:cNvSpPr>
          <p:nvPr>
            <p:ph type="title" hasCustomPrompt="1"/>
          </p:nvPr>
        </p:nvSpPr>
        <p:spPr>
          <a:xfrm>
            <a:off x="432000" y="1080001"/>
            <a:ext cx="11228917" cy="476791"/>
          </a:xfrm>
        </p:spPr>
        <p:txBody>
          <a:bodyPr lIns="0"/>
          <a:lstStyle>
            <a:lvl1pPr>
              <a:defRPr/>
            </a:lvl1pPr>
          </a:lstStyle>
          <a:p>
            <a:r>
              <a:rPr lang="de-DE" dirty="0"/>
              <a:t>Titel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 hasCustomPrompt="1"/>
          </p:nvPr>
        </p:nvSpPr>
        <p:spPr>
          <a:xfrm>
            <a:off x="432001" y="1620000"/>
            <a:ext cx="11232619" cy="4617288"/>
          </a:xfrm>
        </p:spPr>
        <p:txBody>
          <a:bodyPr lIns="0"/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de-DE" dirty="0"/>
              <a:t>Text bearbeiten</a:t>
            </a:r>
          </a:p>
        </p:txBody>
      </p:sp>
    </p:spTree>
    <p:extLst>
      <p:ext uri="{BB962C8B-B14F-4D97-AF65-F5344CB8AC3E}">
        <p14:creationId xmlns:p14="http://schemas.microsoft.com/office/powerpoint/2010/main" val="1939881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432001" y="1080000"/>
            <a:ext cx="11324167" cy="408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32000" y="1620001"/>
            <a:ext cx="1133051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8" name="Rectangle 5"/>
          <p:cNvSpPr>
            <a:spLocks noChangeArrowheads="1"/>
          </p:cNvSpPr>
          <p:nvPr userDrawn="1"/>
        </p:nvSpPr>
        <p:spPr bwMode="auto">
          <a:xfrm>
            <a:off x="1" y="6497638"/>
            <a:ext cx="12191999" cy="360362"/>
          </a:xfrm>
          <a:prstGeom prst="rect">
            <a:avLst/>
          </a:prstGeom>
          <a:solidFill>
            <a:srgbClr val="4A5C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352584" y="6546850"/>
            <a:ext cx="469000" cy="266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2866142A-AFED-1443-8B06-6463BAB2C889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033" name="Textfeld 3"/>
          <p:cNvSpPr txBox="1">
            <a:spLocks noChangeArrowheads="1"/>
          </p:cNvSpPr>
          <p:nvPr userDrawn="1"/>
        </p:nvSpPr>
        <p:spPr bwMode="auto">
          <a:xfrm>
            <a:off x="5519936" y="6548438"/>
            <a:ext cx="5857149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MIM9 Datenbanken – Fortgeschrittene Aspekte   |   Joey Dario Croner 5254327  |   </a:t>
            </a:r>
            <a:r>
              <a:rPr lang="de-DE" sz="1100" dirty="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2" name="Grafik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84" y="6599238"/>
            <a:ext cx="1921933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FF0FF3B-A472-4213-B3DC-95C0CA3921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82" y="376153"/>
            <a:ext cx="4162434" cy="53256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 kern="1200">
          <a:solidFill>
            <a:srgbClr val="4A5C66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66700" indent="-26670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106000"/>
        <a:buFont typeface="Wingdings" charset="2"/>
        <a:buChar char="§"/>
        <a:defRPr sz="2000" kern="1200">
          <a:solidFill>
            <a:srgbClr val="4A5C66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marL="542925" indent="-276225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90000"/>
        <a:buFont typeface="Wingdings" charset="2"/>
        <a:buChar char="§"/>
        <a:defRPr sz="2000"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2pPr>
      <a:lvl3pPr marL="809625" indent="-26670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charset="2"/>
        <a:buChar char="§"/>
        <a:defRPr sz="2000"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3pPr>
      <a:lvl4pPr marL="1076325" indent="-26670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charset="2"/>
        <a:buChar char="§"/>
        <a:defRPr sz="2000"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4pPr>
      <a:lvl5pPr marL="1343025" indent="-26670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charset="2"/>
        <a:buChar char="§"/>
        <a:defRPr sz="2000"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the-pans.com/discover-paxos/" TargetMode="External"/><Relationship Id="rId2" Type="http://schemas.openxmlformats.org/officeDocument/2006/relationships/hyperlink" Target="https://predr.ag/blog/paxos-vs-2pc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eople.cs.rutgers.edu/~pxk/417/notes/paxos.html" TargetMode="External"/><Relationship Id="rId4" Type="http://schemas.openxmlformats.org/officeDocument/2006/relationships/hyperlink" Target="https://lamport.azurewebsites.net/pubs/paxos-simple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FB00242-4843-43D0-B841-4715B62377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</a:t>
            </a:fld>
            <a:endParaRPr lang="de-DE" altLang="de-DE" dirty="0"/>
          </a:p>
        </p:txBody>
      </p:sp>
      <p:pic>
        <p:nvPicPr>
          <p:cNvPr id="9" name="Grafik 8" descr="Ein Bild, das Metallwaren, Zylinder enthält.&#10;&#10;Automatisch generierte Beschreibung">
            <a:extLst>
              <a:ext uri="{FF2B5EF4-FFF2-40B4-BE49-F238E27FC236}">
                <a16:creationId xmlns:a16="http://schemas.microsoft.com/office/drawing/2014/main" id="{266CDA0E-EA47-E7D8-14D5-197183D47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552" y="1772816"/>
            <a:ext cx="7621736" cy="4712774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0016CC3-9930-FAB5-B0C1-C945E28B0012}"/>
              </a:ext>
            </a:extLst>
          </p:cNvPr>
          <p:cNvSpPr txBox="1"/>
          <p:nvPr/>
        </p:nvSpPr>
        <p:spPr>
          <a:xfrm>
            <a:off x="731404" y="1111096"/>
            <a:ext cx="107291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000" b="1" i="0" dirty="0">
                <a:solidFill>
                  <a:schemeClr val="bg2">
                    <a:lumMod val="10000"/>
                  </a:schemeClr>
                </a:solidFill>
                <a:effectLst/>
                <a:latin typeface="Helvetica" panose="020B0604020202020204" pitchFamily="34" charset="0"/>
              </a:rPr>
              <a:t>Synchronisationskontrolle - </a:t>
            </a:r>
            <a:r>
              <a:rPr lang="de-DE" sz="4000" b="1" i="0" dirty="0" err="1">
                <a:solidFill>
                  <a:schemeClr val="bg2">
                    <a:lumMod val="10000"/>
                  </a:schemeClr>
                </a:solidFill>
                <a:effectLst/>
                <a:latin typeface="Helvetica" panose="020B0604020202020204" pitchFamily="34" charset="0"/>
              </a:rPr>
              <a:t>Paxos</a:t>
            </a:r>
            <a:r>
              <a:rPr lang="de-DE" sz="4000" b="1" i="0" dirty="0">
                <a:solidFill>
                  <a:schemeClr val="bg2">
                    <a:lumMod val="10000"/>
                  </a:schemeClr>
                </a:solidFill>
                <a:effectLst/>
                <a:latin typeface="Helvetica" panose="020B0604020202020204" pitchFamily="34" charset="0"/>
              </a:rPr>
              <a:t> vs. 2PC</a:t>
            </a:r>
          </a:p>
          <a:p>
            <a:pPr algn="ctr"/>
            <a:endParaRPr lang="de-DE" sz="4000" b="1" dirty="0"/>
          </a:p>
        </p:txBody>
      </p:sp>
    </p:spTree>
    <p:extLst>
      <p:ext uri="{BB962C8B-B14F-4D97-AF65-F5344CB8AC3E}">
        <p14:creationId xmlns:p14="http://schemas.microsoft.com/office/powerpoint/2010/main" val="3297916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9E168DE-3C10-E48F-6F7F-E0F93B2BD6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E02E876-5CB7-FE88-9FE7-CF4372A0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Überweisung</a:t>
            </a:r>
          </a:p>
        </p:txBody>
      </p:sp>
      <p:pic>
        <p:nvPicPr>
          <p:cNvPr id="6" name="Grafik 5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CDA67E9-E589-9923-AA60-881AA584B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1957645"/>
            <a:ext cx="1862031" cy="1862031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96ED5527-7569-2235-4831-5B0EF7D46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1844824"/>
            <a:ext cx="2222071" cy="2222071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8A7249D5-970D-3522-0678-3AE20CC09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607" y="1847043"/>
            <a:ext cx="2222071" cy="2222071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C781771-D8F8-817D-B5E9-457077FE6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524" y="1957644"/>
            <a:ext cx="1862031" cy="1862031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578725B-3000-81E4-8E3A-01F7B1065393}"/>
              </a:ext>
            </a:extLst>
          </p:cNvPr>
          <p:cNvCxnSpPr/>
          <p:nvPr/>
        </p:nvCxnSpPr>
        <p:spPr>
          <a:xfrm>
            <a:off x="5087888" y="2955859"/>
            <a:ext cx="23762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53CA7633-C458-5AC3-27D3-170E74836940}"/>
              </a:ext>
            </a:extLst>
          </p:cNvPr>
          <p:cNvSpPr txBox="1"/>
          <p:nvPr/>
        </p:nvSpPr>
        <p:spPr>
          <a:xfrm>
            <a:off x="2294031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A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C46FCFF-5747-ABFB-AB0F-1D9DFD50C45C}"/>
              </a:ext>
            </a:extLst>
          </p:cNvPr>
          <p:cNvSpPr txBox="1"/>
          <p:nvPr/>
        </p:nvSpPr>
        <p:spPr>
          <a:xfrm>
            <a:off x="9299515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52417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9E168DE-3C10-E48F-6F7F-E0F93B2BD6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E02E876-5CB7-FE88-9FE7-CF4372A0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Überweisung</a:t>
            </a:r>
          </a:p>
        </p:txBody>
      </p:sp>
      <p:pic>
        <p:nvPicPr>
          <p:cNvPr id="6" name="Grafik 5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CDA67E9-E589-9923-AA60-881AA584B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1957645"/>
            <a:ext cx="1862031" cy="1862031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96ED5527-7569-2235-4831-5B0EF7D46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1844824"/>
            <a:ext cx="2222071" cy="2222071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8A7249D5-970D-3522-0678-3AE20CC09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607" y="1847043"/>
            <a:ext cx="2222071" cy="2222071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C781771-D8F8-817D-B5E9-457077FE6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524" y="1957644"/>
            <a:ext cx="1862031" cy="1862031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578725B-3000-81E4-8E3A-01F7B1065393}"/>
              </a:ext>
            </a:extLst>
          </p:cNvPr>
          <p:cNvCxnSpPr/>
          <p:nvPr/>
        </p:nvCxnSpPr>
        <p:spPr>
          <a:xfrm>
            <a:off x="5087888" y="2955859"/>
            <a:ext cx="23762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53CA7633-C458-5AC3-27D3-170E74836940}"/>
              </a:ext>
            </a:extLst>
          </p:cNvPr>
          <p:cNvSpPr txBox="1"/>
          <p:nvPr/>
        </p:nvSpPr>
        <p:spPr>
          <a:xfrm>
            <a:off x="2294031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A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C46FCFF-5747-ABFB-AB0F-1D9DFD50C45C}"/>
              </a:ext>
            </a:extLst>
          </p:cNvPr>
          <p:cNvSpPr txBox="1"/>
          <p:nvPr/>
        </p:nvSpPr>
        <p:spPr>
          <a:xfrm>
            <a:off x="9299515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B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B4BE4F-2B98-A99B-F26F-46B356A6AC46}"/>
              </a:ext>
            </a:extLst>
          </p:cNvPr>
          <p:cNvSpPr txBox="1"/>
          <p:nvPr/>
        </p:nvSpPr>
        <p:spPr>
          <a:xfrm>
            <a:off x="2005999" y="5049422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-300€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0AE8FB3-AAFD-BEE9-1F79-AE309833DB83}"/>
              </a:ext>
            </a:extLst>
          </p:cNvPr>
          <p:cNvSpPr txBox="1"/>
          <p:nvPr/>
        </p:nvSpPr>
        <p:spPr>
          <a:xfrm>
            <a:off x="9011482" y="5049421"/>
            <a:ext cx="1404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+300€</a:t>
            </a:r>
          </a:p>
        </p:txBody>
      </p:sp>
    </p:spTree>
    <p:extLst>
      <p:ext uri="{BB962C8B-B14F-4D97-AF65-F5344CB8AC3E}">
        <p14:creationId xmlns:p14="http://schemas.microsoft.com/office/powerpoint/2010/main" val="427710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9E168DE-3C10-E48F-6F7F-E0F93B2BD6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4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E02E876-5CB7-FE88-9FE7-CF4372A0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Überweisung</a:t>
            </a:r>
          </a:p>
        </p:txBody>
      </p:sp>
      <p:pic>
        <p:nvPicPr>
          <p:cNvPr id="6" name="Grafik 5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CDA67E9-E589-9923-AA60-881AA584B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1957645"/>
            <a:ext cx="1862031" cy="1862031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96ED5527-7569-2235-4831-5B0EF7D46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1844824"/>
            <a:ext cx="2222071" cy="2222071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8A7249D5-970D-3522-0678-3AE20CC09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607" y="1847043"/>
            <a:ext cx="2222071" cy="2222071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C781771-D8F8-817D-B5E9-457077FE6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524" y="1957644"/>
            <a:ext cx="1862031" cy="1862031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578725B-3000-81E4-8E3A-01F7B1065393}"/>
              </a:ext>
            </a:extLst>
          </p:cNvPr>
          <p:cNvCxnSpPr/>
          <p:nvPr/>
        </p:nvCxnSpPr>
        <p:spPr>
          <a:xfrm>
            <a:off x="5087888" y="2955859"/>
            <a:ext cx="23762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53CA7633-C458-5AC3-27D3-170E74836940}"/>
              </a:ext>
            </a:extLst>
          </p:cNvPr>
          <p:cNvSpPr txBox="1"/>
          <p:nvPr/>
        </p:nvSpPr>
        <p:spPr>
          <a:xfrm>
            <a:off x="2294031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A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C46FCFF-5747-ABFB-AB0F-1D9DFD50C45C}"/>
              </a:ext>
            </a:extLst>
          </p:cNvPr>
          <p:cNvSpPr txBox="1"/>
          <p:nvPr/>
        </p:nvSpPr>
        <p:spPr>
          <a:xfrm>
            <a:off x="9299515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B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B4BE4F-2B98-A99B-F26F-46B356A6AC46}"/>
              </a:ext>
            </a:extLst>
          </p:cNvPr>
          <p:cNvSpPr txBox="1"/>
          <p:nvPr/>
        </p:nvSpPr>
        <p:spPr>
          <a:xfrm>
            <a:off x="2005999" y="5049422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-300€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0AE8FB3-AAFD-BEE9-1F79-AE309833DB83}"/>
              </a:ext>
            </a:extLst>
          </p:cNvPr>
          <p:cNvSpPr txBox="1"/>
          <p:nvPr/>
        </p:nvSpPr>
        <p:spPr>
          <a:xfrm>
            <a:off x="9195470" y="5049420"/>
            <a:ext cx="1404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+0€</a:t>
            </a:r>
          </a:p>
        </p:txBody>
      </p:sp>
      <p:sp>
        <p:nvSpPr>
          <p:cNvPr id="7" name="Gewitterblitz 6">
            <a:extLst>
              <a:ext uri="{FF2B5EF4-FFF2-40B4-BE49-F238E27FC236}">
                <a16:creationId xmlns:a16="http://schemas.microsoft.com/office/drawing/2014/main" id="{06B6CE8C-686B-AE87-185E-2B2EFDB534A5}"/>
              </a:ext>
            </a:extLst>
          </p:cNvPr>
          <p:cNvSpPr/>
          <p:nvPr/>
        </p:nvSpPr>
        <p:spPr>
          <a:xfrm>
            <a:off x="5735960" y="1700808"/>
            <a:ext cx="864096" cy="2664296"/>
          </a:xfrm>
          <a:prstGeom prst="lightningBol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145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9E168DE-3C10-E48F-6F7F-E0F93B2BD6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5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E02E876-5CB7-FE88-9FE7-CF4372A0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Überweisung</a:t>
            </a:r>
          </a:p>
        </p:txBody>
      </p:sp>
      <p:pic>
        <p:nvPicPr>
          <p:cNvPr id="6" name="Grafik 5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CDA67E9-E589-9923-AA60-881AA584B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1957645"/>
            <a:ext cx="1862031" cy="1862031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96ED5527-7569-2235-4831-5B0EF7D46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1844824"/>
            <a:ext cx="2222071" cy="2222071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8A7249D5-970D-3522-0678-3AE20CC09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607" y="1847043"/>
            <a:ext cx="2222071" cy="2222071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C781771-D8F8-817D-B5E9-457077FE6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524" y="1957644"/>
            <a:ext cx="1862031" cy="1862031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578725B-3000-81E4-8E3A-01F7B1065393}"/>
              </a:ext>
            </a:extLst>
          </p:cNvPr>
          <p:cNvCxnSpPr/>
          <p:nvPr/>
        </p:nvCxnSpPr>
        <p:spPr>
          <a:xfrm>
            <a:off x="5087888" y="2955859"/>
            <a:ext cx="23762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53CA7633-C458-5AC3-27D3-170E74836940}"/>
              </a:ext>
            </a:extLst>
          </p:cNvPr>
          <p:cNvSpPr txBox="1"/>
          <p:nvPr/>
        </p:nvSpPr>
        <p:spPr>
          <a:xfrm>
            <a:off x="2294031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A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C46FCFF-5747-ABFB-AB0F-1D9DFD50C45C}"/>
              </a:ext>
            </a:extLst>
          </p:cNvPr>
          <p:cNvSpPr txBox="1"/>
          <p:nvPr/>
        </p:nvSpPr>
        <p:spPr>
          <a:xfrm>
            <a:off x="9299515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B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B4BE4F-2B98-A99B-F26F-46B356A6AC46}"/>
              </a:ext>
            </a:extLst>
          </p:cNvPr>
          <p:cNvSpPr txBox="1"/>
          <p:nvPr/>
        </p:nvSpPr>
        <p:spPr>
          <a:xfrm>
            <a:off x="2005998" y="5049422"/>
            <a:ext cx="1641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-300€</a:t>
            </a:r>
            <a:r>
              <a:rPr lang="de-DE" sz="36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0AE8FB3-AAFD-BEE9-1F79-AE309833DB83}"/>
              </a:ext>
            </a:extLst>
          </p:cNvPr>
          <p:cNvSpPr txBox="1"/>
          <p:nvPr/>
        </p:nvSpPr>
        <p:spPr>
          <a:xfrm>
            <a:off x="9195470" y="5049420"/>
            <a:ext cx="1404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+0€</a:t>
            </a:r>
          </a:p>
        </p:txBody>
      </p:sp>
      <p:sp>
        <p:nvSpPr>
          <p:cNvPr id="7" name="Gewitterblitz 6">
            <a:extLst>
              <a:ext uri="{FF2B5EF4-FFF2-40B4-BE49-F238E27FC236}">
                <a16:creationId xmlns:a16="http://schemas.microsoft.com/office/drawing/2014/main" id="{06B6CE8C-686B-AE87-185E-2B2EFDB534A5}"/>
              </a:ext>
            </a:extLst>
          </p:cNvPr>
          <p:cNvSpPr/>
          <p:nvPr/>
        </p:nvSpPr>
        <p:spPr>
          <a:xfrm>
            <a:off x="5735960" y="1700808"/>
            <a:ext cx="864096" cy="2664296"/>
          </a:xfrm>
          <a:prstGeom prst="lightningBol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Denkblase: wolkenförmig 10">
            <a:extLst>
              <a:ext uri="{FF2B5EF4-FFF2-40B4-BE49-F238E27FC236}">
                <a16:creationId xmlns:a16="http://schemas.microsoft.com/office/drawing/2014/main" id="{3F7F11B6-DABE-D67F-982D-7BC4B1CDC050}"/>
              </a:ext>
            </a:extLst>
          </p:cNvPr>
          <p:cNvSpPr/>
          <p:nvPr/>
        </p:nvSpPr>
        <p:spPr>
          <a:xfrm>
            <a:off x="3976853" y="747867"/>
            <a:ext cx="1862031" cy="1124861"/>
          </a:xfrm>
          <a:prstGeom prst="cloudCallout">
            <a:avLst>
              <a:gd name="adj1" fmla="val -44195"/>
              <a:gd name="adj2" fmla="val 71181"/>
            </a:avLst>
          </a:prstGeom>
          <a:solidFill>
            <a:schemeClr val="accent2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AEB526A3-3EFF-1629-F165-231F5A80C2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953" y="865094"/>
            <a:ext cx="859830" cy="85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88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prechblase: oval 10">
            <a:extLst>
              <a:ext uri="{FF2B5EF4-FFF2-40B4-BE49-F238E27FC236}">
                <a16:creationId xmlns:a16="http://schemas.microsoft.com/office/drawing/2014/main" id="{0797DF71-B8B9-66A4-4CF1-4839DF7992C1}"/>
              </a:ext>
            </a:extLst>
          </p:cNvPr>
          <p:cNvSpPr/>
          <p:nvPr/>
        </p:nvSpPr>
        <p:spPr>
          <a:xfrm>
            <a:off x="6569411" y="706328"/>
            <a:ext cx="1656184" cy="1224136"/>
          </a:xfrm>
          <a:prstGeom prst="wedgeEllipseCallout">
            <a:avLst>
              <a:gd name="adj1" fmla="val 40811"/>
              <a:gd name="adj2" fmla="val 5742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9E168DE-3C10-E48F-6F7F-E0F93B2BD6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6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E02E876-5CB7-FE88-9FE7-CF4372A0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Überweisung</a:t>
            </a:r>
          </a:p>
        </p:txBody>
      </p:sp>
      <p:pic>
        <p:nvPicPr>
          <p:cNvPr id="6" name="Grafik 5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CDA67E9-E589-9923-AA60-881AA584B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1957645"/>
            <a:ext cx="1862031" cy="1862031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96ED5527-7569-2235-4831-5B0EF7D46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1844824"/>
            <a:ext cx="2222071" cy="2222071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8A7249D5-970D-3522-0678-3AE20CC09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607" y="1847043"/>
            <a:ext cx="2222071" cy="2222071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C781771-D8F8-817D-B5E9-457077FE6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524" y="1957644"/>
            <a:ext cx="1862031" cy="1862031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578725B-3000-81E4-8E3A-01F7B1065393}"/>
              </a:ext>
            </a:extLst>
          </p:cNvPr>
          <p:cNvCxnSpPr/>
          <p:nvPr/>
        </p:nvCxnSpPr>
        <p:spPr>
          <a:xfrm>
            <a:off x="5087888" y="2955859"/>
            <a:ext cx="23762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53CA7633-C458-5AC3-27D3-170E74836940}"/>
              </a:ext>
            </a:extLst>
          </p:cNvPr>
          <p:cNvSpPr txBox="1"/>
          <p:nvPr/>
        </p:nvSpPr>
        <p:spPr>
          <a:xfrm>
            <a:off x="2294031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A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C46FCFF-5747-ABFB-AB0F-1D9DFD50C45C}"/>
              </a:ext>
            </a:extLst>
          </p:cNvPr>
          <p:cNvSpPr txBox="1"/>
          <p:nvPr/>
        </p:nvSpPr>
        <p:spPr>
          <a:xfrm>
            <a:off x="9299515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B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B4BE4F-2B98-A99B-F26F-46B356A6AC46}"/>
              </a:ext>
            </a:extLst>
          </p:cNvPr>
          <p:cNvSpPr txBox="1"/>
          <p:nvPr/>
        </p:nvSpPr>
        <p:spPr>
          <a:xfrm>
            <a:off x="2005999" y="5049422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-300€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0AE8FB3-AAFD-BEE9-1F79-AE309833DB83}"/>
              </a:ext>
            </a:extLst>
          </p:cNvPr>
          <p:cNvSpPr txBox="1"/>
          <p:nvPr/>
        </p:nvSpPr>
        <p:spPr>
          <a:xfrm>
            <a:off x="9011482" y="5049421"/>
            <a:ext cx="1404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+300€</a:t>
            </a:r>
          </a:p>
        </p:txBody>
      </p:sp>
      <p:pic>
        <p:nvPicPr>
          <p:cNvPr id="7" name="Grafik 6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26CDF03B-0915-8E67-2D0F-C8CF2C6C0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588" y="897388"/>
            <a:ext cx="859830" cy="85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0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9E168DE-3C10-E48F-6F7F-E0F93B2BD6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7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E02E876-5CB7-FE88-9FE7-CF4372A0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Überweisung</a:t>
            </a:r>
          </a:p>
        </p:txBody>
      </p:sp>
      <p:pic>
        <p:nvPicPr>
          <p:cNvPr id="6" name="Grafik 5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CDA67E9-E589-9923-AA60-881AA584B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1957645"/>
            <a:ext cx="1862031" cy="1862031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96ED5527-7569-2235-4831-5B0EF7D46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1844824"/>
            <a:ext cx="2222071" cy="2222071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8A7249D5-970D-3522-0678-3AE20CC09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607" y="1847043"/>
            <a:ext cx="2222071" cy="2222071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C781771-D8F8-817D-B5E9-457077FE6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524" y="1957644"/>
            <a:ext cx="1862031" cy="1862031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578725B-3000-81E4-8E3A-01F7B1065393}"/>
              </a:ext>
            </a:extLst>
          </p:cNvPr>
          <p:cNvCxnSpPr/>
          <p:nvPr/>
        </p:nvCxnSpPr>
        <p:spPr>
          <a:xfrm>
            <a:off x="5087888" y="2955859"/>
            <a:ext cx="23762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53CA7633-C458-5AC3-27D3-170E74836940}"/>
              </a:ext>
            </a:extLst>
          </p:cNvPr>
          <p:cNvSpPr txBox="1"/>
          <p:nvPr/>
        </p:nvSpPr>
        <p:spPr>
          <a:xfrm>
            <a:off x="2294031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A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C46FCFF-5747-ABFB-AB0F-1D9DFD50C45C}"/>
              </a:ext>
            </a:extLst>
          </p:cNvPr>
          <p:cNvSpPr txBox="1"/>
          <p:nvPr/>
        </p:nvSpPr>
        <p:spPr>
          <a:xfrm>
            <a:off x="9299515" y="3867583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B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FB4BE4F-2B98-A99B-F26F-46B356A6AC46}"/>
              </a:ext>
            </a:extLst>
          </p:cNvPr>
          <p:cNvSpPr txBox="1"/>
          <p:nvPr/>
        </p:nvSpPr>
        <p:spPr>
          <a:xfrm>
            <a:off x="2172405" y="5049419"/>
            <a:ext cx="92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-0€</a:t>
            </a:r>
            <a:endParaRPr lang="de-DE" sz="3600" dirty="0">
              <a:solidFill>
                <a:srgbClr val="FF0000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0AE8FB3-AAFD-BEE9-1F79-AE309833DB83}"/>
              </a:ext>
            </a:extLst>
          </p:cNvPr>
          <p:cNvSpPr txBox="1"/>
          <p:nvPr/>
        </p:nvSpPr>
        <p:spPr>
          <a:xfrm>
            <a:off x="9195470" y="5049420"/>
            <a:ext cx="1404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+0€</a:t>
            </a:r>
          </a:p>
        </p:txBody>
      </p:sp>
      <p:sp>
        <p:nvSpPr>
          <p:cNvPr id="7" name="Gewitterblitz 6">
            <a:extLst>
              <a:ext uri="{FF2B5EF4-FFF2-40B4-BE49-F238E27FC236}">
                <a16:creationId xmlns:a16="http://schemas.microsoft.com/office/drawing/2014/main" id="{06B6CE8C-686B-AE87-185E-2B2EFDB534A5}"/>
              </a:ext>
            </a:extLst>
          </p:cNvPr>
          <p:cNvSpPr/>
          <p:nvPr/>
        </p:nvSpPr>
        <p:spPr>
          <a:xfrm>
            <a:off x="5735960" y="1700808"/>
            <a:ext cx="864096" cy="2664296"/>
          </a:xfrm>
          <a:prstGeom prst="lightningBol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Sprechblase: oval 17">
            <a:extLst>
              <a:ext uri="{FF2B5EF4-FFF2-40B4-BE49-F238E27FC236}">
                <a16:creationId xmlns:a16="http://schemas.microsoft.com/office/drawing/2014/main" id="{F195719E-547C-8F67-8D7E-62CA2C2F3DFD}"/>
              </a:ext>
            </a:extLst>
          </p:cNvPr>
          <p:cNvSpPr/>
          <p:nvPr/>
        </p:nvSpPr>
        <p:spPr>
          <a:xfrm>
            <a:off x="1981367" y="1844824"/>
            <a:ext cx="720080" cy="726135"/>
          </a:xfrm>
          <a:prstGeom prst="wedgeEllipseCallout">
            <a:avLst>
              <a:gd name="adj1" fmla="val 106153"/>
              <a:gd name="adj2" fmla="val 860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Grafik 16" descr="Ein Bild, das Kreis, Symbol, rot, Screenshot enthält.&#10;&#10;Automatisch generierte Beschreibung">
            <a:extLst>
              <a:ext uri="{FF2B5EF4-FFF2-40B4-BE49-F238E27FC236}">
                <a16:creationId xmlns:a16="http://schemas.microsoft.com/office/drawing/2014/main" id="{2F1EBEFD-C14E-5BBD-26AB-AFC9490731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756" y="1957234"/>
            <a:ext cx="503302" cy="503302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D4442C26-86AE-0641-D261-5B3555439E4D}"/>
              </a:ext>
            </a:extLst>
          </p:cNvPr>
          <p:cNvSpPr txBox="1"/>
          <p:nvPr/>
        </p:nvSpPr>
        <p:spPr>
          <a:xfrm>
            <a:off x="4799856" y="4404844"/>
            <a:ext cx="2997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dirty="0"/>
              <a:t>Atomar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C5695DB-E20A-B7A6-60F2-755000366ADD}"/>
              </a:ext>
            </a:extLst>
          </p:cNvPr>
          <p:cNvSpPr txBox="1"/>
          <p:nvPr/>
        </p:nvSpPr>
        <p:spPr>
          <a:xfrm>
            <a:off x="4675825" y="5454833"/>
            <a:ext cx="3200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alles oder nichts</a:t>
            </a:r>
          </a:p>
        </p:txBody>
      </p:sp>
    </p:spTree>
    <p:extLst>
      <p:ext uri="{BB962C8B-B14F-4D97-AF65-F5344CB8AC3E}">
        <p14:creationId xmlns:p14="http://schemas.microsoft.com/office/powerpoint/2010/main" val="3373943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7871AA2-780E-FDFE-D371-F0B9D0965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8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AA6F79-E0E5-91D2-087A-AE289996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94CE4D-E56D-0FBF-5905-021FD63E91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b="0" i="0" dirty="0">
                <a:solidFill>
                  <a:schemeClr val="tx1">
                    <a:lumMod val="50000"/>
                  </a:schemeClr>
                </a:solidFill>
                <a:effectLst/>
              </a:rPr>
              <a:t>Algorithmus im Datenbankmanagement</a:t>
            </a:r>
          </a:p>
          <a:p>
            <a:r>
              <a:rPr lang="de-DE" b="0" i="0" dirty="0">
                <a:solidFill>
                  <a:schemeClr val="tx1">
                    <a:lumMod val="50000"/>
                  </a:schemeClr>
                </a:solidFill>
                <a:effectLst/>
              </a:rPr>
              <a:t>stellt sicher, dass die Änderung atomar erfolgt ("Alles oder nichts")</a:t>
            </a:r>
          </a:p>
          <a:p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Aufteilung des Prozesses in 2 Phasen</a:t>
            </a:r>
          </a:p>
          <a:p>
            <a:pPr lvl="1"/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Vorbereitungsphase</a:t>
            </a:r>
          </a:p>
          <a:p>
            <a:pPr lvl="1"/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Commit Phase</a:t>
            </a:r>
          </a:p>
        </p:txBody>
      </p:sp>
    </p:spTree>
    <p:extLst>
      <p:ext uri="{BB962C8B-B14F-4D97-AF65-F5344CB8AC3E}">
        <p14:creationId xmlns:p14="http://schemas.microsoft.com/office/powerpoint/2010/main" val="849992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7871AA2-780E-FDFE-D371-F0B9D0965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9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AA6F79-E0E5-91D2-087A-AE289996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pic>
        <p:nvPicPr>
          <p:cNvPr id="7" name="Grafik 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3AB071A-D0E4-A907-DDDC-073490066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1359752"/>
            <a:ext cx="1008112" cy="1008112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8BF4FE2-6D2A-3950-938F-5E958C46E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4509120"/>
            <a:ext cx="1008112" cy="1008112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EDC41DE-FBD1-D5B0-0868-F6F8B6938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4509120"/>
            <a:ext cx="1008112" cy="1008112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30A277F-A6C0-8B9C-AC7D-2B64C3AC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4509120"/>
            <a:ext cx="1008112" cy="100811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0D6D531-2AC7-AAAF-5597-79942CAF8A6F}"/>
              </a:ext>
            </a:extLst>
          </p:cNvPr>
          <p:cNvSpPr txBox="1"/>
          <p:nvPr/>
        </p:nvSpPr>
        <p:spPr>
          <a:xfrm>
            <a:off x="4943872" y="713421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Koordinator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E9D1774-A650-B2CC-75E5-FC54985BE2D9}"/>
              </a:ext>
            </a:extLst>
          </p:cNvPr>
          <p:cNvSpPr txBox="1"/>
          <p:nvPr/>
        </p:nvSpPr>
        <p:spPr>
          <a:xfrm>
            <a:off x="1271464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69874E2-CD01-879C-788F-9E3B099E1008}"/>
              </a:ext>
            </a:extLst>
          </p:cNvPr>
          <p:cNvSpPr txBox="1"/>
          <p:nvPr/>
        </p:nvSpPr>
        <p:spPr>
          <a:xfrm>
            <a:off x="4943872" y="5498248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A4DAF68-4EDF-1AD5-5674-B5B15F23C73F}"/>
              </a:ext>
            </a:extLst>
          </p:cNvPr>
          <p:cNvSpPr txBox="1"/>
          <p:nvPr/>
        </p:nvSpPr>
        <p:spPr>
          <a:xfrm>
            <a:off x="8616280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07AE48A-ADB1-B4F9-C9FD-3C390CA1A3F6}"/>
              </a:ext>
            </a:extLst>
          </p:cNvPr>
          <p:cNvSpPr txBox="1"/>
          <p:nvPr/>
        </p:nvSpPr>
        <p:spPr>
          <a:xfrm>
            <a:off x="11039920" y="268191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/>
              <a:t>1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5E9B379-C144-5952-7471-85BF818057B5}"/>
              </a:ext>
            </a:extLst>
          </p:cNvPr>
          <p:cNvSpPr txBox="1"/>
          <p:nvPr/>
        </p:nvSpPr>
        <p:spPr>
          <a:xfrm>
            <a:off x="9840137" y="73931"/>
            <a:ext cx="2304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dirty="0"/>
              <a:t>Vorbereitungsphase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6B4EF8F-56D3-236F-157E-9C2E362E196F}"/>
              </a:ext>
            </a:extLst>
          </p:cNvPr>
          <p:cNvCxnSpPr>
            <a:cxnSpLocks/>
          </p:cNvCxnSpPr>
          <p:nvPr/>
        </p:nvCxnSpPr>
        <p:spPr>
          <a:xfrm flipH="1">
            <a:off x="2927648" y="2721741"/>
            <a:ext cx="2384852" cy="1787379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04DCE0F-494E-197B-837D-D966F31E118D}"/>
              </a:ext>
            </a:extLst>
          </p:cNvPr>
          <p:cNvCxnSpPr>
            <a:cxnSpLocks/>
          </p:cNvCxnSpPr>
          <p:nvPr/>
        </p:nvCxnSpPr>
        <p:spPr>
          <a:xfrm>
            <a:off x="6096000" y="2852936"/>
            <a:ext cx="0" cy="1512168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7DE92CA-E629-A975-7E43-7823C104574C}"/>
              </a:ext>
            </a:extLst>
          </p:cNvPr>
          <p:cNvCxnSpPr>
            <a:cxnSpLocks/>
          </p:cNvCxnSpPr>
          <p:nvPr/>
        </p:nvCxnSpPr>
        <p:spPr>
          <a:xfrm>
            <a:off x="6968684" y="2721741"/>
            <a:ext cx="2367676" cy="1787379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BCD1AC9A-5E5F-746C-B9C4-3EA7D354F657}"/>
              </a:ext>
            </a:extLst>
          </p:cNvPr>
          <p:cNvSpPr txBox="1"/>
          <p:nvPr/>
        </p:nvSpPr>
        <p:spPr>
          <a:xfrm>
            <a:off x="5420510" y="2297597"/>
            <a:ext cx="1512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Bereit?</a:t>
            </a:r>
          </a:p>
        </p:txBody>
      </p:sp>
      <p:sp>
        <p:nvSpPr>
          <p:cNvPr id="34" name="Denkblase: wolkenförmig 33">
            <a:extLst>
              <a:ext uri="{FF2B5EF4-FFF2-40B4-BE49-F238E27FC236}">
                <a16:creationId xmlns:a16="http://schemas.microsoft.com/office/drawing/2014/main" id="{FFC71865-968C-09C8-66B9-92EF982330AB}"/>
              </a:ext>
            </a:extLst>
          </p:cNvPr>
          <p:cNvSpPr/>
          <p:nvPr/>
        </p:nvSpPr>
        <p:spPr>
          <a:xfrm>
            <a:off x="3201972" y="4366845"/>
            <a:ext cx="864096" cy="646331"/>
          </a:xfrm>
          <a:prstGeom prst="cloudCallout">
            <a:avLst>
              <a:gd name="adj1" fmla="val -76312"/>
              <a:gd name="adj2" fmla="val 3502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Denkblase: wolkenförmig 34">
            <a:extLst>
              <a:ext uri="{FF2B5EF4-FFF2-40B4-BE49-F238E27FC236}">
                <a16:creationId xmlns:a16="http://schemas.microsoft.com/office/drawing/2014/main" id="{A81D1814-D080-CFEB-52F4-76B8714EC73A}"/>
              </a:ext>
            </a:extLst>
          </p:cNvPr>
          <p:cNvSpPr/>
          <p:nvPr/>
        </p:nvSpPr>
        <p:spPr>
          <a:xfrm>
            <a:off x="6905488" y="4379920"/>
            <a:ext cx="864096" cy="646331"/>
          </a:xfrm>
          <a:prstGeom prst="cloudCallout">
            <a:avLst>
              <a:gd name="adj1" fmla="val -76312"/>
              <a:gd name="adj2" fmla="val 3502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Denkblase: wolkenförmig 35">
            <a:extLst>
              <a:ext uri="{FF2B5EF4-FFF2-40B4-BE49-F238E27FC236}">
                <a16:creationId xmlns:a16="http://schemas.microsoft.com/office/drawing/2014/main" id="{509E2748-5DD5-B0DB-0E70-C83603F5DF74}"/>
              </a:ext>
            </a:extLst>
          </p:cNvPr>
          <p:cNvSpPr/>
          <p:nvPr/>
        </p:nvSpPr>
        <p:spPr>
          <a:xfrm>
            <a:off x="10607872" y="4357352"/>
            <a:ext cx="864096" cy="646331"/>
          </a:xfrm>
          <a:prstGeom prst="cloudCallout">
            <a:avLst>
              <a:gd name="adj1" fmla="val -76312"/>
              <a:gd name="adj2" fmla="val 3502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AC1121A8-2779-2C65-96A9-D8E13E22D8C6}"/>
              </a:ext>
            </a:extLst>
          </p:cNvPr>
          <p:cNvSpPr txBox="1"/>
          <p:nvPr/>
        </p:nvSpPr>
        <p:spPr>
          <a:xfrm>
            <a:off x="3269447" y="3978528"/>
            <a:ext cx="5760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dirty="0">
                <a:solidFill>
                  <a:schemeClr val="accent3"/>
                </a:solidFill>
              </a:rPr>
              <a:t>…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647299F0-410A-DF80-5744-7481365D1AE0}"/>
              </a:ext>
            </a:extLst>
          </p:cNvPr>
          <p:cNvSpPr txBox="1"/>
          <p:nvPr/>
        </p:nvSpPr>
        <p:spPr>
          <a:xfrm>
            <a:off x="6951364" y="3978528"/>
            <a:ext cx="5760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dirty="0">
                <a:solidFill>
                  <a:schemeClr val="accent3"/>
                </a:solidFill>
              </a:rPr>
              <a:t>…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52C943BD-B102-48C3-A515-996A02D11645}"/>
              </a:ext>
            </a:extLst>
          </p:cNvPr>
          <p:cNvSpPr txBox="1"/>
          <p:nvPr/>
        </p:nvSpPr>
        <p:spPr>
          <a:xfrm>
            <a:off x="10632504" y="3978528"/>
            <a:ext cx="5760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dirty="0">
                <a:solidFill>
                  <a:schemeClr val="accent3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7742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69B9162-47DF-0852-3AD5-FC9299FEE259}"/>
              </a:ext>
            </a:extLst>
          </p:cNvPr>
          <p:cNvCxnSpPr>
            <a:cxnSpLocks/>
          </p:cNvCxnSpPr>
          <p:nvPr/>
        </p:nvCxnSpPr>
        <p:spPr>
          <a:xfrm flipH="1" flipV="1">
            <a:off x="6968684" y="2721741"/>
            <a:ext cx="2367676" cy="176461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C8F0D79-B13B-E07F-FCF2-8C0D9E1D697D}"/>
              </a:ext>
            </a:extLst>
          </p:cNvPr>
          <p:cNvCxnSpPr>
            <a:cxnSpLocks/>
          </p:cNvCxnSpPr>
          <p:nvPr/>
        </p:nvCxnSpPr>
        <p:spPr>
          <a:xfrm flipV="1">
            <a:off x="6085770" y="2879472"/>
            <a:ext cx="10230" cy="146943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C16AEAA-640E-853A-FE7E-DF2F65592D72}"/>
              </a:ext>
            </a:extLst>
          </p:cNvPr>
          <p:cNvCxnSpPr>
            <a:cxnSpLocks/>
          </p:cNvCxnSpPr>
          <p:nvPr/>
        </p:nvCxnSpPr>
        <p:spPr>
          <a:xfrm flipV="1">
            <a:off x="2953635" y="2715330"/>
            <a:ext cx="2358865" cy="178737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7871AA2-780E-FDFE-D371-F0B9D0965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10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AA6F79-E0E5-91D2-087A-AE289996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pic>
        <p:nvPicPr>
          <p:cNvPr id="7" name="Grafik 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3AB071A-D0E4-A907-DDDC-073490066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1359752"/>
            <a:ext cx="1008112" cy="1008112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8BF4FE2-6D2A-3950-938F-5E958C46E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4509120"/>
            <a:ext cx="1008112" cy="1008112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EDC41DE-FBD1-D5B0-0868-F6F8B6938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4509120"/>
            <a:ext cx="1008112" cy="1008112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30A277F-A6C0-8B9C-AC7D-2B64C3AC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4509120"/>
            <a:ext cx="1008112" cy="100811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0D6D531-2AC7-AAAF-5597-79942CAF8A6F}"/>
              </a:ext>
            </a:extLst>
          </p:cNvPr>
          <p:cNvSpPr txBox="1"/>
          <p:nvPr/>
        </p:nvSpPr>
        <p:spPr>
          <a:xfrm>
            <a:off x="4943872" y="713421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Koordinator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E9D1774-A650-B2CC-75E5-FC54985BE2D9}"/>
              </a:ext>
            </a:extLst>
          </p:cNvPr>
          <p:cNvSpPr txBox="1"/>
          <p:nvPr/>
        </p:nvSpPr>
        <p:spPr>
          <a:xfrm>
            <a:off x="1271464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69874E2-CD01-879C-788F-9E3B099E1008}"/>
              </a:ext>
            </a:extLst>
          </p:cNvPr>
          <p:cNvSpPr txBox="1"/>
          <p:nvPr/>
        </p:nvSpPr>
        <p:spPr>
          <a:xfrm>
            <a:off x="4943872" y="5498248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A4DAF68-4EDF-1AD5-5674-B5B15F23C73F}"/>
              </a:ext>
            </a:extLst>
          </p:cNvPr>
          <p:cNvSpPr txBox="1"/>
          <p:nvPr/>
        </p:nvSpPr>
        <p:spPr>
          <a:xfrm>
            <a:off x="8616280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07AE48A-ADB1-B4F9-C9FD-3C390CA1A3F6}"/>
              </a:ext>
            </a:extLst>
          </p:cNvPr>
          <p:cNvSpPr txBox="1"/>
          <p:nvPr/>
        </p:nvSpPr>
        <p:spPr>
          <a:xfrm>
            <a:off x="11039920" y="268191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/>
              <a:t>1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5E9B379-C144-5952-7471-85BF818057B5}"/>
              </a:ext>
            </a:extLst>
          </p:cNvPr>
          <p:cNvSpPr txBox="1"/>
          <p:nvPr/>
        </p:nvSpPr>
        <p:spPr>
          <a:xfrm>
            <a:off x="9840137" y="73931"/>
            <a:ext cx="2304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dirty="0"/>
              <a:t>Vorbereitungsphase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BCD1AC9A-5E5F-746C-B9C4-3EA7D354F657}"/>
              </a:ext>
            </a:extLst>
          </p:cNvPr>
          <p:cNvSpPr txBox="1"/>
          <p:nvPr/>
        </p:nvSpPr>
        <p:spPr>
          <a:xfrm>
            <a:off x="5420510" y="2297597"/>
            <a:ext cx="1512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Bereit?</a:t>
            </a:r>
          </a:p>
        </p:txBody>
      </p:sp>
      <p:pic>
        <p:nvPicPr>
          <p:cNvPr id="29" name="Grafik 28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A1A37236-D675-7DD6-E904-D88354F7B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846" y="3400161"/>
            <a:ext cx="466088" cy="466088"/>
          </a:xfrm>
          <a:prstGeom prst="rect">
            <a:avLst/>
          </a:prstGeom>
        </p:spPr>
      </p:pic>
      <p:pic>
        <p:nvPicPr>
          <p:cNvPr id="31" name="Grafik 30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90E7022F-7C9E-27B7-08F9-62B7F180B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344" y="3061431"/>
            <a:ext cx="466088" cy="466088"/>
          </a:xfrm>
          <a:prstGeom prst="rect">
            <a:avLst/>
          </a:prstGeom>
        </p:spPr>
      </p:pic>
      <p:pic>
        <p:nvPicPr>
          <p:cNvPr id="32" name="Grafik 31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1386E925-43D4-B0D6-C7CE-06BA7F562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074" y="3061431"/>
            <a:ext cx="466088" cy="46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03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7871AA2-780E-FDFE-D371-F0B9D0965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11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AA6F79-E0E5-91D2-087A-AE289996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pic>
        <p:nvPicPr>
          <p:cNvPr id="7" name="Grafik 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3AB071A-D0E4-A907-DDDC-073490066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1359752"/>
            <a:ext cx="1008112" cy="1008112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8BF4FE2-6D2A-3950-938F-5E958C46E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4509120"/>
            <a:ext cx="1008112" cy="1008112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EDC41DE-FBD1-D5B0-0868-F6F8B6938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4509120"/>
            <a:ext cx="1008112" cy="1008112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30A277F-A6C0-8B9C-AC7D-2B64C3AC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4509120"/>
            <a:ext cx="1008112" cy="100811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0D6D531-2AC7-AAAF-5597-79942CAF8A6F}"/>
              </a:ext>
            </a:extLst>
          </p:cNvPr>
          <p:cNvSpPr txBox="1"/>
          <p:nvPr/>
        </p:nvSpPr>
        <p:spPr>
          <a:xfrm>
            <a:off x="4943872" y="713421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Koordinator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E9D1774-A650-B2CC-75E5-FC54985BE2D9}"/>
              </a:ext>
            </a:extLst>
          </p:cNvPr>
          <p:cNvSpPr txBox="1"/>
          <p:nvPr/>
        </p:nvSpPr>
        <p:spPr>
          <a:xfrm>
            <a:off x="1271464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69874E2-CD01-879C-788F-9E3B099E1008}"/>
              </a:ext>
            </a:extLst>
          </p:cNvPr>
          <p:cNvSpPr txBox="1"/>
          <p:nvPr/>
        </p:nvSpPr>
        <p:spPr>
          <a:xfrm>
            <a:off x="4943872" y="5498248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A4DAF68-4EDF-1AD5-5674-B5B15F23C73F}"/>
              </a:ext>
            </a:extLst>
          </p:cNvPr>
          <p:cNvSpPr txBox="1"/>
          <p:nvPr/>
        </p:nvSpPr>
        <p:spPr>
          <a:xfrm>
            <a:off x="8616280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07AE48A-ADB1-B4F9-C9FD-3C390CA1A3F6}"/>
              </a:ext>
            </a:extLst>
          </p:cNvPr>
          <p:cNvSpPr txBox="1"/>
          <p:nvPr/>
        </p:nvSpPr>
        <p:spPr>
          <a:xfrm>
            <a:off x="11039920" y="268191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/>
              <a:t>2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5E9B379-C144-5952-7471-85BF818057B5}"/>
              </a:ext>
            </a:extLst>
          </p:cNvPr>
          <p:cNvSpPr txBox="1"/>
          <p:nvPr/>
        </p:nvSpPr>
        <p:spPr>
          <a:xfrm>
            <a:off x="9840137" y="73931"/>
            <a:ext cx="2304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dirty="0"/>
              <a:t>Commit Phase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6B4EF8F-56D3-236F-157E-9C2E362E196F}"/>
              </a:ext>
            </a:extLst>
          </p:cNvPr>
          <p:cNvCxnSpPr>
            <a:cxnSpLocks/>
          </p:cNvCxnSpPr>
          <p:nvPr/>
        </p:nvCxnSpPr>
        <p:spPr>
          <a:xfrm flipH="1">
            <a:off x="2927648" y="2721741"/>
            <a:ext cx="2384852" cy="1787379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04DCE0F-494E-197B-837D-D966F31E118D}"/>
              </a:ext>
            </a:extLst>
          </p:cNvPr>
          <p:cNvCxnSpPr>
            <a:cxnSpLocks/>
          </p:cNvCxnSpPr>
          <p:nvPr/>
        </p:nvCxnSpPr>
        <p:spPr>
          <a:xfrm>
            <a:off x="6096000" y="2852936"/>
            <a:ext cx="0" cy="1512168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7DE92CA-E629-A975-7E43-7823C104574C}"/>
              </a:ext>
            </a:extLst>
          </p:cNvPr>
          <p:cNvCxnSpPr>
            <a:cxnSpLocks/>
          </p:cNvCxnSpPr>
          <p:nvPr/>
        </p:nvCxnSpPr>
        <p:spPr>
          <a:xfrm>
            <a:off x="6968684" y="2721741"/>
            <a:ext cx="2367676" cy="1787379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BCD1AC9A-5E5F-746C-B9C4-3EA7D354F657}"/>
              </a:ext>
            </a:extLst>
          </p:cNvPr>
          <p:cNvSpPr txBox="1"/>
          <p:nvPr/>
        </p:nvSpPr>
        <p:spPr>
          <a:xfrm>
            <a:off x="5329820" y="229673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Commit</a:t>
            </a:r>
          </a:p>
        </p:txBody>
      </p:sp>
      <p:pic>
        <p:nvPicPr>
          <p:cNvPr id="5" name="Grafik 4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FE125F32-6C65-B273-0161-9C2B1C4C62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728" y="3010980"/>
            <a:ext cx="604450" cy="604450"/>
          </a:xfrm>
          <a:prstGeom prst="rect">
            <a:avLst/>
          </a:prstGeom>
        </p:spPr>
      </p:pic>
      <p:pic>
        <p:nvPicPr>
          <p:cNvPr id="6" name="Grafik 5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9735A13A-3176-EC1F-C8E4-71BB1D229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842" y="3250331"/>
            <a:ext cx="604450" cy="604450"/>
          </a:xfrm>
          <a:prstGeom prst="rect">
            <a:avLst/>
          </a:prstGeom>
        </p:spPr>
      </p:pic>
      <p:pic>
        <p:nvPicPr>
          <p:cNvPr id="17" name="Grafik 1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09D1429A-C148-5B8F-E5A9-596603A45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830" y="3004570"/>
            <a:ext cx="604450" cy="60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468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69B9162-47DF-0852-3AD5-FC9299FEE259}"/>
              </a:ext>
            </a:extLst>
          </p:cNvPr>
          <p:cNvCxnSpPr>
            <a:cxnSpLocks/>
          </p:cNvCxnSpPr>
          <p:nvPr/>
        </p:nvCxnSpPr>
        <p:spPr>
          <a:xfrm flipH="1" flipV="1">
            <a:off x="6968684" y="2721741"/>
            <a:ext cx="2367676" cy="176461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C8F0D79-B13B-E07F-FCF2-8C0D9E1D697D}"/>
              </a:ext>
            </a:extLst>
          </p:cNvPr>
          <p:cNvCxnSpPr>
            <a:cxnSpLocks/>
          </p:cNvCxnSpPr>
          <p:nvPr/>
        </p:nvCxnSpPr>
        <p:spPr>
          <a:xfrm flipV="1">
            <a:off x="6085770" y="2879472"/>
            <a:ext cx="10230" cy="146943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C16AEAA-640E-853A-FE7E-DF2F65592D72}"/>
              </a:ext>
            </a:extLst>
          </p:cNvPr>
          <p:cNvCxnSpPr>
            <a:cxnSpLocks/>
          </p:cNvCxnSpPr>
          <p:nvPr/>
        </p:nvCxnSpPr>
        <p:spPr>
          <a:xfrm flipV="1">
            <a:off x="2953635" y="2715330"/>
            <a:ext cx="2358865" cy="178737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7871AA2-780E-FDFE-D371-F0B9D0965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12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AA6F79-E0E5-91D2-087A-AE289996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pic>
        <p:nvPicPr>
          <p:cNvPr id="7" name="Grafik 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3AB071A-D0E4-A907-DDDC-073490066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1359752"/>
            <a:ext cx="1008112" cy="1008112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8BF4FE2-6D2A-3950-938F-5E958C46E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4509120"/>
            <a:ext cx="1008112" cy="1008112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EDC41DE-FBD1-D5B0-0868-F6F8B6938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4509120"/>
            <a:ext cx="1008112" cy="1008112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30A277F-A6C0-8B9C-AC7D-2B64C3AC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4509120"/>
            <a:ext cx="1008112" cy="100811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0D6D531-2AC7-AAAF-5597-79942CAF8A6F}"/>
              </a:ext>
            </a:extLst>
          </p:cNvPr>
          <p:cNvSpPr txBox="1"/>
          <p:nvPr/>
        </p:nvSpPr>
        <p:spPr>
          <a:xfrm>
            <a:off x="4943872" y="713421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Koordinator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E9D1774-A650-B2CC-75E5-FC54985BE2D9}"/>
              </a:ext>
            </a:extLst>
          </p:cNvPr>
          <p:cNvSpPr txBox="1"/>
          <p:nvPr/>
        </p:nvSpPr>
        <p:spPr>
          <a:xfrm>
            <a:off x="1271464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69874E2-CD01-879C-788F-9E3B099E1008}"/>
              </a:ext>
            </a:extLst>
          </p:cNvPr>
          <p:cNvSpPr txBox="1"/>
          <p:nvPr/>
        </p:nvSpPr>
        <p:spPr>
          <a:xfrm>
            <a:off x="4943872" y="5498248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A4DAF68-4EDF-1AD5-5674-B5B15F23C73F}"/>
              </a:ext>
            </a:extLst>
          </p:cNvPr>
          <p:cNvSpPr txBox="1"/>
          <p:nvPr/>
        </p:nvSpPr>
        <p:spPr>
          <a:xfrm>
            <a:off x="8616280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07AE48A-ADB1-B4F9-C9FD-3C390CA1A3F6}"/>
              </a:ext>
            </a:extLst>
          </p:cNvPr>
          <p:cNvSpPr txBox="1"/>
          <p:nvPr/>
        </p:nvSpPr>
        <p:spPr>
          <a:xfrm>
            <a:off x="11039920" y="268191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/>
              <a:t>2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5E9B379-C144-5952-7471-85BF818057B5}"/>
              </a:ext>
            </a:extLst>
          </p:cNvPr>
          <p:cNvSpPr txBox="1"/>
          <p:nvPr/>
        </p:nvSpPr>
        <p:spPr>
          <a:xfrm>
            <a:off x="9840137" y="73931"/>
            <a:ext cx="2304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dirty="0"/>
              <a:t>Commit Phase</a:t>
            </a:r>
          </a:p>
        </p:txBody>
      </p:sp>
      <p:pic>
        <p:nvPicPr>
          <p:cNvPr id="29" name="Grafik 28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A1A37236-D675-7DD6-E904-D88354F7B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846" y="3400161"/>
            <a:ext cx="466088" cy="466088"/>
          </a:xfrm>
          <a:prstGeom prst="rect">
            <a:avLst/>
          </a:prstGeom>
        </p:spPr>
      </p:pic>
      <p:pic>
        <p:nvPicPr>
          <p:cNvPr id="31" name="Grafik 30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90E7022F-7C9E-27B7-08F9-62B7F180B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344" y="3061431"/>
            <a:ext cx="466088" cy="466088"/>
          </a:xfrm>
          <a:prstGeom prst="rect">
            <a:avLst/>
          </a:prstGeom>
        </p:spPr>
      </p:pic>
      <p:pic>
        <p:nvPicPr>
          <p:cNvPr id="32" name="Grafik 31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1386E925-43D4-B0D6-C7CE-06BA7F562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074" y="3061431"/>
            <a:ext cx="466088" cy="466088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518F6582-794A-EC9C-0034-179C408B8AD3}"/>
              </a:ext>
            </a:extLst>
          </p:cNvPr>
          <p:cNvSpPr txBox="1"/>
          <p:nvPr/>
        </p:nvSpPr>
        <p:spPr>
          <a:xfrm>
            <a:off x="5329820" y="229673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Commit</a:t>
            </a:r>
          </a:p>
        </p:txBody>
      </p:sp>
    </p:spTree>
    <p:extLst>
      <p:ext uri="{BB962C8B-B14F-4D97-AF65-F5344CB8AC3E}">
        <p14:creationId xmlns:p14="http://schemas.microsoft.com/office/powerpoint/2010/main" val="1371169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69B9162-47DF-0852-3AD5-FC9299FEE259}"/>
              </a:ext>
            </a:extLst>
          </p:cNvPr>
          <p:cNvCxnSpPr>
            <a:cxnSpLocks/>
          </p:cNvCxnSpPr>
          <p:nvPr/>
        </p:nvCxnSpPr>
        <p:spPr>
          <a:xfrm flipH="1" flipV="1">
            <a:off x="6968684" y="2721741"/>
            <a:ext cx="2367676" cy="1764618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C8F0D79-B13B-E07F-FCF2-8C0D9E1D697D}"/>
              </a:ext>
            </a:extLst>
          </p:cNvPr>
          <p:cNvCxnSpPr>
            <a:cxnSpLocks/>
          </p:cNvCxnSpPr>
          <p:nvPr/>
        </p:nvCxnSpPr>
        <p:spPr>
          <a:xfrm flipV="1">
            <a:off x="6085770" y="2879472"/>
            <a:ext cx="10230" cy="146943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C16AEAA-640E-853A-FE7E-DF2F65592D72}"/>
              </a:ext>
            </a:extLst>
          </p:cNvPr>
          <p:cNvCxnSpPr>
            <a:cxnSpLocks/>
          </p:cNvCxnSpPr>
          <p:nvPr/>
        </p:nvCxnSpPr>
        <p:spPr>
          <a:xfrm flipV="1">
            <a:off x="2953635" y="2715330"/>
            <a:ext cx="2358865" cy="178737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7871AA2-780E-FDFE-D371-F0B9D0965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13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AA6F79-E0E5-91D2-087A-AE289996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pic>
        <p:nvPicPr>
          <p:cNvPr id="7" name="Grafik 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3AB071A-D0E4-A907-DDDC-073490066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1359752"/>
            <a:ext cx="1008112" cy="1008112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8BF4FE2-6D2A-3950-938F-5E958C46E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4509120"/>
            <a:ext cx="1008112" cy="1008112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EDC41DE-FBD1-D5B0-0868-F6F8B6938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4509120"/>
            <a:ext cx="1008112" cy="1008112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30A277F-A6C0-8B9C-AC7D-2B64C3AC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4509120"/>
            <a:ext cx="1008112" cy="100811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0D6D531-2AC7-AAAF-5597-79942CAF8A6F}"/>
              </a:ext>
            </a:extLst>
          </p:cNvPr>
          <p:cNvSpPr txBox="1"/>
          <p:nvPr/>
        </p:nvSpPr>
        <p:spPr>
          <a:xfrm>
            <a:off x="4943872" y="713421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Koordinator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E9D1774-A650-B2CC-75E5-FC54985BE2D9}"/>
              </a:ext>
            </a:extLst>
          </p:cNvPr>
          <p:cNvSpPr txBox="1"/>
          <p:nvPr/>
        </p:nvSpPr>
        <p:spPr>
          <a:xfrm>
            <a:off x="1271464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69874E2-CD01-879C-788F-9E3B099E1008}"/>
              </a:ext>
            </a:extLst>
          </p:cNvPr>
          <p:cNvSpPr txBox="1"/>
          <p:nvPr/>
        </p:nvSpPr>
        <p:spPr>
          <a:xfrm>
            <a:off x="4943872" y="5498248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A4DAF68-4EDF-1AD5-5674-B5B15F23C73F}"/>
              </a:ext>
            </a:extLst>
          </p:cNvPr>
          <p:cNvSpPr txBox="1"/>
          <p:nvPr/>
        </p:nvSpPr>
        <p:spPr>
          <a:xfrm>
            <a:off x="8616280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07AE48A-ADB1-B4F9-C9FD-3C390CA1A3F6}"/>
              </a:ext>
            </a:extLst>
          </p:cNvPr>
          <p:cNvSpPr txBox="1"/>
          <p:nvPr/>
        </p:nvSpPr>
        <p:spPr>
          <a:xfrm>
            <a:off x="11039920" y="268191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/>
              <a:t>1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5E9B379-C144-5952-7471-85BF818057B5}"/>
              </a:ext>
            </a:extLst>
          </p:cNvPr>
          <p:cNvSpPr txBox="1"/>
          <p:nvPr/>
        </p:nvSpPr>
        <p:spPr>
          <a:xfrm>
            <a:off x="9840137" y="73931"/>
            <a:ext cx="2304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dirty="0"/>
              <a:t>Vorbereitungsphase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BCD1AC9A-5E5F-746C-B9C4-3EA7D354F657}"/>
              </a:ext>
            </a:extLst>
          </p:cNvPr>
          <p:cNvSpPr txBox="1"/>
          <p:nvPr/>
        </p:nvSpPr>
        <p:spPr>
          <a:xfrm>
            <a:off x="5420510" y="2297597"/>
            <a:ext cx="1512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Bereit?</a:t>
            </a:r>
          </a:p>
        </p:txBody>
      </p:sp>
      <p:pic>
        <p:nvPicPr>
          <p:cNvPr id="29" name="Grafik 28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A1A37236-D675-7DD6-E904-D88354F7B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846" y="3400161"/>
            <a:ext cx="466088" cy="466088"/>
          </a:xfrm>
          <a:prstGeom prst="rect">
            <a:avLst/>
          </a:prstGeom>
        </p:spPr>
      </p:pic>
      <p:pic>
        <p:nvPicPr>
          <p:cNvPr id="31" name="Grafik 30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90E7022F-7C9E-27B7-08F9-62B7F180B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344" y="3061431"/>
            <a:ext cx="466088" cy="466088"/>
          </a:xfrm>
          <a:prstGeom prst="rect">
            <a:avLst/>
          </a:prstGeom>
        </p:spPr>
      </p:pic>
      <p:pic>
        <p:nvPicPr>
          <p:cNvPr id="4" name="Grafik 3" descr="Ein Bild, das Kreis, Symbol, rot, Screenshot enthält.&#10;&#10;Automatisch generierte Beschreibung">
            <a:extLst>
              <a:ext uri="{FF2B5EF4-FFF2-40B4-BE49-F238E27FC236}">
                <a16:creationId xmlns:a16="http://schemas.microsoft.com/office/drawing/2014/main" id="{3B16B9D4-14FC-8E17-A3E1-D4DCF1EBC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258" y="3061431"/>
            <a:ext cx="466088" cy="46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4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7871AA2-780E-FDFE-D371-F0B9D0965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14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AA6F79-E0E5-91D2-087A-AE289996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pic>
        <p:nvPicPr>
          <p:cNvPr id="7" name="Grafik 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3AB071A-D0E4-A907-DDDC-073490066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1359752"/>
            <a:ext cx="1008112" cy="1008112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8BF4FE2-6D2A-3950-938F-5E958C46E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4509120"/>
            <a:ext cx="1008112" cy="1008112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EDC41DE-FBD1-D5B0-0868-F6F8B6938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4509120"/>
            <a:ext cx="1008112" cy="1008112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30A277F-A6C0-8B9C-AC7D-2B64C3AC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4509120"/>
            <a:ext cx="1008112" cy="100811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0D6D531-2AC7-AAAF-5597-79942CAF8A6F}"/>
              </a:ext>
            </a:extLst>
          </p:cNvPr>
          <p:cNvSpPr txBox="1"/>
          <p:nvPr/>
        </p:nvSpPr>
        <p:spPr>
          <a:xfrm>
            <a:off x="4943872" y="713421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Koordinator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E9D1774-A650-B2CC-75E5-FC54985BE2D9}"/>
              </a:ext>
            </a:extLst>
          </p:cNvPr>
          <p:cNvSpPr txBox="1"/>
          <p:nvPr/>
        </p:nvSpPr>
        <p:spPr>
          <a:xfrm>
            <a:off x="1271464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69874E2-CD01-879C-788F-9E3B099E1008}"/>
              </a:ext>
            </a:extLst>
          </p:cNvPr>
          <p:cNvSpPr txBox="1"/>
          <p:nvPr/>
        </p:nvSpPr>
        <p:spPr>
          <a:xfrm>
            <a:off x="4943872" y="5498248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A4DAF68-4EDF-1AD5-5674-B5B15F23C73F}"/>
              </a:ext>
            </a:extLst>
          </p:cNvPr>
          <p:cNvSpPr txBox="1"/>
          <p:nvPr/>
        </p:nvSpPr>
        <p:spPr>
          <a:xfrm>
            <a:off x="8616280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07AE48A-ADB1-B4F9-C9FD-3C390CA1A3F6}"/>
              </a:ext>
            </a:extLst>
          </p:cNvPr>
          <p:cNvSpPr txBox="1"/>
          <p:nvPr/>
        </p:nvSpPr>
        <p:spPr>
          <a:xfrm>
            <a:off x="11039920" y="268191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/>
              <a:t>2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5E9B379-C144-5952-7471-85BF818057B5}"/>
              </a:ext>
            </a:extLst>
          </p:cNvPr>
          <p:cNvSpPr txBox="1"/>
          <p:nvPr/>
        </p:nvSpPr>
        <p:spPr>
          <a:xfrm>
            <a:off x="9840137" y="73931"/>
            <a:ext cx="2304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dirty="0"/>
              <a:t>Commit Phase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96B4EF8F-56D3-236F-157E-9C2E362E196F}"/>
              </a:ext>
            </a:extLst>
          </p:cNvPr>
          <p:cNvCxnSpPr>
            <a:cxnSpLocks/>
          </p:cNvCxnSpPr>
          <p:nvPr/>
        </p:nvCxnSpPr>
        <p:spPr>
          <a:xfrm flipH="1">
            <a:off x="2927648" y="2721741"/>
            <a:ext cx="2384852" cy="1787379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B04DCE0F-494E-197B-837D-D966F31E118D}"/>
              </a:ext>
            </a:extLst>
          </p:cNvPr>
          <p:cNvCxnSpPr>
            <a:cxnSpLocks/>
          </p:cNvCxnSpPr>
          <p:nvPr/>
        </p:nvCxnSpPr>
        <p:spPr>
          <a:xfrm>
            <a:off x="6096000" y="2852936"/>
            <a:ext cx="0" cy="1512168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7DE92CA-E629-A975-7E43-7823C104574C}"/>
              </a:ext>
            </a:extLst>
          </p:cNvPr>
          <p:cNvCxnSpPr>
            <a:cxnSpLocks/>
          </p:cNvCxnSpPr>
          <p:nvPr/>
        </p:nvCxnSpPr>
        <p:spPr>
          <a:xfrm>
            <a:off x="6968684" y="2721741"/>
            <a:ext cx="2367676" cy="1787379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BCD1AC9A-5E5F-746C-B9C4-3EA7D354F657}"/>
              </a:ext>
            </a:extLst>
          </p:cNvPr>
          <p:cNvSpPr txBox="1"/>
          <p:nvPr/>
        </p:nvSpPr>
        <p:spPr>
          <a:xfrm>
            <a:off x="5223317" y="228723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dirty="0"/>
              <a:t>Abort</a:t>
            </a:r>
          </a:p>
        </p:txBody>
      </p:sp>
      <p:pic>
        <p:nvPicPr>
          <p:cNvPr id="5" name="Grafik 4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82497CCA-42CC-B23B-4DA1-78A514085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2278">
            <a:off x="3679883" y="3078292"/>
            <a:ext cx="510132" cy="510132"/>
          </a:xfrm>
          <a:prstGeom prst="rect">
            <a:avLst/>
          </a:prstGeom>
        </p:spPr>
      </p:pic>
      <p:pic>
        <p:nvPicPr>
          <p:cNvPr id="6" name="Grafik 5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EFEB3A4-FFB7-20F0-0D3D-74CFB9210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2278">
            <a:off x="6118810" y="3308398"/>
            <a:ext cx="510132" cy="510132"/>
          </a:xfrm>
          <a:prstGeom prst="rect">
            <a:avLst/>
          </a:prstGeom>
        </p:spPr>
      </p:pic>
      <p:pic>
        <p:nvPicPr>
          <p:cNvPr id="17" name="Grafik 1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F3DC0773-2A44-5774-76E9-B0504CC9E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2278">
            <a:off x="8001983" y="3040937"/>
            <a:ext cx="510132" cy="51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33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69B9162-47DF-0852-3AD5-FC9299FEE259}"/>
              </a:ext>
            </a:extLst>
          </p:cNvPr>
          <p:cNvCxnSpPr>
            <a:cxnSpLocks/>
          </p:cNvCxnSpPr>
          <p:nvPr/>
        </p:nvCxnSpPr>
        <p:spPr>
          <a:xfrm flipH="1" flipV="1">
            <a:off x="6968684" y="2721741"/>
            <a:ext cx="2367676" cy="1764618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3C8F0D79-B13B-E07F-FCF2-8C0D9E1D697D}"/>
              </a:ext>
            </a:extLst>
          </p:cNvPr>
          <p:cNvCxnSpPr>
            <a:cxnSpLocks/>
          </p:cNvCxnSpPr>
          <p:nvPr/>
        </p:nvCxnSpPr>
        <p:spPr>
          <a:xfrm flipV="1">
            <a:off x="6085770" y="2879472"/>
            <a:ext cx="10230" cy="146943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C16AEAA-640E-853A-FE7E-DF2F65592D72}"/>
              </a:ext>
            </a:extLst>
          </p:cNvPr>
          <p:cNvCxnSpPr>
            <a:cxnSpLocks/>
          </p:cNvCxnSpPr>
          <p:nvPr/>
        </p:nvCxnSpPr>
        <p:spPr>
          <a:xfrm flipV="1">
            <a:off x="2953635" y="2715330"/>
            <a:ext cx="2358865" cy="178737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7871AA2-780E-FDFE-D371-F0B9D0965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15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AA6F79-E0E5-91D2-087A-AE289996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pic>
        <p:nvPicPr>
          <p:cNvPr id="7" name="Grafik 6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3AB071A-D0E4-A907-DDDC-073490066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1359752"/>
            <a:ext cx="1008112" cy="1008112"/>
          </a:xfrm>
          <a:prstGeom prst="rect">
            <a:avLst/>
          </a:prstGeom>
        </p:spPr>
      </p:pic>
      <p:pic>
        <p:nvPicPr>
          <p:cNvPr id="8" name="Grafik 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8BF4FE2-6D2A-3950-938F-5E958C46E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4509120"/>
            <a:ext cx="1008112" cy="1008112"/>
          </a:xfrm>
          <a:prstGeom prst="rect">
            <a:avLst/>
          </a:prstGeom>
        </p:spPr>
      </p:pic>
      <p:pic>
        <p:nvPicPr>
          <p:cNvPr id="9" name="Grafik 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5EDC41DE-FBD1-D5B0-0868-F6F8B6938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4509120"/>
            <a:ext cx="1008112" cy="1008112"/>
          </a:xfrm>
          <a:prstGeom prst="rect">
            <a:avLst/>
          </a:prstGeom>
        </p:spPr>
      </p:pic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30A277F-A6C0-8B9C-AC7D-2B64C3AC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4509120"/>
            <a:ext cx="1008112" cy="100811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0D6D531-2AC7-AAAF-5597-79942CAF8A6F}"/>
              </a:ext>
            </a:extLst>
          </p:cNvPr>
          <p:cNvSpPr txBox="1"/>
          <p:nvPr/>
        </p:nvSpPr>
        <p:spPr>
          <a:xfrm>
            <a:off x="4943872" y="713421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Koordinator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E9D1774-A650-B2CC-75E5-FC54985BE2D9}"/>
              </a:ext>
            </a:extLst>
          </p:cNvPr>
          <p:cNvSpPr txBox="1"/>
          <p:nvPr/>
        </p:nvSpPr>
        <p:spPr>
          <a:xfrm>
            <a:off x="1271464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69874E2-CD01-879C-788F-9E3B099E1008}"/>
              </a:ext>
            </a:extLst>
          </p:cNvPr>
          <p:cNvSpPr txBox="1"/>
          <p:nvPr/>
        </p:nvSpPr>
        <p:spPr>
          <a:xfrm>
            <a:off x="4943872" y="5498248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A4DAF68-4EDF-1AD5-5674-B5B15F23C73F}"/>
              </a:ext>
            </a:extLst>
          </p:cNvPr>
          <p:cNvSpPr txBox="1"/>
          <p:nvPr/>
        </p:nvSpPr>
        <p:spPr>
          <a:xfrm>
            <a:off x="8616280" y="5498247"/>
            <a:ext cx="246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Teilnehmer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07AE48A-ADB1-B4F9-C9FD-3C390CA1A3F6}"/>
              </a:ext>
            </a:extLst>
          </p:cNvPr>
          <p:cNvSpPr txBox="1"/>
          <p:nvPr/>
        </p:nvSpPr>
        <p:spPr>
          <a:xfrm>
            <a:off x="11039920" y="268191"/>
            <a:ext cx="720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/>
              <a:t>2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5E9B379-C144-5952-7471-85BF818057B5}"/>
              </a:ext>
            </a:extLst>
          </p:cNvPr>
          <p:cNvSpPr txBox="1"/>
          <p:nvPr/>
        </p:nvSpPr>
        <p:spPr>
          <a:xfrm>
            <a:off x="9840137" y="73931"/>
            <a:ext cx="2304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dirty="0"/>
              <a:t>Commit Phase</a:t>
            </a:r>
          </a:p>
        </p:txBody>
      </p:sp>
      <p:pic>
        <p:nvPicPr>
          <p:cNvPr id="29" name="Grafik 28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A1A37236-D675-7DD6-E904-D88354F7B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846" y="3400161"/>
            <a:ext cx="466088" cy="466088"/>
          </a:xfrm>
          <a:prstGeom prst="rect">
            <a:avLst/>
          </a:prstGeom>
        </p:spPr>
      </p:pic>
      <p:pic>
        <p:nvPicPr>
          <p:cNvPr id="31" name="Grafik 30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90E7022F-7C9E-27B7-08F9-62B7F180B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5344" y="3061431"/>
            <a:ext cx="466088" cy="466088"/>
          </a:xfrm>
          <a:prstGeom prst="rect">
            <a:avLst/>
          </a:prstGeom>
        </p:spPr>
      </p:pic>
      <p:pic>
        <p:nvPicPr>
          <p:cNvPr id="32" name="Grafik 31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1386E925-43D4-B0D6-C7CE-06BA7F562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074" y="3061431"/>
            <a:ext cx="466088" cy="46608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1F7DA19-3C5B-0118-B078-34FC6E8C59D1}"/>
              </a:ext>
            </a:extLst>
          </p:cNvPr>
          <p:cNvSpPr txBox="1"/>
          <p:nvPr/>
        </p:nvSpPr>
        <p:spPr>
          <a:xfrm>
            <a:off x="5223317" y="228723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dirty="0"/>
              <a:t>Abort</a:t>
            </a:r>
          </a:p>
        </p:txBody>
      </p:sp>
    </p:spTree>
    <p:extLst>
      <p:ext uri="{BB962C8B-B14F-4D97-AF65-F5344CB8AC3E}">
        <p14:creationId xmlns:p14="http://schemas.microsoft.com/office/powerpoint/2010/main" val="3491642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7871AA2-780E-FDFE-D371-F0B9D0965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16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4AA6F79-E0E5-91D2-087A-AE289996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pic>
        <p:nvPicPr>
          <p:cNvPr id="5" name="Grafik 4" descr="Ein Bild, das Text, Diagramm, Natur enthält.&#10;&#10;Automatisch generierte Beschreibung">
            <a:extLst>
              <a:ext uri="{FF2B5EF4-FFF2-40B4-BE49-F238E27FC236}">
                <a16:creationId xmlns:a16="http://schemas.microsoft.com/office/drawing/2014/main" id="{073680F0-D44A-B7B1-C595-EFAE41705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984" y="0"/>
            <a:ext cx="2767630" cy="1556792"/>
          </a:xfrm>
          <a:prstGeom prst="rect">
            <a:avLst/>
          </a:prstGeom>
        </p:spPr>
      </p:pic>
      <p:pic>
        <p:nvPicPr>
          <p:cNvPr id="7" name="Grafik 6" descr="Ein Bild, das Diagramm, Screenshot, Kreis enthält.&#10;&#10;Automatisch generierte Beschreibung">
            <a:extLst>
              <a:ext uri="{FF2B5EF4-FFF2-40B4-BE49-F238E27FC236}">
                <a16:creationId xmlns:a16="http://schemas.microsoft.com/office/drawing/2014/main" id="{DE8A20C9-0080-1BB7-37FE-DFCC210FD4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202" y="1556792"/>
            <a:ext cx="2767631" cy="1556792"/>
          </a:xfrm>
          <a:prstGeom prst="rect">
            <a:avLst/>
          </a:prstGeom>
        </p:spPr>
      </p:pic>
      <p:pic>
        <p:nvPicPr>
          <p:cNvPr id="9" name="Grafik 8" descr="Ein Bild, das Diagramm, Kreis enthält.&#10;&#10;Automatisch generierte Beschreibung">
            <a:extLst>
              <a:ext uri="{FF2B5EF4-FFF2-40B4-BE49-F238E27FC236}">
                <a16:creationId xmlns:a16="http://schemas.microsoft.com/office/drawing/2014/main" id="{A9086CB8-7A07-315A-9759-9CB8D7B143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259" y="3175247"/>
            <a:ext cx="2767630" cy="1556792"/>
          </a:xfrm>
          <a:prstGeom prst="rect">
            <a:avLst/>
          </a:prstGeom>
        </p:spPr>
      </p:pic>
      <p:pic>
        <p:nvPicPr>
          <p:cNvPr id="11" name="Grafik 10" descr="Ein Bild, das Diagramm, Screenshot, Kreis enthält.&#10;&#10;Automatisch generierte Beschreibung">
            <a:extLst>
              <a:ext uri="{FF2B5EF4-FFF2-40B4-BE49-F238E27FC236}">
                <a16:creationId xmlns:a16="http://schemas.microsoft.com/office/drawing/2014/main" id="{7A3A4953-04B3-1C0D-6073-41BA55D61D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251" y="4797152"/>
            <a:ext cx="2767630" cy="1556792"/>
          </a:xfrm>
          <a:prstGeom prst="rect">
            <a:avLst/>
          </a:prstGeom>
        </p:spPr>
      </p:pic>
      <p:pic>
        <p:nvPicPr>
          <p:cNvPr id="13" name="Grafik 12" descr="Ein Bild, das Screenshot, Diagramm, Text, Kreis enthält.&#10;&#10;Automatisch generierte Beschreibung">
            <a:extLst>
              <a:ext uri="{FF2B5EF4-FFF2-40B4-BE49-F238E27FC236}">
                <a16:creationId xmlns:a16="http://schemas.microsoft.com/office/drawing/2014/main" id="{83329433-6027-9C1B-C968-B9565C7C4B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048" y="1556792"/>
            <a:ext cx="2711624" cy="1525289"/>
          </a:xfrm>
          <a:prstGeom prst="rect">
            <a:avLst/>
          </a:prstGeom>
        </p:spPr>
      </p:pic>
      <p:pic>
        <p:nvPicPr>
          <p:cNvPr id="15" name="Grafik 14" descr="Ein Bild, das Diagramm, Kreis, Reihe enthält.&#10;&#10;Automatisch generierte Beschreibung">
            <a:extLst>
              <a:ext uri="{FF2B5EF4-FFF2-40B4-BE49-F238E27FC236}">
                <a16:creationId xmlns:a16="http://schemas.microsoft.com/office/drawing/2014/main" id="{8F9EC3DA-B651-5CFC-2E45-A4D58253FA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287" y="3175247"/>
            <a:ext cx="2767630" cy="1556792"/>
          </a:xfrm>
          <a:prstGeom prst="rect">
            <a:avLst/>
          </a:prstGeom>
        </p:spPr>
      </p:pic>
      <p:pic>
        <p:nvPicPr>
          <p:cNvPr id="17" name="Grafik 16" descr="Ein Bild, das Diagramm, Screenshot, Kreis enthält.&#10;&#10;Automatisch generierte Beschreibung">
            <a:extLst>
              <a:ext uri="{FF2B5EF4-FFF2-40B4-BE49-F238E27FC236}">
                <a16:creationId xmlns:a16="http://schemas.microsoft.com/office/drawing/2014/main" id="{52BFF7D3-8110-0948-405C-A86308126C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5048" y="4825205"/>
            <a:ext cx="2767630" cy="1556792"/>
          </a:xfrm>
          <a:prstGeom prst="rect">
            <a:avLst/>
          </a:prstGeom>
        </p:spPr>
      </p:pic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05FF06E-8922-2185-A5E6-56511390F2B6}"/>
              </a:ext>
            </a:extLst>
          </p:cNvPr>
          <p:cNvCxnSpPr>
            <a:cxnSpLocks/>
          </p:cNvCxnSpPr>
          <p:nvPr/>
        </p:nvCxnSpPr>
        <p:spPr>
          <a:xfrm>
            <a:off x="551384" y="3082081"/>
            <a:ext cx="11377264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FED7453A-F84A-FE93-A62B-477023B7371F}"/>
              </a:ext>
            </a:extLst>
          </p:cNvPr>
          <p:cNvSpPr txBox="1"/>
          <p:nvPr/>
        </p:nvSpPr>
        <p:spPr>
          <a:xfrm>
            <a:off x="146120" y="1952661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Vorbereitungsphase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D0B1CC3-559C-68AC-C55B-5E2F11A1CD66}"/>
              </a:ext>
            </a:extLst>
          </p:cNvPr>
          <p:cNvSpPr txBox="1"/>
          <p:nvPr/>
        </p:nvSpPr>
        <p:spPr>
          <a:xfrm>
            <a:off x="173510" y="4533763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Commit Phase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114102EA-505D-B559-4731-112499EA64F9}"/>
              </a:ext>
            </a:extLst>
          </p:cNvPr>
          <p:cNvCxnSpPr/>
          <p:nvPr/>
        </p:nvCxnSpPr>
        <p:spPr>
          <a:xfrm flipH="1">
            <a:off x="5807889" y="1412776"/>
            <a:ext cx="288111" cy="144016"/>
          </a:xfrm>
          <a:prstGeom prst="straightConnector1">
            <a:avLst/>
          </a:prstGeom>
          <a:ln w="571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1C6B1A2E-4BF7-AEB4-CCAD-5055D2B70AEF}"/>
              </a:ext>
            </a:extLst>
          </p:cNvPr>
          <p:cNvCxnSpPr>
            <a:cxnSpLocks/>
          </p:cNvCxnSpPr>
          <p:nvPr/>
        </p:nvCxnSpPr>
        <p:spPr>
          <a:xfrm>
            <a:off x="8689060" y="1434172"/>
            <a:ext cx="351976" cy="182236"/>
          </a:xfrm>
          <a:prstGeom prst="straightConnector1">
            <a:avLst/>
          </a:prstGeom>
          <a:ln w="571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38F275F-45B7-DAF4-203A-81BB33CC9F28}"/>
              </a:ext>
            </a:extLst>
          </p:cNvPr>
          <p:cNvCxnSpPr>
            <a:cxnSpLocks/>
          </p:cNvCxnSpPr>
          <p:nvPr/>
        </p:nvCxnSpPr>
        <p:spPr>
          <a:xfrm>
            <a:off x="4424074" y="2972588"/>
            <a:ext cx="0" cy="320966"/>
          </a:xfrm>
          <a:prstGeom prst="straightConnector1">
            <a:avLst/>
          </a:prstGeom>
          <a:ln w="571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9E247C55-EF68-6E22-E51F-774CB87EA001}"/>
              </a:ext>
            </a:extLst>
          </p:cNvPr>
          <p:cNvCxnSpPr>
            <a:cxnSpLocks/>
          </p:cNvCxnSpPr>
          <p:nvPr/>
        </p:nvCxnSpPr>
        <p:spPr>
          <a:xfrm>
            <a:off x="4424074" y="4592788"/>
            <a:ext cx="0" cy="320966"/>
          </a:xfrm>
          <a:prstGeom prst="straightConnector1">
            <a:avLst/>
          </a:prstGeom>
          <a:ln w="571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6E115A11-3BDB-D1A5-6BE9-8F66E89CDBE8}"/>
              </a:ext>
            </a:extLst>
          </p:cNvPr>
          <p:cNvCxnSpPr>
            <a:cxnSpLocks/>
          </p:cNvCxnSpPr>
          <p:nvPr/>
        </p:nvCxnSpPr>
        <p:spPr>
          <a:xfrm>
            <a:off x="10281576" y="2972588"/>
            <a:ext cx="0" cy="320966"/>
          </a:xfrm>
          <a:prstGeom prst="straightConnector1">
            <a:avLst/>
          </a:prstGeom>
          <a:ln w="571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B3CCC04F-D217-3461-79E5-F6BA7303F089}"/>
              </a:ext>
            </a:extLst>
          </p:cNvPr>
          <p:cNvCxnSpPr>
            <a:cxnSpLocks/>
          </p:cNvCxnSpPr>
          <p:nvPr/>
        </p:nvCxnSpPr>
        <p:spPr>
          <a:xfrm>
            <a:off x="10277102" y="4674462"/>
            <a:ext cx="0" cy="320966"/>
          </a:xfrm>
          <a:prstGeom prst="straightConnector1">
            <a:avLst/>
          </a:prstGeom>
          <a:ln w="571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204EE660-887F-8C22-4051-A8D2B223780D}"/>
              </a:ext>
            </a:extLst>
          </p:cNvPr>
          <p:cNvSpPr txBox="1"/>
          <p:nvPr/>
        </p:nvSpPr>
        <p:spPr>
          <a:xfrm>
            <a:off x="5968742" y="1852951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Alle Bereit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F3AE15B-25EF-70DA-E580-037B63B13771}"/>
              </a:ext>
            </a:extLst>
          </p:cNvPr>
          <p:cNvSpPr txBox="1"/>
          <p:nvPr/>
        </p:nvSpPr>
        <p:spPr>
          <a:xfrm>
            <a:off x="7196248" y="2484167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min. 1 nicht bereit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51875FB3-46C3-B398-65E0-0EE5D7A36511}"/>
              </a:ext>
            </a:extLst>
          </p:cNvPr>
          <p:cNvSpPr txBox="1"/>
          <p:nvPr/>
        </p:nvSpPr>
        <p:spPr>
          <a:xfrm>
            <a:off x="5951944" y="3411283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Commit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E1F87452-8B46-2B18-7F53-EBF10681FC15}"/>
              </a:ext>
            </a:extLst>
          </p:cNvPr>
          <p:cNvSpPr txBox="1"/>
          <p:nvPr/>
        </p:nvSpPr>
        <p:spPr>
          <a:xfrm>
            <a:off x="7813136" y="4102622"/>
            <a:ext cx="11212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600" dirty="0"/>
              <a:t>Rollback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376CA6A9-C9A1-E233-0AE9-5CD755C02999}"/>
              </a:ext>
            </a:extLst>
          </p:cNvPr>
          <p:cNvSpPr txBox="1"/>
          <p:nvPr/>
        </p:nvSpPr>
        <p:spPr>
          <a:xfrm>
            <a:off x="6759735" y="5506359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Bestätigung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8817A66F-1F4C-B08B-40F2-F2C8EABBA9F5}"/>
              </a:ext>
            </a:extLst>
          </p:cNvPr>
          <p:cNvCxnSpPr>
            <a:stCxn id="45" idx="1"/>
          </p:cNvCxnSpPr>
          <p:nvPr/>
        </p:nvCxnSpPr>
        <p:spPr>
          <a:xfrm flipH="1">
            <a:off x="5785013" y="2022228"/>
            <a:ext cx="18372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93A30516-D246-FDE0-A6EA-F03DFB23DBEB}"/>
              </a:ext>
            </a:extLst>
          </p:cNvPr>
          <p:cNvCxnSpPr/>
          <p:nvPr/>
        </p:nvCxnSpPr>
        <p:spPr>
          <a:xfrm flipH="1">
            <a:off x="5759719" y="3580560"/>
            <a:ext cx="18372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BBE07326-5BA9-5040-AB21-A4FCD0E35404}"/>
              </a:ext>
            </a:extLst>
          </p:cNvPr>
          <p:cNvCxnSpPr>
            <a:cxnSpLocks/>
          </p:cNvCxnSpPr>
          <p:nvPr/>
        </p:nvCxnSpPr>
        <p:spPr>
          <a:xfrm flipH="1">
            <a:off x="5954593" y="5692990"/>
            <a:ext cx="7174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E313A918-5929-765E-BBD3-65FCF4A10306}"/>
              </a:ext>
            </a:extLst>
          </p:cNvPr>
          <p:cNvCxnSpPr>
            <a:cxnSpLocks/>
          </p:cNvCxnSpPr>
          <p:nvPr/>
        </p:nvCxnSpPr>
        <p:spPr>
          <a:xfrm>
            <a:off x="8010901" y="5695394"/>
            <a:ext cx="6781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A3E288FD-37EB-9CDB-A848-23AED7273116}"/>
              </a:ext>
            </a:extLst>
          </p:cNvPr>
          <p:cNvCxnSpPr>
            <a:cxnSpLocks/>
          </p:cNvCxnSpPr>
          <p:nvPr/>
        </p:nvCxnSpPr>
        <p:spPr>
          <a:xfrm>
            <a:off x="8865048" y="2663552"/>
            <a:ext cx="259344" cy="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1BE4E9E5-43BB-EE7F-1F46-CED097F36C78}"/>
              </a:ext>
            </a:extLst>
          </p:cNvPr>
          <p:cNvCxnSpPr>
            <a:cxnSpLocks/>
          </p:cNvCxnSpPr>
          <p:nvPr/>
        </p:nvCxnSpPr>
        <p:spPr>
          <a:xfrm>
            <a:off x="8893287" y="4271899"/>
            <a:ext cx="259344" cy="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9D196801-45FD-1494-FE9E-B4269840AB15}"/>
              </a:ext>
            </a:extLst>
          </p:cNvPr>
          <p:cNvSpPr txBox="1"/>
          <p:nvPr/>
        </p:nvSpPr>
        <p:spPr>
          <a:xfrm>
            <a:off x="8892020" y="207582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Prepare</a:t>
            </a:r>
            <a:endParaRPr lang="de-DE" sz="1600" dirty="0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A0CC5A1A-2018-6B50-9586-4D17E6A9B59B}"/>
              </a:ext>
            </a:extLst>
          </p:cNvPr>
          <p:cNvCxnSpPr/>
          <p:nvPr/>
        </p:nvCxnSpPr>
        <p:spPr>
          <a:xfrm flipH="1">
            <a:off x="8781403" y="387008"/>
            <a:ext cx="183729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719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17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48807C-1BA6-AE3E-EB06-BA23B98DB0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1. Vorbereitungsphase</a:t>
            </a:r>
          </a:p>
          <a:p>
            <a:pPr lvl="1"/>
            <a:r>
              <a:rPr lang="de-DE" dirty="0"/>
              <a:t>Koordinator fragt alle Komponenten nach Bereitschaft</a:t>
            </a:r>
          </a:p>
          <a:p>
            <a:pPr lvl="1"/>
            <a:r>
              <a:rPr lang="de-DE" dirty="0"/>
              <a:t>Die Komponenten prüfen, ob sie genug interne Ressourcen haben, um die Aktion durchzuführen, präparieren sie, und melden Bereit oder Nicht Bereit</a:t>
            </a:r>
          </a:p>
          <a:p>
            <a:r>
              <a:rPr lang="de-DE" dirty="0"/>
              <a:t>2. Commit Phase</a:t>
            </a:r>
          </a:p>
          <a:p>
            <a:pPr lvl="1"/>
            <a:r>
              <a:rPr lang="de-DE" dirty="0"/>
              <a:t>Koordinator wertet Ergebnisse des Ready Checks aus</a:t>
            </a:r>
          </a:p>
          <a:p>
            <a:pPr lvl="2"/>
            <a:r>
              <a:rPr lang="de-DE" dirty="0"/>
              <a:t>Alle Ready? -&gt; Commit Signal</a:t>
            </a:r>
          </a:p>
          <a:p>
            <a:pPr lvl="2"/>
            <a:r>
              <a:rPr lang="de-DE" dirty="0"/>
              <a:t>Mindestens 1 nicht </a:t>
            </a:r>
            <a:r>
              <a:rPr lang="de-DE" dirty="0" err="1"/>
              <a:t>ready</a:t>
            </a:r>
            <a:r>
              <a:rPr lang="de-DE" dirty="0"/>
              <a:t> -&gt; Abort Signal</a:t>
            </a:r>
          </a:p>
          <a:p>
            <a:pPr lvl="1"/>
            <a:r>
              <a:rPr lang="de-DE" dirty="0"/>
              <a:t>Die Datenbanken führen die entsprechende Aktion aus</a:t>
            </a:r>
          </a:p>
          <a:p>
            <a:pPr lvl="2"/>
            <a:r>
              <a:rPr lang="de-DE" dirty="0"/>
              <a:t>Commit = Änderung ausführen -&gt; Bestätigung an Koordinator</a:t>
            </a:r>
          </a:p>
          <a:p>
            <a:pPr lvl="2"/>
            <a:r>
              <a:rPr lang="de-DE" dirty="0"/>
              <a:t>Abort = Rollback der Änderungen -&gt; Bestätigung an Koordinator</a:t>
            </a:r>
          </a:p>
        </p:txBody>
      </p:sp>
    </p:spTree>
    <p:extLst>
      <p:ext uri="{BB962C8B-B14F-4D97-AF65-F5344CB8AC3E}">
        <p14:creationId xmlns:p14="http://schemas.microsoft.com/office/powerpoint/2010/main" val="3856877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18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48807C-1BA6-AE3E-EB06-BA23B98DB0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Beispiele:</a:t>
            </a:r>
          </a:p>
          <a:p>
            <a:r>
              <a:rPr lang="de-DE" dirty="0"/>
              <a:t>Überweisung von Bank A an Bank B</a:t>
            </a:r>
          </a:p>
          <a:p>
            <a:r>
              <a:rPr lang="de-DE" dirty="0"/>
              <a:t>Onlineshop Bestellung mit verteiltem Lagerhaltungssystem</a:t>
            </a:r>
          </a:p>
          <a:p>
            <a:r>
              <a:rPr lang="de-DE" dirty="0"/>
              <a:t>Online Game mit Matchmaking</a:t>
            </a:r>
          </a:p>
        </p:txBody>
      </p:sp>
    </p:spTree>
    <p:extLst>
      <p:ext uri="{BB962C8B-B14F-4D97-AF65-F5344CB8AC3E}">
        <p14:creationId xmlns:p14="http://schemas.microsoft.com/office/powerpoint/2010/main" val="3845336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19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48807C-1BA6-AE3E-EB06-BA23B98DB0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Beispiele:</a:t>
            </a:r>
          </a:p>
          <a:p>
            <a:r>
              <a:rPr lang="de-DE" dirty="0"/>
              <a:t>Überweisung von Bank A an Bank B</a:t>
            </a:r>
          </a:p>
          <a:p>
            <a:r>
              <a:rPr lang="de-DE" dirty="0"/>
              <a:t>Onlineshop Bestellung mit verteiltem Lagerhaltungssystem</a:t>
            </a:r>
          </a:p>
          <a:p>
            <a:r>
              <a:rPr lang="de-DE" dirty="0"/>
              <a:t>Online Game mit Matchmaking</a:t>
            </a:r>
          </a:p>
        </p:txBody>
      </p:sp>
      <p:pic>
        <p:nvPicPr>
          <p:cNvPr id="6" name="Grafik 5" descr="Ein Bild, das Text, Screenshot, Grün, Spielstandanzeige enthält.&#10;&#10;Automatisch generierte Beschreibung">
            <a:extLst>
              <a:ext uri="{FF2B5EF4-FFF2-40B4-BE49-F238E27FC236}">
                <a16:creationId xmlns:a16="http://schemas.microsoft.com/office/drawing/2014/main" id="{48E443A1-9F29-F86F-2A6C-143105D31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32" y="1553098"/>
            <a:ext cx="6300192" cy="472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4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20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2-Phasen-Commit-Protokoll (2PC)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48807C-1BA6-AE3E-EB06-BA23B98DB0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Nachteile:</a:t>
            </a:r>
          </a:p>
          <a:p>
            <a:r>
              <a:rPr lang="de-DE" dirty="0"/>
              <a:t>Blockierung aller anderen Transaktionen, bis die aktuelle abgeschlossen wurde</a:t>
            </a:r>
          </a:p>
          <a:p>
            <a:r>
              <a:rPr lang="de-DE" dirty="0"/>
              <a:t>Kommunikation mit größerer Latenz führt zu längeren Ausführungszeiten</a:t>
            </a:r>
          </a:p>
          <a:p>
            <a:r>
              <a:rPr lang="de-DE" dirty="0"/>
              <a:t>Single Point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Failure</a:t>
            </a:r>
            <a:r>
              <a:rPr lang="de-DE" dirty="0"/>
              <a:t> (Koordinator) -&gt; Teilnehmer stuck</a:t>
            </a:r>
          </a:p>
        </p:txBody>
      </p:sp>
    </p:spTree>
    <p:extLst>
      <p:ext uri="{BB962C8B-B14F-4D97-AF65-F5344CB8AC3E}">
        <p14:creationId xmlns:p14="http://schemas.microsoft.com/office/powerpoint/2010/main" val="2966277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21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Paxos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48807C-1BA6-AE3E-EB06-BA23B98DB0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8022" y="4845382"/>
            <a:ext cx="2435956" cy="476791"/>
          </a:xfrm>
        </p:spPr>
        <p:txBody>
          <a:bodyPr/>
          <a:lstStyle/>
          <a:p>
            <a:pPr marL="0" indent="0" algn="ctr">
              <a:buNone/>
            </a:pPr>
            <a:r>
              <a:rPr lang="de-DE" dirty="0"/>
              <a:t>Leslie </a:t>
            </a:r>
            <a:r>
              <a:rPr lang="de-DE" dirty="0" err="1"/>
              <a:t>Lamport</a:t>
            </a:r>
            <a:r>
              <a:rPr lang="de-DE" dirty="0"/>
              <a:t> 2001</a:t>
            </a:r>
          </a:p>
        </p:txBody>
      </p:sp>
      <p:pic>
        <p:nvPicPr>
          <p:cNvPr id="6" name="Grafik 5" descr="Ein Bild, das Text, Schrift, Screenshot, Reihe enthält.&#10;&#10;Automatisch generierte Beschreibung">
            <a:extLst>
              <a:ext uri="{FF2B5EF4-FFF2-40B4-BE49-F238E27FC236}">
                <a16:creationId xmlns:a16="http://schemas.microsoft.com/office/drawing/2014/main" id="{CDC18BEA-B575-B9A1-1048-2ED9B60A3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793" y="2932243"/>
            <a:ext cx="5910414" cy="985069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25B80070-741B-C9D8-6318-92E8BB61194F}"/>
              </a:ext>
            </a:extLst>
          </p:cNvPr>
          <p:cNvSpPr txBox="1">
            <a:spLocks/>
          </p:cNvSpPr>
          <p:nvPr/>
        </p:nvSpPr>
        <p:spPr bwMode="auto">
          <a:xfrm>
            <a:off x="432001" y="1620000"/>
            <a:ext cx="11232619" cy="461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Arial" panose="020B0604020202020204" pitchFamily="34" charset="0"/>
              <a:buChar char="•"/>
              <a:defRPr sz="2000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marL="542925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9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8096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0763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4pPr>
            <a:lvl5pPr marL="13430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Erzielt Konsens in einer Gruppe von Teilnehmern</a:t>
            </a:r>
          </a:p>
          <a:p>
            <a:r>
              <a:rPr lang="de-DE" dirty="0"/>
              <a:t>Robustheit des Ergebnisses trotz eventueller Ausfälle von Systemen</a:t>
            </a:r>
          </a:p>
        </p:txBody>
      </p:sp>
    </p:spTree>
    <p:extLst>
      <p:ext uri="{BB962C8B-B14F-4D97-AF65-F5344CB8AC3E}">
        <p14:creationId xmlns:p14="http://schemas.microsoft.com/office/powerpoint/2010/main" val="60958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3">
            <a:extLst>
              <a:ext uri="{FF2B5EF4-FFF2-40B4-BE49-F238E27FC236}">
                <a16:creationId xmlns:a16="http://schemas.microsoft.com/office/drawing/2014/main" id="{25B80070-741B-C9D8-6318-92E8BB61194F}"/>
              </a:ext>
            </a:extLst>
          </p:cNvPr>
          <p:cNvSpPr txBox="1">
            <a:spLocks/>
          </p:cNvSpPr>
          <p:nvPr/>
        </p:nvSpPr>
        <p:spPr bwMode="auto">
          <a:xfrm>
            <a:off x="432001" y="1620000"/>
            <a:ext cx="11232619" cy="461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Arial" panose="020B0604020202020204" pitchFamily="34" charset="0"/>
              <a:buChar char="•"/>
              <a:defRPr sz="2000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marL="542925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9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8096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0763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4pPr>
            <a:lvl5pPr marL="13430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Erzielt Konsens in einer Gruppe von Teilnehmern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u="sng" dirty="0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Correctness</a:t>
            </a:r>
            <a:r>
              <a:rPr lang="de-DE" dirty="0">
                <a:sym typeface="Wingdings" panose="05000000000000000000" pitchFamily="2" charset="2"/>
              </a:rPr>
              <a:t>: Nur ein einziger Wert wird gewählt</a:t>
            </a:r>
          </a:p>
          <a:p>
            <a:pPr marL="266700" lvl="1" indent="0">
              <a:buNone/>
            </a:pPr>
            <a:endParaRPr lang="de-DE" dirty="0"/>
          </a:p>
          <a:p>
            <a:r>
              <a:rPr lang="de-DE" dirty="0"/>
              <a:t>Robustheit des Ergebnisses trotz eventueller Ausfälle von Systemen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u="sng" dirty="0" err="1">
                <a:solidFill>
                  <a:schemeClr val="accent3">
                    <a:lumMod val="50000"/>
                  </a:schemeClr>
                </a:solidFill>
                <a:sym typeface="Wingdings" panose="05000000000000000000" pitchFamily="2" charset="2"/>
              </a:rPr>
              <a:t>Liveness</a:t>
            </a:r>
            <a:r>
              <a:rPr lang="de-DE" dirty="0">
                <a:sym typeface="Wingdings" panose="05000000000000000000" pitchFamily="2" charset="2"/>
              </a:rPr>
              <a:t>: ein Wert wird gewählt, solange die Mehrheit der Komponenten verfügbar sind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22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Paxos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430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23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0D32BCC7-81DD-03B8-A93F-B60649B6C977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649CAA2-845B-C044-730F-D74982C41136}"/>
              </a:ext>
            </a:extLst>
          </p:cNvPr>
          <p:cNvSpPr txBox="1"/>
          <p:nvPr/>
        </p:nvSpPr>
        <p:spPr>
          <a:xfrm>
            <a:off x="1658667" y="410497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DBC9FD6-86C3-B30F-B52C-A1DEFDF30E8A}"/>
              </a:ext>
            </a:extLst>
          </p:cNvPr>
          <p:cNvCxnSpPr>
            <a:cxnSpLocks/>
          </p:cNvCxnSpPr>
          <p:nvPr/>
        </p:nvCxnSpPr>
        <p:spPr>
          <a:xfrm>
            <a:off x="8600231" y="2645522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3" name="Textfeld 72">
            <a:extLst>
              <a:ext uri="{FF2B5EF4-FFF2-40B4-BE49-F238E27FC236}">
                <a16:creationId xmlns:a16="http://schemas.microsoft.com/office/drawing/2014/main" id="{58D71259-78AD-5936-7333-DC4100D59E0F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F59AEA03-9A4C-5F33-2051-8D0A509BCB8B}"/>
              </a:ext>
            </a:extLst>
          </p:cNvPr>
          <p:cNvSpPr txBox="1"/>
          <p:nvPr/>
        </p:nvSpPr>
        <p:spPr>
          <a:xfrm>
            <a:off x="7751729" y="413803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7240C35-125C-031B-E2C9-88CC6D9FDF03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614603" y="2493103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AC1C0FFD-4D36-0990-D3BB-02C3F8E7C825}"/>
              </a:ext>
            </a:extLst>
          </p:cNvPr>
          <p:cNvSpPr txBox="1"/>
          <p:nvPr/>
        </p:nvSpPr>
        <p:spPr>
          <a:xfrm rot="1851188">
            <a:off x="2635611" y="2504832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459590" y="2883216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6200A04A-CA4F-6155-1287-867277FC3135}"/>
              </a:ext>
            </a:extLst>
          </p:cNvPr>
          <p:cNvSpPr txBox="1"/>
          <p:nvPr/>
        </p:nvSpPr>
        <p:spPr>
          <a:xfrm rot="19809520">
            <a:off x="6707483" y="2533648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7499609B-FECC-F7DF-B72F-6A14F96FEB83}"/>
              </a:ext>
            </a:extLst>
          </p:cNvPr>
          <p:cNvSpPr txBox="1"/>
          <p:nvPr/>
        </p:nvSpPr>
        <p:spPr>
          <a:xfrm rot="1851188">
            <a:off x="8728491" y="2545377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6042021B-F339-0623-331B-F34165DF7ED6}"/>
              </a:ext>
            </a:extLst>
          </p:cNvPr>
          <p:cNvSpPr txBox="1"/>
          <p:nvPr/>
        </p:nvSpPr>
        <p:spPr>
          <a:xfrm rot="16200000">
            <a:off x="7552470" y="2923761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8" name="Rechteck: abgerundete Ecken 87">
            <a:extLst>
              <a:ext uri="{FF2B5EF4-FFF2-40B4-BE49-F238E27FC236}">
                <a16:creationId xmlns:a16="http://schemas.microsoft.com/office/drawing/2014/main" id="{58216715-B254-5FC9-4A35-5560F749BF50}"/>
              </a:ext>
            </a:extLst>
          </p:cNvPr>
          <p:cNvSpPr/>
          <p:nvPr/>
        </p:nvSpPr>
        <p:spPr>
          <a:xfrm>
            <a:off x="3202356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Reply YES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prepared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462789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send ACCEPT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stCxn id="87" idx="3"/>
            <a:endCxn id="88" idx="1"/>
          </p:cNvCxnSpPr>
          <p:nvPr/>
        </p:nvCxnSpPr>
        <p:spPr>
          <a:xfrm>
            <a:off x="2451007" y="5629549"/>
            <a:ext cx="751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stCxn id="88" idx="3"/>
            <a:endCxn id="89" idx="1"/>
          </p:cNvCxnSpPr>
          <p:nvPr/>
        </p:nvCxnSpPr>
        <p:spPr>
          <a:xfrm flipV="1">
            <a:off x="4957963" y="5628549"/>
            <a:ext cx="1504826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stCxn id="89" idx="3"/>
            <a:endCxn id="90" idx="1"/>
          </p:cNvCxnSpPr>
          <p:nvPr/>
        </p:nvCxnSpPr>
        <p:spPr>
          <a:xfrm>
            <a:off x="8218396" y="5628549"/>
            <a:ext cx="751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71D43E5C-DD5C-B924-1AF9-8E96F59971CE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63582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3969FD88-F09D-6E64-7D64-CC1D377741E8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760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24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0" dirty="0"/>
              <a:t>Problem von 2PC -&gt; </a:t>
            </a:r>
            <a:r>
              <a:rPr lang="de-DE" b="0" dirty="0" err="1"/>
              <a:t>Liveness</a:t>
            </a:r>
            <a:r>
              <a:rPr lang="de-DE" b="0" dirty="0"/>
              <a:t> </a:t>
            </a:r>
            <a:r>
              <a:rPr lang="de-DE" b="0" dirty="0" err="1"/>
              <a:t>Requirement</a:t>
            </a:r>
            <a:r>
              <a:rPr lang="de-DE" b="0" dirty="0"/>
              <a:t> verletzt, sobald 1 Teilnehmer ausfällt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0D32BCC7-81DD-03B8-A93F-B60649B6C977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649CAA2-845B-C044-730F-D74982C41136}"/>
              </a:ext>
            </a:extLst>
          </p:cNvPr>
          <p:cNvSpPr txBox="1"/>
          <p:nvPr/>
        </p:nvSpPr>
        <p:spPr>
          <a:xfrm>
            <a:off x="1658667" y="410497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DBC9FD6-86C3-B30F-B52C-A1DEFDF30E8A}"/>
              </a:ext>
            </a:extLst>
          </p:cNvPr>
          <p:cNvCxnSpPr>
            <a:cxnSpLocks/>
          </p:cNvCxnSpPr>
          <p:nvPr/>
        </p:nvCxnSpPr>
        <p:spPr>
          <a:xfrm>
            <a:off x="8600231" y="2645522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3" name="Textfeld 72">
            <a:extLst>
              <a:ext uri="{FF2B5EF4-FFF2-40B4-BE49-F238E27FC236}">
                <a16:creationId xmlns:a16="http://schemas.microsoft.com/office/drawing/2014/main" id="{58D71259-78AD-5936-7333-DC4100D59E0F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F59AEA03-9A4C-5F33-2051-8D0A509BCB8B}"/>
              </a:ext>
            </a:extLst>
          </p:cNvPr>
          <p:cNvSpPr txBox="1"/>
          <p:nvPr/>
        </p:nvSpPr>
        <p:spPr>
          <a:xfrm>
            <a:off x="7751729" y="413803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7240C35-125C-031B-E2C9-88CC6D9FDF03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614603" y="2493103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AC1C0FFD-4D36-0990-D3BB-02C3F8E7C825}"/>
              </a:ext>
            </a:extLst>
          </p:cNvPr>
          <p:cNvSpPr txBox="1"/>
          <p:nvPr/>
        </p:nvSpPr>
        <p:spPr>
          <a:xfrm rot="1851188">
            <a:off x="2635611" y="2504832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459590" y="2883216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6200A04A-CA4F-6155-1287-867277FC3135}"/>
              </a:ext>
            </a:extLst>
          </p:cNvPr>
          <p:cNvSpPr txBox="1"/>
          <p:nvPr/>
        </p:nvSpPr>
        <p:spPr>
          <a:xfrm rot="19809520">
            <a:off x="6707483" y="2533648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7499609B-FECC-F7DF-B72F-6A14F96FEB83}"/>
              </a:ext>
            </a:extLst>
          </p:cNvPr>
          <p:cNvSpPr txBox="1"/>
          <p:nvPr/>
        </p:nvSpPr>
        <p:spPr>
          <a:xfrm rot="1851188">
            <a:off x="8728491" y="2545377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6042021B-F339-0623-331B-F34165DF7ED6}"/>
              </a:ext>
            </a:extLst>
          </p:cNvPr>
          <p:cNvSpPr txBox="1"/>
          <p:nvPr/>
        </p:nvSpPr>
        <p:spPr>
          <a:xfrm rot="16200000">
            <a:off x="7552470" y="2923761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8" name="Rechteck: abgerundete Ecken 87">
            <a:extLst>
              <a:ext uri="{FF2B5EF4-FFF2-40B4-BE49-F238E27FC236}">
                <a16:creationId xmlns:a16="http://schemas.microsoft.com/office/drawing/2014/main" id="{58216715-B254-5FC9-4A35-5560F749BF50}"/>
              </a:ext>
            </a:extLst>
          </p:cNvPr>
          <p:cNvSpPr/>
          <p:nvPr/>
        </p:nvSpPr>
        <p:spPr>
          <a:xfrm>
            <a:off x="3202356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Reply YES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prepared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462789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send ACCEPT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stCxn id="87" idx="3"/>
            <a:endCxn id="88" idx="1"/>
          </p:cNvCxnSpPr>
          <p:nvPr/>
        </p:nvCxnSpPr>
        <p:spPr>
          <a:xfrm>
            <a:off x="2451007" y="5629549"/>
            <a:ext cx="751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stCxn id="88" idx="3"/>
            <a:endCxn id="89" idx="1"/>
          </p:cNvCxnSpPr>
          <p:nvPr/>
        </p:nvCxnSpPr>
        <p:spPr>
          <a:xfrm flipV="1">
            <a:off x="4957963" y="5628549"/>
            <a:ext cx="1504826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stCxn id="89" idx="3"/>
            <a:endCxn id="90" idx="1"/>
          </p:cNvCxnSpPr>
          <p:nvPr/>
        </p:nvCxnSpPr>
        <p:spPr>
          <a:xfrm>
            <a:off x="8218396" y="5628549"/>
            <a:ext cx="751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71D43E5C-DD5C-B924-1AF9-8E96F59971CE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63582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601A8D55-9EFF-406B-32F7-8DD4248B2527}"/>
              </a:ext>
            </a:extLst>
          </p:cNvPr>
          <p:cNvSpPr/>
          <p:nvPr/>
        </p:nvSpPr>
        <p:spPr>
          <a:xfrm>
            <a:off x="6240016" y="188640"/>
            <a:ext cx="1593405" cy="8071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CORRECT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534FE7C-26B4-3631-92EC-F008A07F3FFB}"/>
              </a:ext>
            </a:extLst>
          </p:cNvPr>
          <p:cNvSpPr/>
          <p:nvPr/>
        </p:nvSpPr>
        <p:spPr>
          <a:xfrm>
            <a:off x="8077563" y="189179"/>
            <a:ext cx="1593405" cy="80716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ALIVE</a:t>
            </a: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9272F75A-B50A-FF45-E061-923DE577E08B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568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25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0D32BCC7-81DD-03B8-A93F-B60649B6C977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649CAA2-845B-C044-730F-D74982C41136}"/>
              </a:ext>
            </a:extLst>
          </p:cNvPr>
          <p:cNvSpPr txBox="1"/>
          <p:nvPr/>
        </p:nvSpPr>
        <p:spPr>
          <a:xfrm>
            <a:off x="1658667" y="410497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DBC9FD6-86C3-B30F-B52C-A1DEFDF30E8A}"/>
              </a:ext>
            </a:extLst>
          </p:cNvPr>
          <p:cNvCxnSpPr>
            <a:cxnSpLocks/>
          </p:cNvCxnSpPr>
          <p:nvPr/>
        </p:nvCxnSpPr>
        <p:spPr>
          <a:xfrm>
            <a:off x="8600231" y="2645522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3" name="Textfeld 72">
            <a:extLst>
              <a:ext uri="{FF2B5EF4-FFF2-40B4-BE49-F238E27FC236}">
                <a16:creationId xmlns:a16="http://schemas.microsoft.com/office/drawing/2014/main" id="{58D71259-78AD-5936-7333-DC4100D59E0F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F59AEA03-9A4C-5F33-2051-8D0A509BCB8B}"/>
              </a:ext>
            </a:extLst>
          </p:cNvPr>
          <p:cNvSpPr txBox="1"/>
          <p:nvPr/>
        </p:nvSpPr>
        <p:spPr>
          <a:xfrm>
            <a:off x="7751729" y="413803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7240C35-125C-031B-E2C9-88CC6D9FDF03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614603" y="2493103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AC1C0FFD-4D36-0990-D3BB-02C3F8E7C825}"/>
              </a:ext>
            </a:extLst>
          </p:cNvPr>
          <p:cNvSpPr txBox="1"/>
          <p:nvPr/>
        </p:nvSpPr>
        <p:spPr>
          <a:xfrm rot="1851188">
            <a:off x="2635611" y="2504832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459590" y="2883216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6200A04A-CA4F-6155-1287-867277FC3135}"/>
              </a:ext>
            </a:extLst>
          </p:cNvPr>
          <p:cNvSpPr txBox="1"/>
          <p:nvPr/>
        </p:nvSpPr>
        <p:spPr>
          <a:xfrm rot="19809520">
            <a:off x="6707483" y="2533648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7499609B-FECC-F7DF-B72F-6A14F96FEB83}"/>
              </a:ext>
            </a:extLst>
          </p:cNvPr>
          <p:cNvSpPr txBox="1"/>
          <p:nvPr/>
        </p:nvSpPr>
        <p:spPr>
          <a:xfrm rot="1851188">
            <a:off x="8728491" y="2545377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6042021B-F339-0623-331B-F34165DF7ED6}"/>
              </a:ext>
            </a:extLst>
          </p:cNvPr>
          <p:cNvSpPr txBox="1"/>
          <p:nvPr/>
        </p:nvSpPr>
        <p:spPr>
          <a:xfrm rot="16200000">
            <a:off x="7552470" y="2923761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8" name="Rechteck: abgerundete Ecken 87">
            <a:extLst>
              <a:ext uri="{FF2B5EF4-FFF2-40B4-BE49-F238E27FC236}">
                <a16:creationId xmlns:a16="http://schemas.microsoft.com/office/drawing/2014/main" id="{58216715-B254-5FC9-4A35-5560F749BF50}"/>
              </a:ext>
            </a:extLst>
          </p:cNvPr>
          <p:cNvSpPr/>
          <p:nvPr/>
        </p:nvSpPr>
        <p:spPr>
          <a:xfrm>
            <a:off x="3202356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Reply YES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prepared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486060" y="5076809"/>
            <a:ext cx="1755607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MAJORITY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send ACCEPT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stCxn id="87" idx="3"/>
            <a:endCxn id="88" idx="1"/>
          </p:cNvCxnSpPr>
          <p:nvPr/>
        </p:nvCxnSpPr>
        <p:spPr>
          <a:xfrm>
            <a:off x="2451007" y="5629549"/>
            <a:ext cx="751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 flipV="1">
            <a:off x="4957963" y="5628549"/>
            <a:ext cx="1528097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8241667" y="5628549"/>
            <a:ext cx="728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71D43E5C-DD5C-B924-1AF9-8E96F59971CE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645236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Aber -&gt; um eine eindeutige Entscheidung zu treffen genügt die Mehrheit</a:t>
            </a:r>
            <a:br>
              <a:rPr lang="de-DE" dirty="0"/>
            </a:br>
            <a:endParaRPr lang="de-DE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Multiplikationszeichen 3">
            <a:extLst>
              <a:ext uri="{FF2B5EF4-FFF2-40B4-BE49-F238E27FC236}">
                <a16:creationId xmlns:a16="http://schemas.microsoft.com/office/drawing/2014/main" id="{A0BD70A7-9B9B-590A-DF1C-29C956A1B95A}"/>
              </a:ext>
            </a:extLst>
          </p:cNvPr>
          <p:cNvSpPr/>
          <p:nvPr/>
        </p:nvSpPr>
        <p:spPr>
          <a:xfrm>
            <a:off x="3813083" y="3025049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Multiplikationszeichen 15">
            <a:extLst>
              <a:ext uri="{FF2B5EF4-FFF2-40B4-BE49-F238E27FC236}">
                <a16:creationId xmlns:a16="http://schemas.microsoft.com/office/drawing/2014/main" id="{D36BCFD8-5E4D-F8E0-CC0A-22CE620AB193}"/>
              </a:ext>
            </a:extLst>
          </p:cNvPr>
          <p:cNvSpPr/>
          <p:nvPr/>
        </p:nvSpPr>
        <p:spPr>
          <a:xfrm>
            <a:off x="9911300" y="3036335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6911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26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0D32BCC7-81DD-03B8-A93F-B60649B6C977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649CAA2-845B-C044-730F-D74982C41136}"/>
              </a:ext>
            </a:extLst>
          </p:cNvPr>
          <p:cNvSpPr txBox="1"/>
          <p:nvPr/>
        </p:nvSpPr>
        <p:spPr>
          <a:xfrm>
            <a:off x="1658667" y="410497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DBC9FD6-86C3-B30F-B52C-A1DEFDF30E8A}"/>
              </a:ext>
            </a:extLst>
          </p:cNvPr>
          <p:cNvCxnSpPr>
            <a:cxnSpLocks/>
          </p:cNvCxnSpPr>
          <p:nvPr/>
        </p:nvCxnSpPr>
        <p:spPr>
          <a:xfrm>
            <a:off x="8600231" y="2645522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3" name="Textfeld 72">
            <a:extLst>
              <a:ext uri="{FF2B5EF4-FFF2-40B4-BE49-F238E27FC236}">
                <a16:creationId xmlns:a16="http://schemas.microsoft.com/office/drawing/2014/main" id="{58D71259-78AD-5936-7333-DC4100D59E0F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F59AEA03-9A4C-5F33-2051-8D0A509BCB8B}"/>
              </a:ext>
            </a:extLst>
          </p:cNvPr>
          <p:cNvSpPr txBox="1"/>
          <p:nvPr/>
        </p:nvSpPr>
        <p:spPr>
          <a:xfrm>
            <a:off x="7751729" y="413803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7240C35-125C-031B-E2C9-88CC6D9FDF03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614603" y="2493103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AC1C0FFD-4D36-0990-D3BB-02C3F8E7C825}"/>
              </a:ext>
            </a:extLst>
          </p:cNvPr>
          <p:cNvSpPr txBox="1"/>
          <p:nvPr/>
        </p:nvSpPr>
        <p:spPr>
          <a:xfrm rot="1851188">
            <a:off x="2635611" y="2504832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459590" y="2883216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6200A04A-CA4F-6155-1287-867277FC3135}"/>
              </a:ext>
            </a:extLst>
          </p:cNvPr>
          <p:cNvSpPr txBox="1"/>
          <p:nvPr/>
        </p:nvSpPr>
        <p:spPr>
          <a:xfrm rot="19809520">
            <a:off x="6707483" y="2533648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7499609B-FECC-F7DF-B72F-6A14F96FEB83}"/>
              </a:ext>
            </a:extLst>
          </p:cNvPr>
          <p:cNvSpPr txBox="1"/>
          <p:nvPr/>
        </p:nvSpPr>
        <p:spPr>
          <a:xfrm rot="1851188">
            <a:off x="8728491" y="2545377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6042021B-F339-0623-331B-F34165DF7ED6}"/>
              </a:ext>
            </a:extLst>
          </p:cNvPr>
          <p:cNvSpPr txBox="1"/>
          <p:nvPr/>
        </p:nvSpPr>
        <p:spPr>
          <a:xfrm rot="16200000">
            <a:off x="7552470" y="2923761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8" name="Rechteck: abgerundete Ecken 87">
            <a:extLst>
              <a:ext uri="{FF2B5EF4-FFF2-40B4-BE49-F238E27FC236}">
                <a16:creationId xmlns:a16="http://schemas.microsoft.com/office/drawing/2014/main" id="{58216715-B254-5FC9-4A35-5560F749BF50}"/>
              </a:ext>
            </a:extLst>
          </p:cNvPr>
          <p:cNvSpPr/>
          <p:nvPr/>
        </p:nvSpPr>
        <p:spPr>
          <a:xfrm>
            <a:off x="3202356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Reply YES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prepared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486060" y="5076809"/>
            <a:ext cx="1755607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MAJORITY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send ACCEPT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stCxn id="87" idx="3"/>
            <a:endCxn id="88" idx="1"/>
          </p:cNvCxnSpPr>
          <p:nvPr/>
        </p:nvCxnSpPr>
        <p:spPr>
          <a:xfrm>
            <a:off x="2451007" y="5629549"/>
            <a:ext cx="751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 flipV="1">
            <a:off x="4957963" y="5628549"/>
            <a:ext cx="1528097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8241667" y="5628549"/>
            <a:ext cx="728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71D43E5C-DD5C-B924-1AF9-8E96F59971CE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645236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Sobald einer der </a:t>
            </a:r>
            <a:r>
              <a:rPr lang="de-DE" b="0" dirty="0" err="1"/>
              <a:t>Acceptors</a:t>
            </a:r>
            <a:r>
              <a:rPr lang="de-DE" b="0" dirty="0"/>
              <a:t> den Wert akzeptiert hat, gilt er als gewählt</a:t>
            </a:r>
            <a:endParaRPr lang="de-DE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Multiplikationszeichen 3">
            <a:extLst>
              <a:ext uri="{FF2B5EF4-FFF2-40B4-BE49-F238E27FC236}">
                <a16:creationId xmlns:a16="http://schemas.microsoft.com/office/drawing/2014/main" id="{A0BD70A7-9B9B-590A-DF1C-29C956A1B95A}"/>
              </a:ext>
            </a:extLst>
          </p:cNvPr>
          <p:cNvSpPr/>
          <p:nvPr/>
        </p:nvSpPr>
        <p:spPr>
          <a:xfrm>
            <a:off x="3813083" y="3025049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Multiplikationszeichen 15">
            <a:extLst>
              <a:ext uri="{FF2B5EF4-FFF2-40B4-BE49-F238E27FC236}">
                <a16:creationId xmlns:a16="http://schemas.microsoft.com/office/drawing/2014/main" id="{D36BCFD8-5E4D-F8E0-CC0A-22CE620AB193}"/>
              </a:ext>
            </a:extLst>
          </p:cNvPr>
          <p:cNvSpPr/>
          <p:nvPr/>
        </p:nvSpPr>
        <p:spPr>
          <a:xfrm>
            <a:off x="9911300" y="3036335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96D03F6-0B14-C7F6-3FC6-43017F5C73B9}"/>
              </a:ext>
            </a:extLst>
          </p:cNvPr>
          <p:cNvSpPr/>
          <p:nvPr/>
        </p:nvSpPr>
        <p:spPr>
          <a:xfrm>
            <a:off x="6240016" y="188640"/>
            <a:ext cx="1593405" cy="8071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CORRECT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FEA5C2A-4F11-5821-3C5F-930F4D748AAA}"/>
              </a:ext>
            </a:extLst>
          </p:cNvPr>
          <p:cNvSpPr/>
          <p:nvPr/>
        </p:nvSpPr>
        <p:spPr>
          <a:xfrm>
            <a:off x="8077563" y="189179"/>
            <a:ext cx="1593405" cy="80716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ALIVE</a:t>
            </a:r>
          </a:p>
        </p:txBody>
      </p:sp>
    </p:spTree>
    <p:extLst>
      <p:ext uri="{BB962C8B-B14F-4D97-AF65-F5344CB8AC3E}">
        <p14:creationId xmlns:p14="http://schemas.microsoft.com/office/powerpoint/2010/main" val="3082201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27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0D32BCC7-81DD-03B8-A93F-B60649B6C977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649CAA2-845B-C044-730F-D74982C41136}"/>
              </a:ext>
            </a:extLst>
          </p:cNvPr>
          <p:cNvSpPr txBox="1"/>
          <p:nvPr/>
        </p:nvSpPr>
        <p:spPr>
          <a:xfrm>
            <a:off x="1658667" y="410497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DBC9FD6-86C3-B30F-B52C-A1DEFDF30E8A}"/>
              </a:ext>
            </a:extLst>
          </p:cNvPr>
          <p:cNvCxnSpPr>
            <a:cxnSpLocks/>
          </p:cNvCxnSpPr>
          <p:nvPr/>
        </p:nvCxnSpPr>
        <p:spPr>
          <a:xfrm>
            <a:off x="8600231" y="2645522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3" name="Textfeld 72">
            <a:extLst>
              <a:ext uri="{FF2B5EF4-FFF2-40B4-BE49-F238E27FC236}">
                <a16:creationId xmlns:a16="http://schemas.microsoft.com/office/drawing/2014/main" id="{58D71259-78AD-5936-7333-DC4100D59E0F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F59AEA03-9A4C-5F33-2051-8D0A509BCB8B}"/>
              </a:ext>
            </a:extLst>
          </p:cNvPr>
          <p:cNvSpPr txBox="1"/>
          <p:nvPr/>
        </p:nvSpPr>
        <p:spPr>
          <a:xfrm>
            <a:off x="7751729" y="413803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7240C35-125C-031B-E2C9-88CC6D9FDF03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614603" y="2493103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AC1C0FFD-4D36-0990-D3BB-02C3F8E7C825}"/>
              </a:ext>
            </a:extLst>
          </p:cNvPr>
          <p:cNvSpPr txBox="1"/>
          <p:nvPr/>
        </p:nvSpPr>
        <p:spPr>
          <a:xfrm rot="1851188">
            <a:off x="2635611" y="2504832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459590" y="2883216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8" name="Rechteck: abgerundete Ecken 87">
            <a:extLst>
              <a:ext uri="{FF2B5EF4-FFF2-40B4-BE49-F238E27FC236}">
                <a16:creationId xmlns:a16="http://schemas.microsoft.com/office/drawing/2014/main" id="{58216715-B254-5FC9-4A35-5560F749BF50}"/>
              </a:ext>
            </a:extLst>
          </p:cNvPr>
          <p:cNvSpPr/>
          <p:nvPr/>
        </p:nvSpPr>
        <p:spPr>
          <a:xfrm>
            <a:off x="3202356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Reply YES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prepared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486060" y="5076809"/>
            <a:ext cx="1755607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MAJORITY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send ACCEPT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stCxn id="87" idx="3"/>
            <a:endCxn id="88" idx="1"/>
          </p:cNvCxnSpPr>
          <p:nvPr/>
        </p:nvCxnSpPr>
        <p:spPr>
          <a:xfrm>
            <a:off x="2451007" y="5629549"/>
            <a:ext cx="7513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 flipV="1">
            <a:off x="4957963" y="5628549"/>
            <a:ext cx="1528097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8241667" y="5628549"/>
            <a:ext cx="728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71D43E5C-DD5C-B924-1AF9-8E96F59971CE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645236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Multiplikationszeichen 3">
            <a:extLst>
              <a:ext uri="{FF2B5EF4-FFF2-40B4-BE49-F238E27FC236}">
                <a16:creationId xmlns:a16="http://schemas.microsoft.com/office/drawing/2014/main" id="{A0BD70A7-9B9B-590A-DF1C-29C956A1B95A}"/>
              </a:ext>
            </a:extLst>
          </p:cNvPr>
          <p:cNvSpPr/>
          <p:nvPr/>
        </p:nvSpPr>
        <p:spPr>
          <a:xfrm>
            <a:off x="3813083" y="3025049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Multiplikationszeichen 15">
            <a:extLst>
              <a:ext uri="{FF2B5EF4-FFF2-40B4-BE49-F238E27FC236}">
                <a16:creationId xmlns:a16="http://schemas.microsoft.com/office/drawing/2014/main" id="{D36BCFD8-5E4D-F8E0-CC0A-22CE620AB193}"/>
              </a:ext>
            </a:extLst>
          </p:cNvPr>
          <p:cNvSpPr/>
          <p:nvPr/>
        </p:nvSpPr>
        <p:spPr>
          <a:xfrm>
            <a:off x="9911300" y="3036335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F9FCA107-BC6F-1A60-1539-65B456A72CCD}"/>
              </a:ext>
            </a:extLst>
          </p:cNvPr>
          <p:cNvSpPr/>
          <p:nvPr/>
        </p:nvSpPr>
        <p:spPr>
          <a:xfrm>
            <a:off x="8215452" y="1846232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035A-529C-F62A-3E44-384AB9838EC6}"/>
              </a:ext>
            </a:extLst>
          </p:cNvPr>
          <p:cNvSpPr txBox="1"/>
          <p:nvPr/>
        </p:nvSpPr>
        <p:spPr>
          <a:xfrm>
            <a:off x="6043357" y="3960998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D3DBD46-307A-4E86-6904-F9F06C2A72CF}"/>
              </a:ext>
            </a:extLst>
          </p:cNvPr>
          <p:cNvSpPr txBox="1"/>
          <p:nvPr/>
        </p:nvSpPr>
        <p:spPr>
          <a:xfrm>
            <a:off x="7722427" y="4448104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1A63C15-A9B7-8932-8B1C-0CFB5FA86641}"/>
              </a:ext>
            </a:extLst>
          </p:cNvPr>
          <p:cNvSpPr txBox="1"/>
          <p:nvPr/>
        </p:nvSpPr>
        <p:spPr>
          <a:xfrm>
            <a:off x="9460101" y="3953372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Not </a:t>
            </a:r>
            <a:r>
              <a:rPr lang="de-DE" dirty="0" err="1"/>
              <a:t>Prepared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3131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28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0D32BCC7-81DD-03B8-A93F-B60649B6C977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649CAA2-845B-C044-730F-D74982C41136}"/>
              </a:ext>
            </a:extLst>
          </p:cNvPr>
          <p:cNvSpPr txBox="1"/>
          <p:nvPr/>
        </p:nvSpPr>
        <p:spPr>
          <a:xfrm>
            <a:off x="1658667" y="410497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DBC9FD6-86C3-B30F-B52C-A1DEFDF30E8A}"/>
              </a:ext>
            </a:extLst>
          </p:cNvPr>
          <p:cNvCxnSpPr>
            <a:cxnSpLocks/>
          </p:cNvCxnSpPr>
          <p:nvPr/>
        </p:nvCxnSpPr>
        <p:spPr>
          <a:xfrm>
            <a:off x="8600231" y="2645522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3" name="Textfeld 72">
            <a:extLst>
              <a:ext uri="{FF2B5EF4-FFF2-40B4-BE49-F238E27FC236}">
                <a16:creationId xmlns:a16="http://schemas.microsoft.com/office/drawing/2014/main" id="{58D71259-78AD-5936-7333-DC4100D59E0F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F59AEA03-9A4C-5F33-2051-8D0A509BCB8B}"/>
              </a:ext>
            </a:extLst>
          </p:cNvPr>
          <p:cNvSpPr txBox="1"/>
          <p:nvPr/>
        </p:nvSpPr>
        <p:spPr>
          <a:xfrm>
            <a:off x="7751729" y="413803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7240C35-125C-031B-E2C9-88CC6D9FDF03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553064" y="221075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AC1C0FFD-4D36-0990-D3BB-02C3F8E7C825}"/>
              </a:ext>
            </a:extLst>
          </p:cNvPr>
          <p:cNvSpPr txBox="1"/>
          <p:nvPr/>
        </p:nvSpPr>
        <p:spPr>
          <a:xfrm rot="1851188">
            <a:off x="2706215" y="2260350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362429" y="2740697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„Value“ </a:t>
            </a:r>
            <a:r>
              <a:rPr lang="de-DE" dirty="0" err="1"/>
              <a:t>to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096000" y="5076809"/>
            <a:ext cx="2145667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MAJORITY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same </a:t>
            </a:r>
            <a:r>
              <a:rPr lang="de-DE" dirty="0" err="1"/>
              <a:t>value</a:t>
            </a:r>
            <a:r>
              <a:rPr lang="de-DE" dirty="0"/>
              <a:t>: send ACCEPT „Value“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cxnSpLocks/>
            <a:stCxn id="87" idx="3"/>
            <a:endCxn id="36" idx="1"/>
          </p:cNvCxnSpPr>
          <p:nvPr/>
        </p:nvCxnSpPr>
        <p:spPr>
          <a:xfrm flipV="1">
            <a:off x="2451007" y="5628549"/>
            <a:ext cx="565608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968167" y="5628549"/>
            <a:ext cx="1127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8241667" y="5628549"/>
            <a:ext cx="728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492913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Vorschlag: Der Koordinator sendet die vorgeschlagene Value in der </a:t>
            </a:r>
            <a:r>
              <a:rPr lang="de-DE" b="0" dirty="0" err="1"/>
              <a:t>Prepare</a:t>
            </a:r>
            <a:r>
              <a:rPr lang="de-DE" b="0" dirty="0"/>
              <a:t> Phase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129C003-8998-85B7-029D-02B9034BCA2F}"/>
              </a:ext>
            </a:extLst>
          </p:cNvPr>
          <p:cNvSpPr/>
          <p:nvPr/>
        </p:nvSpPr>
        <p:spPr>
          <a:xfrm>
            <a:off x="3016615" y="5228200"/>
            <a:ext cx="2132091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 </a:t>
            </a:r>
            <a:r>
              <a:rPr lang="de-DE" dirty="0" err="1"/>
              <a:t>preparedValue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not </a:t>
            </a:r>
            <a:r>
              <a:rPr lang="de-DE" dirty="0" err="1"/>
              <a:t>set</a:t>
            </a:r>
            <a:r>
              <a:rPr lang="de-DE" dirty="0"/>
              <a:t>; Reply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preparedValue</a:t>
            </a:r>
            <a:endParaRPr lang="de-DE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0CCB1BF-6597-ADD4-CA78-E8860E7B5329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C09C3C-5A1C-C09C-22E7-99F19EA20875}"/>
              </a:ext>
            </a:extLst>
          </p:cNvPr>
          <p:cNvSpPr txBox="1"/>
          <p:nvPr/>
        </p:nvSpPr>
        <p:spPr>
          <a:xfrm rot="19809520">
            <a:off x="6653787" y="2284739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FF57A09-7444-1CB4-2DE0-669368A4E366}"/>
              </a:ext>
            </a:extLst>
          </p:cNvPr>
          <p:cNvSpPr txBox="1"/>
          <p:nvPr/>
        </p:nvSpPr>
        <p:spPr>
          <a:xfrm rot="1851188">
            <a:off x="8806938" y="2334334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F424C5C-4026-8A6B-F3FE-302BFC9367F5}"/>
              </a:ext>
            </a:extLst>
          </p:cNvPr>
          <p:cNvSpPr txBox="1"/>
          <p:nvPr/>
        </p:nvSpPr>
        <p:spPr>
          <a:xfrm rot="16200000">
            <a:off x="7463152" y="2814681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621B9C2-8E52-D2D0-2699-682D744AA8FB}"/>
              </a:ext>
            </a:extLst>
          </p:cNvPr>
          <p:cNvSpPr txBox="1"/>
          <p:nvPr/>
        </p:nvSpPr>
        <p:spPr>
          <a:xfrm>
            <a:off x="6043357" y="396099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764F2A9-DE82-6FD8-F22E-3B8593759E2E}"/>
              </a:ext>
            </a:extLst>
          </p:cNvPr>
          <p:cNvSpPr txBox="1"/>
          <p:nvPr/>
        </p:nvSpPr>
        <p:spPr>
          <a:xfrm>
            <a:off x="7722427" y="4448104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19F1086-8443-3919-72F1-D9053295843E}"/>
              </a:ext>
            </a:extLst>
          </p:cNvPr>
          <p:cNvSpPr txBox="1"/>
          <p:nvPr/>
        </p:nvSpPr>
        <p:spPr>
          <a:xfrm>
            <a:off x="9460101" y="395337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</p:spTree>
    <p:extLst>
      <p:ext uri="{BB962C8B-B14F-4D97-AF65-F5344CB8AC3E}">
        <p14:creationId xmlns:p14="http://schemas.microsoft.com/office/powerpoint/2010/main" val="37430520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29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0D32BCC7-81DD-03B8-A93F-B60649B6C977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649CAA2-845B-C044-730F-D74982C41136}"/>
              </a:ext>
            </a:extLst>
          </p:cNvPr>
          <p:cNvSpPr txBox="1"/>
          <p:nvPr/>
        </p:nvSpPr>
        <p:spPr>
          <a:xfrm>
            <a:off x="1658667" y="410497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DBC9FD6-86C3-B30F-B52C-A1DEFDF30E8A}"/>
              </a:ext>
            </a:extLst>
          </p:cNvPr>
          <p:cNvCxnSpPr>
            <a:cxnSpLocks/>
          </p:cNvCxnSpPr>
          <p:nvPr/>
        </p:nvCxnSpPr>
        <p:spPr>
          <a:xfrm>
            <a:off x="8600231" y="2645522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3" name="Textfeld 72">
            <a:extLst>
              <a:ext uri="{FF2B5EF4-FFF2-40B4-BE49-F238E27FC236}">
                <a16:creationId xmlns:a16="http://schemas.microsoft.com/office/drawing/2014/main" id="{58D71259-78AD-5936-7333-DC4100D59E0F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F59AEA03-9A4C-5F33-2051-8D0A509BCB8B}"/>
              </a:ext>
            </a:extLst>
          </p:cNvPr>
          <p:cNvSpPr txBox="1"/>
          <p:nvPr/>
        </p:nvSpPr>
        <p:spPr>
          <a:xfrm>
            <a:off x="7751729" y="413803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7240C35-125C-031B-E2C9-88CC6D9FDF03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553064" y="221075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362429" y="2740697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„Value“ </a:t>
            </a:r>
            <a:r>
              <a:rPr lang="de-DE" dirty="0" err="1"/>
              <a:t>to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096000" y="5076809"/>
            <a:ext cx="2145667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MAJORITY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same </a:t>
            </a:r>
            <a:r>
              <a:rPr lang="de-DE" dirty="0" err="1"/>
              <a:t>value</a:t>
            </a:r>
            <a:r>
              <a:rPr lang="de-DE" dirty="0"/>
              <a:t>: send ACCEPT „Value“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cxnSpLocks/>
            <a:stCxn id="87" idx="3"/>
            <a:endCxn id="36" idx="1"/>
          </p:cNvCxnSpPr>
          <p:nvPr/>
        </p:nvCxnSpPr>
        <p:spPr>
          <a:xfrm flipV="1">
            <a:off x="2451007" y="5628549"/>
            <a:ext cx="565608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968167" y="5628549"/>
            <a:ext cx="1127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8241667" y="5628549"/>
            <a:ext cx="728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492913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b="0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F9FCA107-BC6F-1A60-1539-65B456A72CCD}"/>
              </a:ext>
            </a:extLst>
          </p:cNvPr>
          <p:cNvSpPr/>
          <p:nvPr/>
        </p:nvSpPr>
        <p:spPr>
          <a:xfrm>
            <a:off x="8215452" y="1846232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035A-529C-F62A-3E44-384AB9838EC6}"/>
              </a:ext>
            </a:extLst>
          </p:cNvPr>
          <p:cNvSpPr txBox="1"/>
          <p:nvPr/>
        </p:nvSpPr>
        <p:spPr>
          <a:xfrm>
            <a:off x="6043357" y="396099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D3DBD46-307A-4E86-6904-F9F06C2A72CF}"/>
              </a:ext>
            </a:extLst>
          </p:cNvPr>
          <p:cNvSpPr txBox="1"/>
          <p:nvPr/>
        </p:nvSpPr>
        <p:spPr>
          <a:xfrm>
            <a:off x="7722427" y="4448104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129C003-8998-85B7-029D-02B9034BCA2F}"/>
              </a:ext>
            </a:extLst>
          </p:cNvPr>
          <p:cNvSpPr/>
          <p:nvPr/>
        </p:nvSpPr>
        <p:spPr>
          <a:xfrm>
            <a:off x="3016615" y="5228200"/>
            <a:ext cx="2132091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 </a:t>
            </a:r>
            <a:r>
              <a:rPr lang="de-DE" dirty="0" err="1"/>
              <a:t>preparedValue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not </a:t>
            </a:r>
            <a:r>
              <a:rPr lang="de-DE" dirty="0" err="1"/>
              <a:t>set</a:t>
            </a:r>
            <a:r>
              <a:rPr lang="de-DE" dirty="0"/>
              <a:t>; Reply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preparedValue</a:t>
            </a:r>
            <a:endParaRPr lang="de-DE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0CCB1BF-6597-ADD4-CA78-E8860E7B5329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F3CE7E4-1DEF-5E42-9713-ACD1CC3CE9BB}"/>
              </a:ext>
            </a:extLst>
          </p:cNvPr>
          <p:cNvCxnSpPr/>
          <p:nvPr/>
        </p:nvCxnSpPr>
        <p:spPr>
          <a:xfrm>
            <a:off x="10920536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F1A2A8CC-FBBD-C988-4E89-9634856E1798}"/>
              </a:ext>
            </a:extLst>
          </p:cNvPr>
          <p:cNvSpPr txBox="1"/>
          <p:nvPr/>
        </p:nvSpPr>
        <p:spPr>
          <a:xfrm rot="1851188">
            <a:off x="2706215" y="2260350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A09FC26-8FBC-7732-ED88-A6BF405447F0}"/>
              </a:ext>
            </a:extLst>
          </p:cNvPr>
          <p:cNvSpPr txBox="1"/>
          <p:nvPr/>
        </p:nvSpPr>
        <p:spPr>
          <a:xfrm>
            <a:off x="9460101" y="395337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</p:spTree>
    <p:extLst>
      <p:ext uri="{BB962C8B-B14F-4D97-AF65-F5344CB8AC3E}">
        <p14:creationId xmlns:p14="http://schemas.microsoft.com/office/powerpoint/2010/main" val="418338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feld 30">
            <a:extLst>
              <a:ext uri="{FF2B5EF4-FFF2-40B4-BE49-F238E27FC236}">
                <a16:creationId xmlns:a16="http://schemas.microsoft.com/office/drawing/2014/main" id="{45077709-2EE5-8F91-F2B8-8029F4D855E4}"/>
              </a:ext>
            </a:extLst>
          </p:cNvPr>
          <p:cNvSpPr txBox="1"/>
          <p:nvPr/>
        </p:nvSpPr>
        <p:spPr>
          <a:xfrm rot="20896827">
            <a:off x="2320865" y="3286116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C58FA87-028F-1531-BE48-B001B453A8F2}"/>
              </a:ext>
            </a:extLst>
          </p:cNvPr>
          <p:cNvSpPr txBox="1"/>
          <p:nvPr/>
        </p:nvSpPr>
        <p:spPr>
          <a:xfrm>
            <a:off x="1495318" y="269022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7587A3-1C91-DEC0-AE3E-3AE30FE9FB6D}"/>
              </a:ext>
            </a:extLst>
          </p:cNvPr>
          <p:cNvSpPr txBox="1"/>
          <p:nvPr/>
        </p:nvSpPr>
        <p:spPr>
          <a:xfrm rot="1810092">
            <a:off x="2712502" y="229163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30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 flipH="1">
            <a:off x="1162805" y="3274745"/>
            <a:ext cx="2700947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 flipH="1">
            <a:off x="2752669" y="3501009"/>
            <a:ext cx="1111083" cy="21163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 flipV="1">
            <a:off x="2855640" y="2521684"/>
            <a:ext cx="1063453" cy="58923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0D32BCC7-81DD-03B8-A93F-B60649B6C977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649CAA2-845B-C044-730F-D74982C41136}"/>
              </a:ext>
            </a:extLst>
          </p:cNvPr>
          <p:cNvSpPr txBox="1"/>
          <p:nvPr/>
        </p:nvSpPr>
        <p:spPr>
          <a:xfrm>
            <a:off x="1658667" y="410497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501939" y="3594619"/>
            <a:ext cx="189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 2</a:t>
            </a:r>
          </a:p>
        </p:txBody>
      </p: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3" name="Textfeld 72">
            <a:extLst>
              <a:ext uri="{FF2B5EF4-FFF2-40B4-BE49-F238E27FC236}">
                <a16:creationId xmlns:a16="http://schemas.microsoft.com/office/drawing/2014/main" id="{58D71259-78AD-5936-7333-DC4100D59E0F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F59AEA03-9A4C-5F33-2051-8D0A509BCB8B}"/>
              </a:ext>
            </a:extLst>
          </p:cNvPr>
          <p:cNvSpPr txBox="1"/>
          <p:nvPr/>
        </p:nvSpPr>
        <p:spPr>
          <a:xfrm>
            <a:off x="7751729" y="413803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„Value“ </a:t>
            </a:r>
            <a:r>
              <a:rPr lang="de-DE" dirty="0" err="1"/>
              <a:t>to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096000" y="5076809"/>
            <a:ext cx="2145667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MAJORITY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same </a:t>
            </a:r>
            <a:r>
              <a:rPr lang="de-DE" dirty="0" err="1"/>
              <a:t>value</a:t>
            </a:r>
            <a:r>
              <a:rPr lang="de-DE" dirty="0"/>
              <a:t>: send ACCEPT „Value“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cxnSpLocks/>
            <a:stCxn id="87" idx="3"/>
            <a:endCxn id="36" idx="1"/>
          </p:cNvCxnSpPr>
          <p:nvPr/>
        </p:nvCxnSpPr>
        <p:spPr>
          <a:xfrm flipV="1">
            <a:off x="2451007" y="5628549"/>
            <a:ext cx="565608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968167" y="5628549"/>
            <a:ext cx="1127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8241667" y="5628549"/>
            <a:ext cx="728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492913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Koordinator</a:t>
            </a:r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b="0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F9FCA107-BC6F-1A60-1539-65B456A72CCD}"/>
              </a:ext>
            </a:extLst>
          </p:cNvPr>
          <p:cNvSpPr/>
          <p:nvPr/>
        </p:nvSpPr>
        <p:spPr>
          <a:xfrm>
            <a:off x="8215452" y="1846232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035A-529C-F62A-3E44-384AB9838EC6}"/>
              </a:ext>
            </a:extLst>
          </p:cNvPr>
          <p:cNvSpPr txBox="1"/>
          <p:nvPr/>
        </p:nvSpPr>
        <p:spPr>
          <a:xfrm>
            <a:off x="6043357" y="396099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D3DBD46-307A-4E86-6904-F9F06C2A72CF}"/>
              </a:ext>
            </a:extLst>
          </p:cNvPr>
          <p:cNvSpPr txBox="1"/>
          <p:nvPr/>
        </p:nvSpPr>
        <p:spPr>
          <a:xfrm>
            <a:off x="7722427" y="4448104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129C003-8998-85B7-029D-02B9034BCA2F}"/>
              </a:ext>
            </a:extLst>
          </p:cNvPr>
          <p:cNvSpPr/>
          <p:nvPr/>
        </p:nvSpPr>
        <p:spPr>
          <a:xfrm>
            <a:off x="3016615" y="5228200"/>
            <a:ext cx="2132091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 </a:t>
            </a:r>
            <a:r>
              <a:rPr lang="de-DE" dirty="0" err="1"/>
              <a:t>preparedValue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not </a:t>
            </a:r>
            <a:r>
              <a:rPr lang="de-DE" dirty="0" err="1"/>
              <a:t>set</a:t>
            </a:r>
            <a:r>
              <a:rPr lang="de-DE" dirty="0"/>
              <a:t>; Reply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preparedValue</a:t>
            </a:r>
            <a:endParaRPr lang="de-DE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0CCB1BF-6597-ADD4-CA78-E8860E7B5329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Teilnehmer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F3CE7E4-1DEF-5E42-9713-ACD1CC3CE9BB}"/>
              </a:ext>
            </a:extLst>
          </p:cNvPr>
          <p:cNvCxnSpPr>
            <a:cxnSpLocks/>
          </p:cNvCxnSpPr>
          <p:nvPr/>
        </p:nvCxnSpPr>
        <p:spPr>
          <a:xfrm>
            <a:off x="0" y="3209350"/>
            <a:ext cx="508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1311B708-1AB3-04D2-7DD8-1A74DBE85A0B}"/>
              </a:ext>
            </a:extLst>
          </p:cNvPr>
          <p:cNvSpPr txBox="1"/>
          <p:nvPr/>
        </p:nvSpPr>
        <p:spPr>
          <a:xfrm>
            <a:off x="-63621" y="388621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8A8052E-1D2E-A34F-5629-B46C4103C2E4}"/>
              </a:ext>
            </a:extLst>
          </p:cNvPr>
          <p:cNvSpPr txBox="1"/>
          <p:nvPr/>
        </p:nvSpPr>
        <p:spPr>
          <a:xfrm>
            <a:off x="1615449" y="4373319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6" name="Multiplikationszeichen 15">
            <a:extLst>
              <a:ext uri="{FF2B5EF4-FFF2-40B4-BE49-F238E27FC236}">
                <a16:creationId xmlns:a16="http://schemas.microsoft.com/office/drawing/2014/main" id="{D9E1704D-FDAC-FDB5-F0B4-1937746021A7}"/>
              </a:ext>
            </a:extLst>
          </p:cNvPr>
          <p:cNvSpPr/>
          <p:nvPr/>
        </p:nvSpPr>
        <p:spPr>
          <a:xfrm>
            <a:off x="2125839" y="1791249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4C8D586-EE35-110C-A09C-CDFB8D659A3A}"/>
              </a:ext>
            </a:extLst>
          </p:cNvPr>
          <p:cNvSpPr txBox="1"/>
          <p:nvPr/>
        </p:nvSpPr>
        <p:spPr>
          <a:xfrm rot="20896827">
            <a:off x="8409880" y="3327271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5C028E9-C64C-3BBB-9F71-DFB131507DA2}"/>
              </a:ext>
            </a:extLst>
          </p:cNvPr>
          <p:cNvSpPr txBox="1"/>
          <p:nvPr/>
        </p:nvSpPr>
        <p:spPr>
          <a:xfrm>
            <a:off x="7584333" y="273137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3BFCC0F-FB0E-3374-64ED-FBBEBF20F00E}"/>
              </a:ext>
            </a:extLst>
          </p:cNvPr>
          <p:cNvSpPr txBox="1"/>
          <p:nvPr/>
        </p:nvSpPr>
        <p:spPr>
          <a:xfrm rot="1810092">
            <a:off x="8801517" y="233278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6E7AC48-1690-AADF-35D9-C16FA23A18BB}"/>
              </a:ext>
            </a:extLst>
          </p:cNvPr>
          <p:cNvCxnSpPr>
            <a:cxnSpLocks/>
          </p:cNvCxnSpPr>
          <p:nvPr/>
        </p:nvCxnSpPr>
        <p:spPr>
          <a:xfrm flipH="1">
            <a:off x="7251820" y="3315900"/>
            <a:ext cx="2700947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CC6F23BD-EA71-1A5B-91B4-1A08284F91B1}"/>
              </a:ext>
            </a:extLst>
          </p:cNvPr>
          <p:cNvCxnSpPr>
            <a:cxnSpLocks/>
          </p:cNvCxnSpPr>
          <p:nvPr/>
        </p:nvCxnSpPr>
        <p:spPr>
          <a:xfrm flipH="1">
            <a:off x="8841684" y="3542164"/>
            <a:ext cx="1111083" cy="21163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747F75FC-A15B-5FDF-FB8A-D14F3241E44A}"/>
              </a:ext>
            </a:extLst>
          </p:cNvPr>
          <p:cNvCxnSpPr>
            <a:cxnSpLocks/>
          </p:cNvCxnSpPr>
          <p:nvPr/>
        </p:nvCxnSpPr>
        <p:spPr>
          <a:xfrm flipH="1" flipV="1">
            <a:off x="8944655" y="2562839"/>
            <a:ext cx="1063453" cy="58923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lipse 43">
            <a:extLst>
              <a:ext uri="{FF2B5EF4-FFF2-40B4-BE49-F238E27FC236}">
                <a16:creationId xmlns:a16="http://schemas.microsoft.com/office/drawing/2014/main" id="{7976EAD3-B67B-486F-120D-05F8E4F6A952}"/>
              </a:ext>
            </a:extLst>
          </p:cNvPr>
          <p:cNvSpPr/>
          <p:nvPr/>
        </p:nvSpPr>
        <p:spPr>
          <a:xfrm>
            <a:off x="6240016" y="188640"/>
            <a:ext cx="1593405" cy="80716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CORRECT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38E0D040-D598-EFD1-1085-CC137620CFAC}"/>
              </a:ext>
            </a:extLst>
          </p:cNvPr>
          <p:cNvSpPr/>
          <p:nvPr/>
        </p:nvSpPr>
        <p:spPr>
          <a:xfrm>
            <a:off x="8077563" y="189179"/>
            <a:ext cx="1593405" cy="8071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ALIVE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E1323B7E-D3E8-2AF0-F187-FC62F3A253C6}"/>
              </a:ext>
            </a:extLst>
          </p:cNvPr>
          <p:cNvSpPr txBox="1"/>
          <p:nvPr/>
        </p:nvSpPr>
        <p:spPr>
          <a:xfrm>
            <a:off x="9743647" y="3594619"/>
            <a:ext cx="189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 2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1377D58-0C43-4D0C-6F1A-7145963C4920}"/>
              </a:ext>
            </a:extLst>
          </p:cNvPr>
          <p:cNvSpPr txBox="1"/>
          <p:nvPr/>
        </p:nvSpPr>
        <p:spPr>
          <a:xfrm>
            <a:off x="9460101" y="395337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0D598628-A5F7-8E1F-0B44-3D4C92E12CF1}"/>
              </a:ext>
            </a:extLst>
          </p:cNvPr>
          <p:cNvSpPr txBox="1"/>
          <p:nvPr/>
        </p:nvSpPr>
        <p:spPr>
          <a:xfrm>
            <a:off x="3399854" y="391059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</p:spTree>
    <p:extLst>
      <p:ext uri="{BB962C8B-B14F-4D97-AF65-F5344CB8AC3E}">
        <p14:creationId xmlns:p14="http://schemas.microsoft.com/office/powerpoint/2010/main" val="1907734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feld 30">
            <a:extLst>
              <a:ext uri="{FF2B5EF4-FFF2-40B4-BE49-F238E27FC236}">
                <a16:creationId xmlns:a16="http://schemas.microsoft.com/office/drawing/2014/main" id="{45077709-2EE5-8F91-F2B8-8029F4D855E4}"/>
              </a:ext>
            </a:extLst>
          </p:cNvPr>
          <p:cNvSpPr txBox="1"/>
          <p:nvPr/>
        </p:nvSpPr>
        <p:spPr>
          <a:xfrm rot="20896827">
            <a:off x="2320865" y="3286116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C58FA87-028F-1531-BE48-B001B453A8F2}"/>
              </a:ext>
            </a:extLst>
          </p:cNvPr>
          <p:cNvSpPr txBox="1"/>
          <p:nvPr/>
        </p:nvSpPr>
        <p:spPr>
          <a:xfrm>
            <a:off x="1495318" y="269022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7587A3-1C91-DEC0-AE3E-3AE30FE9FB6D}"/>
              </a:ext>
            </a:extLst>
          </p:cNvPr>
          <p:cNvSpPr txBox="1"/>
          <p:nvPr/>
        </p:nvSpPr>
        <p:spPr>
          <a:xfrm rot="1810092">
            <a:off x="2712502" y="229163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31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 flipH="1">
            <a:off x="1162805" y="3274745"/>
            <a:ext cx="2700947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 flipH="1">
            <a:off x="2752669" y="3501009"/>
            <a:ext cx="1111083" cy="21163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 flipV="1">
            <a:off x="2855640" y="2521684"/>
            <a:ext cx="1063453" cy="58923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0D32BCC7-81DD-03B8-A93F-B60649B6C977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F649CAA2-845B-C044-730F-D74982C41136}"/>
              </a:ext>
            </a:extLst>
          </p:cNvPr>
          <p:cNvSpPr txBox="1"/>
          <p:nvPr/>
        </p:nvSpPr>
        <p:spPr>
          <a:xfrm>
            <a:off x="1658667" y="410497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501939" y="3594619"/>
            <a:ext cx="189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 2</a:t>
            </a:r>
          </a:p>
        </p:txBody>
      </p: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3" name="Textfeld 72">
            <a:extLst>
              <a:ext uri="{FF2B5EF4-FFF2-40B4-BE49-F238E27FC236}">
                <a16:creationId xmlns:a16="http://schemas.microsoft.com/office/drawing/2014/main" id="{58D71259-78AD-5936-7333-DC4100D59E0F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F59AEA03-9A4C-5F33-2051-8D0A509BCB8B}"/>
              </a:ext>
            </a:extLst>
          </p:cNvPr>
          <p:cNvSpPr txBox="1"/>
          <p:nvPr/>
        </p:nvSpPr>
        <p:spPr>
          <a:xfrm>
            <a:off x="7751729" y="413803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Teilnehmer</a:t>
            </a:r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„Value“ </a:t>
            </a:r>
            <a:r>
              <a:rPr lang="de-DE" dirty="0" err="1"/>
              <a:t>to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096000" y="5076809"/>
            <a:ext cx="2145667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MAJORITY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same </a:t>
            </a:r>
            <a:r>
              <a:rPr lang="de-DE" dirty="0" err="1"/>
              <a:t>value</a:t>
            </a:r>
            <a:r>
              <a:rPr lang="de-DE" dirty="0"/>
              <a:t>: send ACCEPT „Value“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cxnSpLocks/>
            <a:stCxn id="87" idx="3"/>
            <a:endCxn id="36" idx="1"/>
          </p:cNvCxnSpPr>
          <p:nvPr/>
        </p:nvCxnSpPr>
        <p:spPr>
          <a:xfrm flipV="1">
            <a:off x="2451007" y="5628549"/>
            <a:ext cx="565608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968167" y="5628549"/>
            <a:ext cx="1127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8241667" y="5628549"/>
            <a:ext cx="728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b="0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F9FCA107-BC6F-1A60-1539-65B456A72CCD}"/>
              </a:ext>
            </a:extLst>
          </p:cNvPr>
          <p:cNvSpPr/>
          <p:nvPr/>
        </p:nvSpPr>
        <p:spPr>
          <a:xfrm>
            <a:off x="8215452" y="1846232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035A-529C-F62A-3E44-384AB9838EC6}"/>
              </a:ext>
            </a:extLst>
          </p:cNvPr>
          <p:cNvSpPr txBox="1"/>
          <p:nvPr/>
        </p:nvSpPr>
        <p:spPr>
          <a:xfrm>
            <a:off x="6043357" y="396099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D3DBD46-307A-4E86-6904-F9F06C2A72CF}"/>
              </a:ext>
            </a:extLst>
          </p:cNvPr>
          <p:cNvSpPr txBox="1"/>
          <p:nvPr/>
        </p:nvSpPr>
        <p:spPr>
          <a:xfrm>
            <a:off x="7722427" y="4448104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129C003-8998-85B7-029D-02B9034BCA2F}"/>
              </a:ext>
            </a:extLst>
          </p:cNvPr>
          <p:cNvSpPr/>
          <p:nvPr/>
        </p:nvSpPr>
        <p:spPr>
          <a:xfrm>
            <a:off x="3016615" y="5228200"/>
            <a:ext cx="2132091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 </a:t>
            </a:r>
            <a:r>
              <a:rPr lang="de-DE" dirty="0" err="1"/>
              <a:t>preparedValue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not </a:t>
            </a:r>
            <a:r>
              <a:rPr lang="de-DE" dirty="0" err="1"/>
              <a:t>set</a:t>
            </a:r>
            <a:r>
              <a:rPr lang="de-DE" dirty="0"/>
              <a:t>; Reply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preparedValue</a:t>
            </a:r>
            <a:endParaRPr lang="de-DE" dirty="0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F3CE7E4-1DEF-5E42-9713-ACD1CC3CE9BB}"/>
              </a:ext>
            </a:extLst>
          </p:cNvPr>
          <p:cNvCxnSpPr>
            <a:cxnSpLocks/>
          </p:cNvCxnSpPr>
          <p:nvPr/>
        </p:nvCxnSpPr>
        <p:spPr>
          <a:xfrm>
            <a:off x="0" y="3209350"/>
            <a:ext cx="508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1311B708-1AB3-04D2-7DD8-1A74DBE85A0B}"/>
              </a:ext>
            </a:extLst>
          </p:cNvPr>
          <p:cNvSpPr txBox="1"/>
          <p:nvPr/>
        </p:nvSpPr>
        <p:spPr>
          <a:xfrm>
            <a:off x="-63621" y="388621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8A8052E-1D2E-A34F-5629-B46C4103C2E4}"/>
              </a:ext>
            </a:extLst>
          </p:cNvPr>
          <p:cNvSpPr txBox="1"/>
          <p:nvPr/>
        </p:nvSpPr>
        <p:spPr>
          <a:xfrm>
            <a:off x="1615449" y="4373319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6" name="Multiplikationszeichen 15">
            <a:extLst>
              <a:ext uri="{FF2B5EF4-FFF2-40B4-BE49-F238E27FC236}">
                <a16:creationId xmlns:a16="http://schemas.microsoft.com/office/drawing/2014/main" id="{D9E1704D-FDAC-FDB5-F0B4-1937746021A7}"/>
              </a:ext>
            </a:extLst>
          </p:cNvPr>
          <p:cNvSpPr/>
          <p:nvPr/>
        </p:nvSpPr>
        <p:spPr>
          <a:xfrm>
            <a:off x="2125839" y="1791249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4C8D586-EE35-110C-A09C-CDFB8D659A3A}"/>
              </a:ext>
            </a:extLst>
          </p:cNvPr>
          <p:cNvSpPr txBox="1"/>
          <p:nvPr/>
        </p:nvSpPr>
        <p:spPr>
          <a:xfrm rot="20896827">
            <a:off x="8409880" y="3327271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5C028E9-C64C-3BBB-9F71-DFB131507DA2}"/>
              </a:ext>
            </a:extLst>
          </p:cNvPr>
          <p:cNvSpPr txBox="1"/>
          <p:nvPr/>
        </p:nvSpPr>
        <p:spPr>
          <a:xfrm>
            <a:off x="7584333" y="273137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3BFCC0F-FB0E-3374-64ED-FBBEBF20F00E}"/>
              </a:ext>
            </a:extLst>
          </p:cNvPr>
          <p:cNvSpPr txBox="1"/>
          <p:nvPr/>
        </p:nvSpPr>
        <p:spPr>
          <a:xfrm rot="1810092">
            <a:off x="8801517" y="233278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6E7AC48-1690-AADF-35D9-C16FA23A18BB}"/>
              </a:ext>
            </a:extLst>
          </p:cNvPr>
          <p:cNvCxnSpPr>
            <a:cxnSpLocks/>
          </p:cNvCxnSpPr>
          <p:nvPr/>
        </p:nvCxnSpPr>
        <p:spPr>
          <a:xfrm flipH="1">
            <a:off x="7251820" y="3315900"/>
            <a:ext cx="2700947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CC6F23BD-EA71-1A5B-91B4-1A08284F91B1}"/>
              </a:ext>
            </a:extLst>
          </p:cNvPr>
          <p:cNvCxnSpPr>
            <a:cxnSpLocks/>
          </p:cNvCxnSpPr>
          <p:nvPr/>
        </p:nvCxnSpPr>
        <p:spPr>
          <a:xfrm flipH="1">
            <a:off x="8841684" y="3542164"/>
            <a:ext cx="1111083" cy="21163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747F75FC-A15B-5FDF-FB8A-D14F3241E44A}"/>
              </a:ext>
            </a:extLst>
          </p:cNvPr>
          <p:cNvCxnSpPr>
            <a:cxnSpLocks/>
          </p:cNvCxnSpPr>
          <p:nvPr/>
        </p:nvCxnSpPr>
        <p:spPr>
          <a:xfrm flipH="1" flipV="1">
            <a:off x="8944655" y="2562839"/>
            <a:ext cx="1063453" cy="58923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lipse 43">
            <a:extLst>
              <a:ext uri="{FF2B5EF4-FFF2-40B4-BE49-F238E27FC236}">
                <a16:creationId xmlns:a16="http://schemas.microsoft.com/office/drawing/2014/main" id="{7976EAD3-B67B-486F-120D-05F8E4F6A952}"/>
              </a:ext>
            </a:extLst>
          </p:cNvPr>
          <p:cNvSpPr/>
          <p:nvPr/>
        </p:nvSpPr>
        <p:spPr>
          <a:xfrm>
            <a:off x="6240016" y="188640"/>
            <a:ext cx="1593405" cy="80716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CORRECT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38E0D040-D598-EFD1-1085-CC137620CFAC}"/>
              </a:ext>
            </a:extLst>
          </p:cNvPr>
          <p:cNvSpPr/>
          <p:nvPr/>
        </p:nvSpPr>
        <p:spPr>
          <a:xfrm>
            <a:off x="8077563" y="189179"/>
            <a:ext cx="1593405" cy="8071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ALIVE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E1323B7E-D3E8-2AF0-F187-FC62F3A253C6}"/>
              </a:ext>
            </a:extLst>
          </p:cNvPr>
          <p:cNvSpPr txBox="1"/>
          <p:nvPr/>
        </p:nvSpPr>
        <p:spPr>
          <a:xfrm>
            <a:off x="9743647" y="3594619"/>
            <a:ext cx="189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/>
              <a:t>Koordinator 2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1377D58-0C43-4D0C-6F1A-7145963C4920}"/>
              </a:ext>
            </a:extLst>
          </p:cNvPr>
          <p:cNvSpPr txBox="1"/>
          <p:nvPr/>
        </p:nvSpPr>
        <p:spPr>
          <a:xfrm>
            <a:off x="9460101" y="395337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0D598628-A5F7-8E1F-0B44-3D4C92E12CF1}"/>
              </a:ext>
            </a:extLst>
          </p:cNvPr>
          <p:cNvSpPr txBox="1"/>
          <p:nvPr/>
        </p:nvSpPr>
        <p:spPr>
          <a:xfrm>
            <a:off x="3399854" y="391059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51866B8-5B9D-A778-169D-E8DBAEF7A01E}"/>
              </a:ext>
            </a:extLst>
          </p:cNvPr>
          <p:cNvSpPr/>
          <p:nvPr/>
        </p:nvSpPr>
        <p:spPr>
          <a:xfrm>
            <a:off x="1720784" y="1589859"/>
            <a:ext cx="1650272" cy="3624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Proposer</a:t>
            </a:r>
            <a:r>
              <a:rPr lang="de-DE" dirty="0"/>
              <a:t> 1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C28BE44-EE7B-EB5F-AC51-B95D99D4D301}"/>
              </a:ext>
            </a:extLst>
          </p:cNvPr>
          <p:cNvSpPr/>
          <p:nvPr/>
        </p:nvSpPr>
        <p:spPr>
          <a:xfrm>
            <a:off x="7787550" y="1610327"/>
            <a:ext cx="1650272" cy="3624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Proposer</a:t>
            </a:r>
            <a:r>
              <a:rPr lang="de-DE" dirty="0"/>
              <a:t> 1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0C7D4D5-2A2C-351B-92EB-77526F011D9F}"/>
              </a:ext>
            </a:extLst>
          </p:cNvPr>
          <p:cNvSpPr/>
          <p:nvPr/>
        </p:nvSpPr>
        <p:spPr>
          <a:xfrm>
            <a:off x="3613777" y="3615547"/>
            <a:ext cx="1650272" cy="3624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Proposer</a:t>
            </a:r>
            <a:r>
              <a:rPr lang="de-DE" dirty="0"/>
              <a:t> 2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462B9FEB-C5A0-4445-F403-D77C5C81032D}"/>
              </a:ext>
            </a:extLst>
          </p:cNvPr>
          <p:cNvSpPr/>
          <p:nvPr/>
        </p:nvSpPr>
        <p:spPr>
          <a:xfrm>
            <a:off x="9866841" y="3625047"/>
            <a:ext cx="1650272" cy="3624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Proposer</a:t>
            </a:r>
            <a:r>
              <a:rPr lang="de-DE" dirty="0"/>
              <a:t> 2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6796E0F-4FF5-C1C8-5EC6-93A9B26B828C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6B1CE77C-8662-4C82-E9AE-F9C0A0A1EF3C}"/>
              </a:ext>
            </a:extLst>
          </p:cNvPr>
          <p:cNvSpPr txBox="1"/>
          <p:nvPr/>
        </p:nvSpPr>
        <p:spPr>
          <a:xfrm>
            <a:off x="6492913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D8D1D2B9-23BC-4919-110E-EE627E8BF04C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7A0A04D-DC13-B93B-EF62-570032DAD9DA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163CBDA7-B861-EDC5-9588-F5DCF7829667}"/>
              </a:ext>
            </a:extLst>
          </p:cNvPr>
          <p:cNvSpPr/>
          <p:nvPr/>
        </p:nvSpPr>
        <p:spPr>
          <a:xfrm>
            <a:off x="24174" y="3606796"/>
            <a:ext cx="1650272" cy="3624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FCA45A51-62EF-0356-409E-AF6409D4705C}"/>
              </a:ext>
            </a:extLst>
          </p:cNvPr>
          <p:cNvSpPr/>
          <p:nvPr/>
        </p:nvSpPr>
        <p:spPr>
          <a:xfrm>
            <a:off x="1731280" y="4106346"/>
            <a:ext cx="1650272" cy="3624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0BF92157-4ADF-289C-56F6-B514E49F1435}"/>
              </a:ext>
            </a:extLst>
          </p:cNvPr>
          <p:cNvSpPr/>
          <p:nvPr/>
        </p:nvSpPr>
        <p:spPr>
          <a:xfrm>
            <a:off x="6160324" y="3660932"/>
            <a:ext cx="1650272" cy="3624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531166F2-6DD1-5199-71C2-F07956B0CECC}"/>
              </a:ext>
            </a:extLst>
          </p:cNvPr>
          <p:cNvSpPr/>
          <p:nvPr/>
        </p:nvSpPr>
        <p:spPr>
          <a:xfrm>
            <a:off x="7795178" y="4155703"/>
            <a:ext cx="1650272" cy="3624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4824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32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0D32BCC7-81DD-03B8-A93F-B60649B6C977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3" name="Textfeld 72">
            <a:extLst>
              <a:ext uri="{FF2B5EF4-FFF2-40B4-BE49-F238E27FC236}">
                <a16:creationId xmlns:a16="http://schemas.microsoft.com/office/drawing/2014/main" id="{58D71259-78AD-5936-7333-DC4100D59E0F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47240C35-125C-031B-E2C9-88CC6D9FDF03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553064" y="221075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„Value“ </a:t>
            </a:r>
            <a:r>
              <a:rPr lang="de-DE" dirty="0" err="1"/>
              <a:t>to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096000" y="5076809"/>
            <a:ext cx="2145667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MAJORITY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same </a:t>
            </a:r>
            <a:r>
              <a:rPr lang="de-DE" dirty="0" err="1"/>
              <a:t>value</a:t>
            </a:r>
            <a:r>
              <a:rPr lang="de-DE" dirty="0"/>
              <a:t>: send ACCEPT „Value“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cxnSpLocks/>
            <a:stCxn id="87" idx="3"/>
            <a:endCxn id="36" idx="1"/>
          </p:cNvCxnSpPr>
          <p:nvPr/>
        </p:nvCxnSpPr>
        <p:spPr>
          <a:xfrm flipV="1">
            <a:off x="2451007" y="5628549"/>
            <a:ext cx="565608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968167" y="5628549"/>
            <a:ext cx="1127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8241667" y="5628549"/>
            <a:ext cx="728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492913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1 Knoten weniger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F9FCA107-BC6F-1A60-1539-65B456A72CCD}"/>
              </a:ext>
            </a:extLst>
          </p:cNvPr>
          <p:cNvSpPr/>
          <p:nvPr/>
        </p:nvSpPr>
        <p:spPr>
          <a:xfrm>
            <a:off x="8215452" y="1846232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035A-529C-F62A-3E44-384AB9838EC6}"/>
              </a:ext>
            </a:extLst>
          </p:cNvPr>
          <p:cNvSpPr txBox="1"/>
          <p:nvPr/>
        </p:nvSpPr>
        <p:spPr>
          <a:xfrm>
            <a:off x="6043357" y="396099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129C003-8998-85B7-029D-02B9034BCA2F}"/>
              </a:ext>
            </a:extLst>
          </p:cNvPr>
          <p:cNvSpPr/>
          <p:nvPr/>
        </p:nvSpPr>
        <p:spPr>
          <a:xfrm>
            <a:off x="3016615" y="5228200"/>
            <a:ext cx="2132091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 </a:t>
            </a:r>
            <a:r>
              <a:rPr lang="de-DE" dirty="0" err="1"/>
              <a:t>preparedValue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not </a:t>
            </a:r>
            <a:r>
              <a:rPr lang="de-DE" dirty="0" err="1"/>
              <a:t>set</a:t>
            </a:r>
            <a:r>
              <a:rPr lang="de-DE" dirty="0"/>
              <a:t>; Reply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preparedValue</a:t>
            </a:r>
            <a:endParaRPr lang="de-DE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0CCB1BF-6597-ADD4-CA78-E8860E7B5329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F3CE7E4-1DEF-5E42-9713-ACD1CC3CE9BB}"/>
              </a:ext>
            </a:extLst>
          </p:cNvPr>
          <p:cNvCxnSpPr/>
          <p:nvPr/>
        </p:nvCxnSpPr>
        <p:spPr>
          <a:xfrm>
            <a:off x="10920536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Ellipse 3">
            <a:extLst>
              <a:ext uri="{FF2B5EF4-FFF2-40B4-BE49-F238E27FC236}">
                <a16:creationId xmlns:a16="http://schemas.microsoft.com/office/drawing/2014/main" id="{132D691D-E03E-350D-C1E1-74C23BA8E371}"/>
              </a:ext>
            </a:extLst>
          </p:cNvPr>
          <p:cNvSpPr/>
          <p:nvPr/>
        </p:nvSpPr>
        <p:spPr>
          <a:xfrm>
            <a:off x="6240016" y="188640"/>
            <a:ext cx="1593405" cy="80716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CORRECT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E1DE810-E965-EE87-B15D-2F68B7F1533A}"/>
              </a:ext>
            </a:extLst>
          </p:cNvPr>
          <p:cNvSpPr/>
          <p:nvPr/>
        </p:nvSpPr>
        <p:spPr>
          <a:xfrm>
            <a:off x="8077563" y="189179"/>
            <a:ext cx="1593405" cy="8071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ALIVE</a:t>
            </a:r>
          </a:p>
        </p:txBody>
      </p:sp>
    </p:spTree>
    <p:extLst>
      <p:ext uri="{BB962C8B-B14F-4D97-AF65-F5344CB8AC3E}">
        <p14:creationId xmlns:p14="http://schemas.microsoft.com/office/powerpoint/2010/main" val="1825487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feld 24">
            <a:extLst>
              <a:ext uri="{FF2B5EF4-FFF2-40B4-BE49-F238E27FC236}">
                <a16:creationId xmlns:a16="http://schemas.microsoft.com/office/drawing/2014/main" id="{0C58FA87-028F-1531-BE48-B001B453A8F2}"/>
              </a:ext>
            </a:extLst>
          </p:cNvPr>
          <p:cNvSpPr txBox="1"/>
          <p:nvPr/>
        </p:nvSpPr>
        <p:spPr>
          <a:xfrm>
            <a:off x="1495318" y="269022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7587A3-1C91-DEC0-AE3E-3AE30FE9FB6D}"/>
              </a:ext>
            </a:extLst>
          </p:cNvPr>
          <p:cNvSpPr txBox="1"/>
          <p:nvPr/>
        </p:nvSpPr>
        <p:spPr>
          <a:xfrm rot="1810092">
            <a:off x="2712502" y="229163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33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 flipH="1">
            <a:off x="1162805" y="3274745"/>
            <a:ext cx="2700947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 flipV="1">
            <a:off x="2855640" y="2521684"/>
            <a:ext cx="1063453" cy="58923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353123" y="3585941"/>
            <a:ext cx="189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2</a:t>
            </a:r>
          </a:p>
        </p:txBody>
      </p: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„Value“ </a:t>
            </a:r>
            <a:r>
              <a:rPr lang="de-DE" dirty="0" err="1"/>
              <a:t>to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096000" y="5076809"/>
            <a:ext cx="2145667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MAJORITY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same </a:t>
            </a:r>
            <a:r>
              <a:rPr lang="de-DE" dirty="0" err="1"/>
              <a:t>value</a:t>
            </a:r>
            <a:r>
              <a:rPr lang="de-DE" dirty="0"/>
              <a:t>: send ACCEPT „Value“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cxnSpLocks/>
            <a:stCxn id="87" idx="3"/>
            <a:endCxn id="36" idx="1"/>
          </p:cNvCxnSpPr>
          <p:nvPr/>
        </p:nvCxnSpPr>
        <p:spPr>
          <a:xfrm flipV="1">
            <a:off x="2451007" y="5628549"/>
            <a:ext cx="565608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968167" y="5628549"/>
            <a:ext cx="1127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8241667" y="5628549"/>
            <a:ext cx="728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492913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b="0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F9FCA107-BC6F-1A60-1539-65B456A72CCD}"/>
              </a:ext>
            </a:extLst>
          </p:cNvPr>
          <p:cNvSpPr/>
          <p:nvPr/>
        </p:nvSpPr>
        <p:spPr>
          <a:xfrm>
            <a:off x="8215452" y="1846232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035A-529C-F62A-3E44-384AB9838EC6}"/>
              </a:ext>
            </a:extLst>
          </p:cNvPr>
          <p:cNvSpPr txBox="1"/>
          <p:nvPr/>
        </p:nvSpPr>
        <p:spPr>
          <a:xfrm>
            <a:off x="6043357" y="396099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129C003-8998-85B7-029D-02B9034BCA2F}"/>
              </a:ext>
            </a:extLst>
          </p:cNvPr>
          <p:cNvSpPr/>
          <p:nvPr/>
        </p:nvSpPr>
        <p:spPr>
          <a:xfrm>
            <a:off x="3016615" y="5228200"/>
            <a:ext cx="2132091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 </a:t>
            </a:r>
            <a:r>
              <a:rPr lang="de-DE" dirty="0" err="1"/>
              <a:t>preparedValue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not </a:t>
            </a:r>
            <a:r>
              <a:rPr lang="de-DE" dirty="0" err="1"/>
              <a:t>set</a:t>
            </a:r>
            <a:r>
              <a:rPr lang="de-DE" dirty="0"/>
              <a:t>; Reply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preparedValue</a:t>
            </a:r>
            <a:endParaRPr lang="de-DE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0CCB1BF-6597-ADD4-CA78-E8860E7B5329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F3CE7E4-1DEF-5E42-9713-ACD1CC3CE9BB}"/>
              </a:ext>
            </a:extLst>
          </p:cNvPr>
          <p:cNvCxnSpPr>
            <a:cxnSpLocks/>
          </p:cNvCxnSpPr>
          <p:nvPr/>
        </p:nvCxnSpPr>
        <p:spPr>
          <a:xfrm>
            <a:off x="0" y="3209350"/>
            <a:ext cx="508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1311B708-1AB3-04D2-7DD8-1A74DBE85A0B}"/>
              </a:ext>
            </a:extLst>
          </p:cNvPr>
          <p:cNvSpPr txBox="1"/>
          <p:nvPr/>
        </p:nvSpPr>
        <p:spPr>
          <a:xfrm>
            <a:off x="-63621" y="388621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6" name="Multiplikationszeichen 15">
            <a:extLst>
              <a:ext uri="{FF2B5EF4-FFF2-40B4-BE49-F238E27FC236}">
                <a16:creationId xmlns:a16="http://schemas.microsoft.com/office/drawing/2014/main" id="{D9E1704D-FDAC-FDB5-F0B4-1937746021A7}"/>
              </a:ext>
            </a:extLst>
          </p:cNvPr>
          <p:cNvSpPr/>
          <p:nvPr/>
        </p:nvSpPr>
        <p:spPr>
          <a:xfrm>
            <a:off x="2125839" y="1791249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7976EAD3-B67B-486F-120D-05F8E4F6A952}"/>
              </a:ext>
            </a:extLst>
          </p:cNvPr>
          <p:cNvSpPr/>
          <p:nvPr/>
        </p:nvSpPr>
        <p:spPr>
          <a:xfrm>
            <a:off x="6240016" y="188640"/>
            <a:ext cx="1593405" cy="80716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CORRECT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38E0D040-D598-EFD1-1085-CC137620CFAC}"/>
              </a:ext>
            </a:extLst>
          </p:cNvPr>
          <p:cNvSpPr/>
          <p:nvPr/>
        </p:nvSpPr>
        <p:spPr>
          <a:xfrm>
            <a:off x="8077563" y="189179"/>
            <a:ext cx="1593405" cy="8071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ALIVE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E1323B7E-D3E8-2AF0-F187-FC62F3A253C6}"/>
              </a:ext>
            </a:extLst>
          </p:cNvPr>
          <p:cNvSpPr txBox="1"/>
          <p:nvPr/>
        </p:nvSpPr>
        <p:spPr>
          <a:xfrm>
            <a:off x="9507117" y="3576221"/>
            <a:ext cx="189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2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5AF8D1C-13E1-6FA1-7889-977149D0FDF6}"/>
              </a:ext>
            </a:extLst>
          </p:cNvPr>
          <p:cNvSpPr txBox="1"/>
          <p:nvPr/>
        </p:nvSpPr>
        <p:spPr>
          <a:xfrm>
            <a:off x="9460101" y="395337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pic>
        <p:nvPicPr>
          <p:cNvPr id="17" name="Grafik 16" descr="Ein Bild, das Symbol, Logo, Grafiken, Schrift enthält.&#10;&#10;Automatisch generierte Beschreibung">
            <a:extLst>
              <a:ext uri="{FF2B5EF4-FFF2-40B4-BE49-F238E27FC236}">
                <a16:creationId xmlns:a16="http://schemas.microsoft.com/office/drawing/2014/main" id="{7D574955-3479-37DE-4E22-E4F6BDB8B2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397" y="2236190"/>
            <a:ext cx="583925" cy="583925"/>
          </a:xfrm>
          <a:prstGeom prst="rect">
            <a:avLst/>
          </a:prstGeom>
        </p:spPr>
      </p:pic>
      <p:sp>
        <p:nvSpPr>
          <p:cNvPr id="18" name="Gewitterblitz 17">
            <a:extLst>
              <a:ext uri="{FF2B5EF4-FFF2-40B4-BE49-F238E27FC236}">
                <a16:creationId xmlns:a16="http://schemas.microsoft.com/office/drawing/2014/main" id="{00E7E45E-850E-298E-92AA-9C8323A68F8A}"/>
              </a:ext>
            </a:extLst>
          </p:cNvPr>
          <p:cNvSpPr/>
          <p:nvPr/>
        </p:nvSpPr>
        <p:spPr>
          <a:xfrm>
            <a:off x="8263693" y="3101488"/>
            <a:ext cx="756675" cy="1133408"/>
          </a:xfrm>
          <a:prstGeom prst="lightningBol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1C30093-B4E7-F71F-851B-23A7762250AC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CE10AEA-D0DF-78A4-9117-730CB231107C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919622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34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553064" y="221075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695400" y="5229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Prepare</a:t>
            </a:r>
            <a:r>
              <a:rPr lang="de-DE" dirty="0"/>
              <a:t> „Value“ </a:t>
            </a:r>
            <a:r>
              <a:rPr lang="de-DE" dirty="0" err="1"/>
              <a:t>to</a:t>
            </a:r>
            <a:r>
              <a:rPr lang="de-DE" dirty="0"/>
              <a:t> all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096000" y="5076809"/>
            <a:ext cx="2145667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MAJORITY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same </a:t>
            </a:r>
            <a:r>
              <a:rPr lang="de-DE" dirty="0" err="1"/>
              <a:t>value</a:t>
            </a:r>
            <a:r>
              <a:rPr lang="de-DE" dirty="0"/>
              <a:t>: send ACCEPT „Value“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69745" y="5228200"/>
            <a:ext cx="1755607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cxnSpLocks/>
            <a:stCxn id="87" idx="3"/>
            <a:endCxn id="36" idx="1"/>
          </p:cNvCxnSpPr>
          <p:nvPr/>
        </p:nvCxnSpPr>
        <p:spPr>
          <a:xfrm flipV="1">
            <a:off x="2451007" y="5628549"/>
            <a:ext cx="565608" cy="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968167" y="5628549"/>
            <a:ext cx="1127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8241667" y="5628549"/>
            <a:ext cx="728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147940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492913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9006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Sobald die Mehrheit einen Wert </a:t>
            </a:r>
            <a:r>
              <a:rPr lang="de-DE" b="0" dirty="0" err="1"/>
              <a:t>prepared</a:t>
            </a:r>
            <a:r>
              <a:rPr lang="de-DE" b="0" dirty="0"/>
              <a:t> hat ist er schon gewählt!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F9FCA107-BC6F-1A60-1539-65B456A72CCD}"/>
              </a:ext>
            </a:extLst>
          </p:cNvPr>
          <p:cNvSpPr/>
          <p:nvPr/>
        </p:nvSpPr>
        <p:spPr>
          <a:xfrm>
            <a:off x="8215452" y="1846232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035A-529C-F62A-3E44-384AB9838EC6}"/>
              </a:ext>
            </a:extLst>
          </p:cNvPr>
          <p:cNvSpPr txBox="1"/>
          <p:nvPr/>
        </p:nvSpPr>
        <p:spPr>
          <a:xfrm>
            <a:off x="6043357" y="396099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129C003-8998-85B7-029D-02B9034BCA2F}"/>
              </a:ext>
            </a:extLst>
          </p:cNvPr>
          <p:cNvSpPr/>
          <p:nvPr/>
        </p:nvSpPr>
        <p:spPr>
          <a:xfrm>
            <a:off x="3016615" y="5228200"/>
            <a:ext cx="2132091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 </a:t>
            </a:r>
            <a:r>
              <a:rPr lang="de-DE" dirty="0" err="1"/>
              <a:t>preparedValue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not </a:t>
            </a:r>
            <a:r>
              <a:rPr lang="de-DE" dirty="0" err="1"/>
              <a:t>set</a:t>
            </a:r>
            <a:r>
              <a:rPr lang="de-DE" dirty="0"/>
              <a:t>; Reply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preparedValue</a:t>
            </a:r>
            <a:endParaRPr lang="de-DE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0CCB1BF-6597-ADD4-CA78-E8860E7B5329}"/>
              </a:ext>
            </a:extLst>
          </p:cNvPr>
          <p:cNvSpPr txBox="1"/>
          <p:nvPr/>
        </p:nvSpPr>
        <p:spPr>
          <a:xfrm>
            <a:off x="3375393" y="602889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F3CE7E4-1DEF-5E42-9713-ACD1CC3CE9BB}"/>
              </a:ext>
            </a:extLst>
          </p:cNvPr>
          <p:cNvCxnSpPr/>
          <p:nvPr/>
        </p:nvCxnSpPr>
        <p:spPr>
          <a:xfrm>
            <a:off x="10920536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BC98413E-DFAB-E4BB-6639-0B0082CE490D}"/>
              </a:ext>
            </a:extLst>
          </p:cNvPr>
          <p:cNvSpPr txBox="1"/>
          <p:nvPr/>
        </p:nvSpPr>
        <p:spPr>
          <a:xfrm>
            <a:off x="9147940" y="1988158"/>
            <a:ext cx="2430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(</a:t>
            </a:r>
            <a:r>
              <a:rPr lang="de-DE" dirty="0" err="1"/>
              <a:t>Prepared</a:t>
            </a:r>
            <a:r>
              <a:rPr lang="de-DE" dirty="0"/>
              <a:t> „Adenauer“)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8492D4F6-7143-ECC3-20A8-0883B363C268}"/>
              </a:ext>
            </a:extLst>
          </p:cNvPr>
          <p:cNvCxnSpPr>
            <a:cxnSpLocks/>
          </p:cNvCxnSpPr>
          <p:nvPr/>
        </p:nvCxnSpPr>
        <p:spPr>
          <a:xfrm flipH="1">
            <a:off x="8874588" y="2172824"/>
            <a:ext cx="389764" cy="49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D6E87E51-6595-D054-FD24-E0C71F64C156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4428C0C-B8D2-E683-037D-E2CBDB54C9E2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C81FBB4-BC83-C2B5-3C90-71137CF53586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C77AEC1-3CB7-41F7-383B-1A2460DA837C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560493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35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DBC9FD6-86C3-B30F-B52C-A1DEFDF30E8A}"/>
              </a:ext>
            </a:extLst>
          </p:cNvPr>
          <p:cNvCxnSpPr>
            <a:cxnSpLocks/>
          </p:cNvCxnSpPr>
          <p:nvPr/>
        </p:nvCxnSpPr>
        <p:spPr>
          <a:xfrm>
            <a:off x="8600231" y="2645522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553064" y="221075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362429" y="2740697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Beweis durch Widerspruch: „Ein Wert ist erst gewählt, wenn er </a:t>
            </a:r>
            <a:r>
              <a:rPr lang="de-DE" b="0" dirty="0" err="1"/>
              <a:t>accepted</a:t>
            </a:r>
            <a:r>
              <a:rPr lang="de-DE" b="0" dirty="0"/>
              <a:t> wurde“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F9FCA107-BC6F-1A60-1539-65B456A72CCD}"/>
              </a:ext>
            </a:extLst>
          </p:cNvPr>
          <p:cNvSpPr/>
          <p:nvPr/>
        </p:nvSpPr>
        <p:spPr>
          <a:xfrm>
            <a:off x="8215452" y="1846232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035A-529C-F62A-3E44-384AB9838EC6}"/>
              </a:ext>
            </a:extLst>
          </p:cNvPr>
          <p:cNvSpPr txBox="1"/>
          <p:nvPr/>
        </p:nvSpPr>
        <p:spPr>
          <a:xfrm>
            <a:off x="6043357" y="396099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Promised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D3DBD46-307A-4E86-6904-F9F06C2A72CF}"/>
              </a:ext>
            </a:extLst>
          </p:cNvPr>
          <p:cNvSpPr txBox="1"/>
          <p:nvPr/>
        </p:nvSpPr>
        <p:spPr>
          <a:xfrm>
            <a:off x="7722427" y="4448104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Promised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F3CE7E4-1DEF-5E42-9713-ACD1CC3CE9BB}"/>
              </a:ext>
            </a:extLst>
          </p:cNvPr>
          <p:cNvCxnSpPr/>
          <p:nvPr/>
        </p:nvCxnSpPr>
        <p:spPr>
          <a:xfrm>
            <a:off x="10920536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F1A2A8CC-FBBD-C988-4E89-9634856E1798}"/>
              </a:ext>
            </a:extLst>
          </p:cNvPr>
          <p:cNvSpPr txBox="1"/>
          <p:nvPr/>
        </p:nvSpPr>
        <p:spPr>
          <a:xfrm rot="1851188">
            <a:off x="2706215" y="2260350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1A09FC26-8FBC-7732-ED88-A6BF405447F0}"/>
              </a:ext>
            </a:extLst>
          </p:cNvPr>
          <p:cNvSpPr txBox="1"/>
          <p:nvPr/>
        </p:nvSpPr>
        <p:spPr>
          <a:xfrm>
            <a:off x="9460101" y="395337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Promised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90A4275-9FCB-9635-E070-22A714280127}"/>
              </a:ext>
            </a:extLst>
          </p:cNvPr>
          <p:cNvSpPr txBox="1"/>
          <p:nvPr/>
        </p:nvSpPr>
        <p:spPr>
          <a:xfrm rot="19809520">
            <a:off x="6678066" y="224596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1379CDF-2CD3-48CC-731E-1F6F1CFB52B6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35E2825-1D05-3696-92DE-93EBDD34E9E9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C4E4866-98B5-675F-A2BF-04735032AB40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D4C08D6-11CB-6AA7-1B05-2B8461087568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DC773E5-EDCD-10CA-4408-50E892F32F95}"/>
              </a:ext>
            </a:extLst>
          </p:cNvPr>
          <p:cNvSpPr txBox="1"/>
          <p:nvPr/>
        </p:nvSpPr>
        <p:spPr>
          <a:xfrm>
            <a:off x="1641820" y="411171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5B3E5A1-5276-D9B9-06D5-DA3E6E235095}"/>
              </a:ext>
            </a:extLst>
          </p:cNvPr>
          <p:cNvSpPr txBox="1"/>
          <p:nvPr/>
        </p:nvSpPr>
        <p:spPr>
          <a:xfrm>
            <a:off x="7733865" y="410547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476270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F24D4B1C-F4AB-E043-86D3-C0B461C2FB15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45077709-2EE5-8F91-F2B8-8029F4D855E4}"/>
              </a:ext>
            </a:extLst>
          </p:cNvPr>
          <p:cNvSpPr txBox="1"/>
          <p:nvPr/>
        </p:nvSpPr>
        <p:spPr>
          <a:xfrm rot="20896827">
            <a:off x="2320865" y="3286116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C58FA87-028F-1531-BE48-B001B453A8F2}"/>
              </a:ext>
            </a:extLst>
          </p:cNvPr>
          <p:cNvSpPr txBox="1"/>
          <p:nvPr/>
        </p:nvSpPr>
        <p:spPr>
          <a:xfrm>
            <a:off x="1495318" y="269022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7587A3-1C91-DEC0-AE3E-3AE30FE9FB6D}"/>
              </a:ext>
            </a:extLst>
          </p:cNvPr>
          <p:cNvSpPr txBox="1"/>
          <p:nvPr/>
        </p:nvSpPr>
        <p:spPr>
          <a:xfrm rot="1810092">
            <a:off x="2712502" y="229163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36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 flipH="1">
            <a:off x="1162805" y="3274745"/>
            <a:ext cx="2700947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 flipH="1">
            <a:off x="2752669" y="3501009"/>
            <a:ext cx="1111083" cy="21163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 flipV="1">
            <a:off x="2855640" y="2521684"/>
            <a:ext cx="1063453" cy="58923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414274" y="3594643"/>
            <a:ext cx="189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2</a:t>
            </a:r>
          </a:p>
        </p:txBody>
      </p: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>
                <a:sym typeface="Wingdings" panose="05000000000000000000" pitchFamily="2" charset="2"/>
              </a:rPr>
              <a:t> </a:t>
            </a:r>
            <a:r>
              <a:rPr lang="de-DE" b="0" dirty="0" err="1">
                <a:sym typeface="Wingdings" panose="05000000000000000000" pitchFamily="2" charset="2"/>
              </a:rPr>
              <a:t>Promises</a:t>
            </a:r>
            <a:r>
              <a:rPr lang="de-DE" b="0" dirty="0">
                <a:sym typeface="Wingdings" panose="05000000000000000000" pitchFamily="2" charset="2"/>
              </a:rPr>
              <a:t> sind in diesem Beispiel nicht verbindlich! Beide Werte werden gewählt!</a:t>
            </a:r>
            <a:endParaRPr lang="de-DE" b="0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F9FCA107-BC6F-1A60-1539-65B456A72CCD}"/>
              </a:ext>
            </a:extLst>
          </p:cNvPr>
          <p:cNvSpPr/>
          <p:nvPr/>
        </p:nvSpPr>
        <p:spPr>
          <a:xfrm>
            <a:off x="8215452" y="1846232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035A-529C-F62A-3E44-384AB9838EC6}"/>
              </a:ext>
            </a:extLst>
          </p:cNvPr>
          <p:cNvSpPr txBox="1"/>
          <p:nvPr/>
        </p:nvSpPr>
        <p:spPr>
          <a:xfrm>
            <a:off x="6043357" y="396099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D3DBD46-307A-4E86-6904-F9F06C2A72CF}"/>
              </a:ext>
            </a:extLst>
          </p:cNvPr>
          <p:cNvSpPr txBox="1"/>
          <p:nvPr/>
        </p:nvSpPr>
        <p:spPr>
          <a:xfrm>
            <a:off x="7722427" y="4448104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Promised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F3CE7E4-1DEF-5E42-9713-ACD1CC3CE9BB}"/>
              </a:ext>
            </a:extLst>
          </p:cNvPr>
          <p:cNvCxnSpPr>
            <a:cxnSpLocks/>
          </p:cNvCxnSpPr>
          <p:nvPr/>
        </p:nvCxnSpPr>
        <p:spPr>
          <a:xfrm>
            <a:off x="0" y="3209350"/>
            <a:ext cx="508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68A8052E-1D2E-A34F-5629-B46C4103C2E4}"/>
              </a:ext>
            </a:extLst>
          </p:cNvPr>
          <p:cNvSpPr txBox="1"/>
          <p:nvPr/>
        </p:nvSpPr>
        <p:spPr>
          <a:xfrm>
            <a:off x="1615449" y="4373319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Promised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6" name="Multiplikationszeichen 15">
            <a:extLst>
              <a:ext uri="{FF2B5EF4-FFF2-40B4-BE49-F238E27FC236}">
                <a16:creationId xmlns:a16="http://schemas.microsoft.com/office/drawing/2014/main" id="{D9E1704D-FDAC-FDB5-F0B4-1937746021A7}"/>
              </a:ext>
            </a:extLst>
          </p:cNvPr>
          <p:cNvSpPr/>
          <p:nvPr/>
        </p:nvSpPr>
        <p:spPr>
          <a:xfrm>
            <a:off x="2125839" y="1791249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4C8D586-EE35-110C-A09C-CDFB8D659A3A}"/>
              </a:ext>
            </a:extLst>
          </p:cNvPr>
          <p:cNvSpPr txBox="1"/>
          <p:nvPr/>
        </p:nvSpPr>
        <p:spPr>
          <a:xfrm rot="20896827">
            <a:off x="8409880" y="3327271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CC6F23BD-EA71-1A5B-91B4-1A08284F91B1}"/>
              </a:ext>
            </a:extLst>
          </p:cNvPr>
          <p:cNvCxnSpPr>
            <a:cxnSpLocks/>
          </p:cNvCxnSpPr>
          <p:nvPr/>
        </p:nvCxnSpPr>
        <p:spPr>
          <a:xfrm flipH="1">
            <a:off x="8841684" y="3542164"/>
            <a:ext cx="1111083" cy="21163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E1323B7E-D3E8-2AF0-F187-FC62F3A253C6}"/>
              </a:ext>
            </a:extLst>
          </p:cNvPr>
          <p:cNvSpPr txBox="1"/>
          <p:nvPr/>
        </p:nvSpPr>
        <p:spPr>
          <a:xfrm>
            <a:off x="9577913" y="3609369"/>
            <a:ext cx="189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2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1377D58-0C43-4D0C-6F1A-7145963C4920}"/>
              </a:ext>
            </a:extLst>
          </p:cNvPr>
          <p:cNvSpPr txBox="1"/>
          <p:nvPr/>
        </p:nvSpPr>
        <p:spPr>
          <a:xfrm>
            <a:off x="9460101" y="395337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Promised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0D598628-A5F7-8E1F-0B44-3D4C92E12CF1}"/>
              </a:ext>
            </a:extLst>
          </p:cNvPr>
          <p:cNvSpPr txBox="1"/>
          <p:nvPr/>
        </p:nvSpPr>
        <p:spPr>
          <a:xfrm>
            <a:off x="3399854" y="391059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Promised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4" name="Gewitterblitz 3">
            <a:extLst>
              <a:ext uri="{FF2B5EF4-FFF2-40B4-BE49-F238E27FC236}">
                <a16:creationId xmlns:a16="http://schemas.microsoft.com/office/drawing/2014/main" id="{D632A906-F1A9-8188-5FC5-C77AB8008C49}"/>
              </a:ext>
            </a:extLst>
          </p:cNvPr>
          <p:cNvSpPr/>
          <p:nvPr/>
        </p:nvSpPr>
        <p:spPr>
          <a:xfrm>
            <a:off x="9952767" y="980728"/>
            <a:ext cx="391705" cy="720080"/>
          </a:xfrm>
          <a:prstGeom prst="lightningBol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ACEC976-A45E-4308-133E-A22B114C448F}"/>
              </a:ext>
            </a:extLst>
          </p:cNvPr>
          <p:cNvSpPr/>
          <p:nvPr/>
        </p:nvSpPr>
        <p:spPr>
          <a:xfrm>
            <a:off x="6240016" y="188640"/>
            <a:ext cx="1593405" cy="80716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KONSENS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C852F06-3474-56B5-2F39-A7ED01906E41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89CD20F-6096-DA7B-6161-152FD12BA64E}"/>
              </a:ext>
            </a:extLst>
          </p:cNvPr>
          <p:cNvSpPr txBox="1"/>
          <p:nvPr/>
        </p:nvSpPr>
        <p:spPr>
          <a:xfrm>
            <a:off x="1641820" y="411171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6AE6986-1994-FAC0-7A88-F2AAB0E785D8}"/>
              </a:ext>
            </a:extLst>
          </p:cNvPr>
          <p:cNvSpPr txBox="1"/>
          <p:nvPr/>
        </p:nvSpPr>
        <p:spPr>
          <a:xfrm>
            <a:off x="7733865" y="410547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8819C3C-DD3E-DB99-E719-761C9DDB8434}"/>
              </a:ext>
            </a:extLst>
          </p:cNvPr>
          <p:cNvSpPr txBox="1"/>
          <p:nvPr/>
        </p:nvSpPr>
        <p:spPr>
          <a:xfrm>
            <a:off x="-64390" y="390242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</p:spTree>
    <p:extLst>
      <p:ext uri="{BB962C8B-B14F-4D97-AF65-F5344CB8AC3E}">
        <p14:creationId xmlns:p14="http://schemas.microsoft.com/office/powerpoint/2010/main" val="16347894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F7AA5E1-40B9-B823-DD52-5D74609397F4}"/>
              </a:ext>
            </a:extLst>
          </p:cNvPr>
          <p:cNvSpPr/>
          <p:nvPr/>
        </p:nvSpPr>
        <p:spPr>
          <a:xfrm>
            <a:off x="254323" y="5701463"/>
            <a:ext cx="11220250" cy="751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45077709-2EE5-8F91-F2B8-8029F4D855E4}"/>
              </a:ext>
            </a:extLst>
          </p:cNvPr>
          <p:cNvSpPr txBox="1"/>
          <p:nvPr/>
        </p:nvSpPr>
        <p:spPr>
          <a:xfrm rot="20896827">
            <a:off x="2320865" y="3286116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C58FA87-028F-1531-BE48-B001B453A8F2}"/>
              </a:ext>
            </a:extLst>
          </p:cNvPr>
          <p:cNvSpPr txBox="1"/>
          <p:nvPr/>
        </p:nvSpPr>
        <p:spPr>
          <a:xfrm>
            <a:off x="1495318" y="269022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7C7587A3-1C91-DEC0-AE3E-3AE30FE9FB6D}"/>
              </a:ext>
            </a:extLst>
          </p:cNvPr>
          <p:cNvSpPr txBox="1"/>
          <p:nvPr/>
        </p:nvSpPr>
        <p:spPr>
          <a:xfrm rot="1810092">
            <a:off x="2712502" y="229163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37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 flipH="1">
            <a:off x="1162805" y="3274745"/>
            <a:ext cx="2700947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 flipH="1">
            <a:off x="2752669" y="3501009"/>
            <a:ext cx="1111083" cy="21163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 flipV="1">
            <a:off x="2855640" y="2521684"/>
            <a:ext cx="1063453" cy="589235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43" name="Textfeld 42">
            <a:extLst>
              <a:ext uri="{FF2B5EF4-FFF2-40B4-BE49-F238E27FC236}">
                <a16:creationId xmlns:a16="http://schemas.microsoft.com/office/drawing/2014/main" id="{8C41086E-7760-2B9A-6255-9FBB44BD98DB}"/>
              </a:ext>
            </a:extLst>
          </p:cNvPr>
          <p:cNvSpPr txBox="1"/>
          <p:nvPr/>
        </p:nvSpPr>
        <p:spPr>
          <a:xfrm>
            <a:off x="3414274" y="3594643"/>
            <a:ext cx="189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2</a:t>
            </a:r>
          </a:p>
        </p:txBody>
      </p: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1</a:t>
            </a:r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>
                <a:sym typeface="Wingdings" panose="05000000000000000000" pitchFamily="2" charset="2"/>
              </a:rPr>
              <a:t> </a:t>
            </a:r>
            <a:r>
              <a:rPr lang="de-DE" b="0" dirty="0" err="1">
                <a:sym typeface="Wingdings" panose="05000000000000000000" pitchFamily="2" charset="2"/>
              </a:rPr>
              <a:t>Promises</a:t>
            </a:r>
            <a:r>
              <a:rPr lang="de-DE" b="0" dirty="0">
                <a:sym typeface="Wingdings" panose="05000000000000000000" pitchFamily="2" charset="2"/>
              </a:rPr>
              <a:t> sind in diesem Beispiel nicht verbindlich! Beide Werte werden gewählt!</a:t>
            </a:r>
            <a:endParaRPr lang="de-DE" b="0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F9FCA107-BC6F-1A60-1539-65B456A72CCD}"/>
              </a:ext>
            </a:extLst>
          </p:cNvPr>
          <p:cNvSpPr/>
          <p:nvPr/>
        </p:nvSpPr>
        <p:spPr>
          <a:xfrm>
            <a:off x="8215452" y="1846232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035A-529C-F62A-3E44-384AB9838EC6}"/>
              </a:ext>
            </a:extLst>
          </p:cNvPr>
          <p:cNvSpPr txBox="1"/>
          <p:nvPr/>
        </p:nvSpPr>
        <p:spPr>
          <a:xfrm>
            <a:off x="6043357" y="396099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D3DBD46-307A-4E86-6904-F9F06C2A72CF}"/>
              </a:ext>
            </a:extLst>
          </p:cNvPr>
          <p:cNvSpPr txBox="1"/>
          <p:nvPr/>
        </p:nvSpPr>
        <p:spPr>
          <a:xfrm>
            <a:off x="7722427" y="4448104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Promised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F3CE7E4-1DEF-5E42-9713-ACD1CC3CE9BB}"/>
              </a:ext>
            </a:extLst>
          </p:cNvPr>
          <p:cNvCxnSpPr>
            <a:cxnSpLocks/>
          </p:cNvCxnSpPr>
          <p:nvPr/>
        </p:nvCxnSpPr>
        <p:spPr>
          <a:xfrm>
            <a:off x="0" y="3209350"/>
            <a:ext cx="508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68A8052E-1D2E-A34F-5629-B46C4103C2E4}"/>
              </a:ext>
            </a:extLst>
          </p:cNvPr>
          <p:cNvSpPr txBox="1"/>
          <p:nvPr/>
        </p:nvSpPr>
        <p:spPr>
          <a:xfrm>
            <a:off x="1615449" y="4373319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Promised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16" name="Multiplikationszeichen 15">
            <a:extLst>
              <a:ext uri="{FF2B5EF4-FFF2-40B4-BE49-F238E27FC236}">
                <a16:creationId xmlns:a16="http://schemas.microsoft.com/office/drawing/2014/main" id="{D9E1704D-FDAC-FDB5-F0B4-1937746021A7}"/>
              </a:ext>
            </a:extLst>
          </p:cNvPr>
          <p:cNvSpPr/>
          <p:nvPr/>
        </p:nvSpPr>
        <p:spPr>
          <a:xfrm>
            <a:off x="2125839" y="1791249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4C8D586-EE35-110C-A09C-CDFB8D659A3A}"/>
              </a:ext>
            </a:extLst>
          </p:cNvPr>
          <p:cNvSpPr txBox="1"/>
          <p:nvPr/>
        </p:nvSpPr>
        <p:spPr>
          <a:xfrm rot="20896827">
            <a:off x="8409880" y="3327271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CC6F23BD-EA71-1A5B-91B4-1A08284F91B1}"/>
              </a:ext>
            </a:extLst>
          </p:cNvPr>
          <p:cNvCxnSpPr>
            <a:cxnSpLocks/>
          </p:cNvCxnSpPr>
          <p:nvPr/>
        </p:nvCxnSpPr>
        <p:spPr>
          <a:xfrm flipH="1">
            <a:off x="8841684" y="3542164"/>
            <a:ext cx="1111083" cy="21163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E1323B7E-D3E8-2AF0-F187-FC62F3A253C6}"/>
              </a:ext>
            </a:extLst>
          </p:cNvPr>
          <p:cNvSpPr txBox="1"/>
          <p:nvPr/>
        </p:nvSpPr>
        <p:spPr>
          <a:xfrm>
            <a:off x="9577913" y="3609369"/>
            <a:ext cx="1896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2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1377D58-0C43-4D0C-6F1A-7145963C4920}"/>
              </a:ext>
            </a:extLst>
          </p:cNvPr>
          <p:cNvSpPr txBox="1"/>
          <p:nvPr/>
        </p:nvSpPr>
        <p:spPr>
          <a:xfrm>
            <a:off x="9460101" y="395337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Promised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0D598628-A5F7-8E1F-0B44-3D4C92E12CF1}"/>
              </a:ext>
            </a:extLst>
          </p:cNvPr>
          <p:cNvSpPr txBox="1"/>
          <p:nvPr/>
        </p:nvSpPr>
        <p:spPr>
          <a:xfrm>
            <a:off x="3399854" y="391059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Promised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4" name="Gewitterblitz 3">
            <a:extLst>
              <a:ext uri="{FF2B5EF4-FFF2-40B4-BE49-F238E27FC236}">
                <a16:creationId xmlns:a16="http://schemas.microsoft.com/office/drawing/2014/main" id="{D632A906-F1A9-8188-5FC5-C77AB8008C49}"/>
              </a:ext>
            </a:extLst>
          </p:cNvPr>
          <p:cNvSpPr/>
          <p:nvPr/>
        </p:nvSpPr>
        <p:spPr>
          <a:xfrm>
            <a:off x="9952767" y="980728"/>
            <a:ext cx="391705" cy="720080"/>
          </a:xfrm>
          <a:prstGeom prst="lightningBol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itel 101">
            <a:extLst>
              <a:ext uri="{FF2B5EF4-FFF2-40B4-BE49-F238E27FC236}">
                <a16:creationId xmlns:a16="http://schemas.microsoft.com/office/drawing/2014/main" id="{8A7DF3A9-3AAE-DA8C-5BA9-8A3C46CB318B}"/>
              </a:ext>
            </a:extLst>
          </p:cNvPr>
          <p:cNvSpPr txBox="1">
            <a:spLocks/>
          </p:cNvSpPr>
          <p:nvPr/>
        </p:nvSpPr>
        <p:spPr bwMode="auto">
          <a:xfrm>
            <a:off x="432000" y="5723958"/>
            <a:ext cx="11228917" cy="45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de-DE" b="0" dirty="0">
                <a:solidFill>
                  <a:schemeClr val="bg1"/>
                </a:solidFill>
                <a:sym typeface="Wingdings" panose="05000000000000000000" pitchFamily="2" charset="2"/>
              </a:rPr>
              <a:t>Erkenntnis: Sobald die Mehrheit der Teilnehmer einen Wert </a:t>
            </a:r>
            <a:r>
              <a:rPr lang="de-DE" b="0" dirty="0" err="1">
                <a:solidFill>
                  <a:schemeClr val="bg1"/>
                </a:solidFill>
                <a:sym typeface="Wingdings" panose="05000000000000000000" pitchFamily="2" charset="2"/>
              </a:rPr>
              <a:t>prepared</a:t>
            </a:r>
            <a:r>
              <a:rPr lang="de-DE" b="0" dirty="0">
                <a:solidFill>
                  <a:schemeClr val="bg1"/>
                </a:solidFill>
                <a:sym typeface="Wingdings" panose="05000000000000000000" pitchFamily="2" charset="2"/>
              </a:rPr>
              <a:t> hat, soll dieser als gewählt betrachtet werden. Hierbei darf es zu keinem Unentschieden kommen.</a:t>
            </a:r>
            <a:endParaRPr lang="de-DE" b="0" dirty="0">
              <a:solidFill>
                <a:schemeClr val="bg1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F7ABA52-F9E2-C5A1-0B8C-A22A5E4A13CB}"/>
              </a:ext>
            </a:extLst>
          </p:cNvPr>
          <p:cNvSpPr/>
          <p:nvPr/>
        </p:nvSpPr>
        <p:spPr>
          <a:xfrm>
            <a:off x="6240016" y="188640"/>
            <a:ext cx="1593405" cy="80716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KONSENS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4E6B873-5481-5094-8D47-55118BDA72A5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CEF36DA-3EB0-4109-61C3-2EFF99AACB47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1FFE017-7510-1DD3-28DD-80D47444BB5A}"/>
              </a:ext>
            </a:extLst>
          </p:cNvPr>
          <p:cNvSpPr txBox="1"/>
          <p:nvPr/>
        </p:nvSpPr>
        <p:spPr>
          <a:xfrm>
            <a:off x="1641820" y="411171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139C45C-7EF7-5171-F3F4-831454E1BF65}"/>
              </a:ext>
            </a:extLst>
          </p:cNvPr>
          <p:cNvSpPr txBox="1"/>
          <p:nvPr/>
        </p:nvSpPr>
        <p:spPr>
          <a:xfrm>
            <a:off x="7733865" y="410547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B365FB7-C5D1-8BDC-6178-875331E9FA97}"/>
              </a:ext>
            </a:extLst>
          </p:cNvPr>
          <p:cNvSpPr txBox="1"/>
          <p:nvPr/>
        </p:nvSpPr>
        <p:spPr>
          <a:xfrm>
            <a:off x="-64390" y="390242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</p:spTree>
    <p:extLst>
      <p:ext uri="{BB962C8B-B14F-4D97-AF65-F5344CB8AC3E}">
        <p14:creationId xmlns:p14="http://schemas.microsoft.com/office/powerpoint/2010/main" val="1134468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38</a:t>
            </a:fld>
            <a:endParaRPr lang="de-DE" altLang="de-DE" dirty="0"/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Metadaten – </a:t>
            </a:r>
            <a:r>
              <a:rPr lang="de-DE" b="0" dirty="0" err="1"/>
              <a:t>Proposal</a:t>
            </a:r>
            <a:r>
              <a:rPr lang="de-DE" b="0" dirty="0"/>
              <a:t>-ID</a:t>
            </a:r>
          </a:p>
        </p:txBody>
      </p:sp>
      <p:pic>
        <p:nvPicPr>
          <p:cNvPr id="19" name="Grafik 1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F7ED63BC-BB03-9818-C1BB-A85BCFA5B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575" y="1755924"/>
            <a:ext cx="466089" cy="466089"/>
          </a:xfrm>
          <a:prstGeom prst="rect">
            <a:avLst/>
          </a:prstGeom>
        </p:spPr>
      </p:pic>
      <p:pic>
        <p:nvPicPr>
          <p:cNvPr id="20" name="Grafik 1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A6F82A13-5EBF-FFEB-D65C-5E95E0B29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10" y="1723313"/>
            <a:ext cx="466089" cy="466089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D7333788-A4C5-5DDB-B934-04F4F21ED291}"/>
              </a:ext>
            </a:extLst>
          </p:cNvPr>
          <p:cNvSpPr txBox="1"/>
          <p:nvPr/>
        </p:nvSpPr>
        <p:spPr>
          <a:xfrm>
            <a:off x="284550" y="2244809"/>
            <a:ext cx="1755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 err="1"/>
              <a:t>proposalId</a:t>
            </a:r>
            <a:r>
              <a:rPr lang="de-DE" dirty="0"/>
              <a:t> 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D02E9DA-0488-7D0C-E89D-3336D9AF6707}"/>
              </a:ext>
            </a:extLst>
          </p:cNvPr>
          <p:cNvSpPr txBox="1"/>
          <p:nvPr/>
        </p:nvSpPr>
        <p:spPr>
          <a:xfrm>
            <a:off x="3687815" y="2251703"/>
            <a:ext cx="1755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  <a:p>
            <a:pPr algn="ctr"/>
            <a:r>
              <a:rPr lang="de-DE" dirty="0" err="1"/>
              <a:t>proposalId</a:t>
            </a:r>
            <a:r>
              <a:rPr lang="de-DE" dirty="0"/>
              <a:t> 1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41155755-06A5-64BC-325D-2F23EB0E9E13}"/>
              </a:ext>
            </a:extLst>
          </p:cNvPr>
          <p:cNvCxnSpPr/>
          <p:nvPr/>
        </p:nvCxnSpPr>
        <p:spPr>
          <a:xfrm>
            <a:off x="2599363" y="2607037"/>
            <a:ext cx="288032" cy="1768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96CA441D-AAF6-1003-F5AE-88D49BE7C1F5}"/>
              </a:ext>
            </a:extLst>
          </p:cNvPr>
          <p:cNvCxnSpPr>
            <a:cxnSpLocks/>
          </p:cNvCxnSpPr>
          <p:nvPr/>
        </p:nvCxnSpPr>
        <p:spPr>
          <a:xfrm flipH="1">
            <a:off x="2606294" y="2783874"/>
            <a:ext cx="286049" cy="1884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7572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39</a:t>
            </a:fld>
            <a:endParaRPr lang="de-DE" altLang="de-DE" dirty="0"/>
          </a:p>
        </p:txBody>
      </p: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176" y="172331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575" y="1755924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10" y="1723313"/>
            <a:ext cx="466089" cy="466089"/>
          </a:xfrm>
          <a:prstGeom prst="rect">
            <a:avLst/>
          </a:prstGeom>
        </p:spPr>
      </p:pic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Metadaten – </a:t>
            </a:r>
            <a:r>
              <a:rPr lang="de-DE" b="0" dirty="0" err="1"/>
              <a:t>Proposal</a:t>
            </a:r>
            <a:r>
              <a:rPr lang="de-DE" b="0" dirty="0"/>
              <a:t>-ID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1E9035A-529C-F62A-3E44-384AB9838EC6}"/>
              </a:ext>
            </a:extLst>
          </p:cNvPr>
          <p:cNvSpPr txBox="1"/>
          <p:nvPr/>
        </p:nvSpPr>
        <p:spPr>
          <a:xfrm>
            <a:off x="284550" y="2244809"/>
            <a:ext cx="1755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 err="1"/>
              <a:t>proposalId</a:t>
            </a:r>
            <a:r>
              <a:rPr lang="de-DE" dirty="0"/>
              <a:t> 2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5AF8D1C-13E1-6FA1-7889-977149D0FDF6}"/>
              </a:ext>
            </a:extLst>
          </p:cNvPr>
          <p:cNvSpPr txBox="1"/>
          <p:nvPr/>
        </p:nvSpPr>
        <p:spPr>
          <a:xfrm>
            <a:off x="3687815" y="2251703"/>
            <a:ext cx="1755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  <a:p>
            <a:pPr algn="ctr"/>
            <a:r>
              <a:rPr lang="de-DE" dirty="0" err="1"/>
              <a:t>proposalId</a:t>
            </a:r>
            <a:r>
              <a:rPr lang="de-DE" dirty="0"/>
              <a:t> 1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EFDFBAC-0065-E8CC-00B7-CF1D12301632}"/>
              </a:ext>
            </a:extLst>
          </p:cNvPr>
          <p:cNvCxnSpPr/>
          <p:nvPr/>
        </p:nvCxnSpPr>
        <p:spPr>
          <a:xfrm>
            <a:off x="2599363" y="2607037"/>
            <a:ext cx="288032" cy="1768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C60C2B40-E264-C15C-26AE-820707D3BE0F}"/>
              </a:ext>
            </a:extLst>
          </p:cNvPr>
          <p:cNvCxnSpPr>
            <a:cxnSpLocks/>
          </p:cNvCxnSpPr>
          <p:nvPr/>
        </p:nvCxnSpPr>
        <p:spPr>
          <a:xfrm flipH="1">
            <a:off x="2606294" y="2783874"/>
            <a:ext cx="286049" cy="1884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902B651-9C9C-3305-6C45-B2B15CAD9E8F}"/>
              </a:ext>
            </a:extLst>
          </p:cNvPr>
          <p:cNvCxnSpPr>
            <a:cxnSpLocks/>
          </p:cNvCxnSpPr>
          <p:nvPr/>
        </p:nvCxnSpPr>
        <p:spPr>
          <a:xfrm>
            <a:off x="6600056" y="2708920"/>
            <a:ext cx="2929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52C81FCB-802B-3A88-2502-D2C2653CA6E6}"/>
              </a:ext>
            </a:extLst>
          </p:cNvPr>
          <p:cNvCxnSpPr>
            <a:cxnSpLocks/>
          </p:cNvCxnSpPr>
          <p:nvPr/>
        </p:nvCxnSpPr>
        <p:spPr>
          <a:xfrm flipH="1">
            <a:off x="6600056" y="2885757"/>
            <a:ext cx="2929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A2491F84-712E-744A-F295-5C59298C0AD9}"/>
              </a:ext>
            </a:extLst>
          </p:cNvPr>
          <p:cNvSpPr txBox="1"/>
          <p:nvPr/>
        </p:nvSpPr>
        <p:spPr>
          <a:xfrm>
            <a:off x="7694416" y="2251703"/>
            <a:ext cx="1755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Prepared</a:t>
            </a:r>
            <a:endParaRPr lang="de-DE" dirty="0"/>
          </a:p>
          <a:p>
            <a:pPr algn="ctr"/>
            <a:r>
              <a:rPr lang="de-DE" dirty="0"/>
              <a:t>„Kohl“</a:t>
            </a:r>
          </a:p>
          <a:p>
            <a:pPr algn="ctr"/>
            <a:r>
              <a:rPr lang="de-DE" dirty="0" err="1"/>
              <a:t>proposalId</a:t>
            </a:r>
            <a:r>
              <a:rPr lang="de-DE" dirty="0"/>
              <a:t> 1</a:t>
            </a:r>
          </a:p>
        </p:txBody>
      </p:sp>
      <p:sp>
        <p:nvSpPr>
          <p:cNvPr id="10" name="Gewitterblitz 9">
            <a:extLst>
              <a:ext uri="{FF2B5EF4-FFF2-40B4-BE49-F238E27FC236}">
                <a16:creationId xmlns:a16="http://schemas.microsoft.com/office/drawing/2014/main" id="{6A875AE3-599E-75EE-F62F-6E4EEF9A028F}"/>
              </a:ext>
            </a:extLst>
          </p:cNvPr>
          <p:cNvSpPr/>
          <p:nvPr/>
        </p:nvSpPr>
        <p:spPr>
          <a:xfrm>
            <a:off x="10056440" y="1556792"/>
            <a:ext cx="864096" cy="1872208"/>
          </a:xfrm>
          <a:prstGeom prst="lightningBol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itel 101">
            <a:extLst>
              <a:ext uri="{FF2B5EF4-FFF2-40B4-BE49-F238E27FC236}">
                <a16:creationId xmlns:a16="http://schemas.microsoft.com/office/drawing/2014/main" id="{03B8D79D-4862-CEC2-E3CD-FF66D222A06D}"/>
              </a:ext>
            </a:extLst>
          </p:cNvPr>
          <p:cNvSpPr txBox="1">
            <a:spLocks/>
          </p:cNvSpPr>
          <p:nvPr/>
        </p:nvSpPr>
        <p:spPr bwMode="auto">
          <a:xfrm>
            <a:off x="432000" y="5317230"/>
            <a:ext cx="11228917" cy="476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de-DE" b="0" dirty="0">
                <a:sym typeface="Wingdings" panose="05000000000000000000" pitchFamily="2" charset="2"/>
              </a:rPr>
              <a:t> Die höhere ID darf nur gewinnen, wenn sie auch die Mehrheit hat</a:t>
            </a:r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2139023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40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endParaRPr lang="de-DE" sz="2400" dirty="0"/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DBC9FD6-86C3-B30F-B52C-A1DEFDF30E8A}"/>
              </a:ext>
            </a:extLst>
          </p:cNvPr>
          <p:cNvCxnSpPr>
            <a:cxnSpLocks/>
          </p:cNvCxnSpPr>
          <p:nvPr/>
        </p:nvCxnSpPr>
        <p:spPr>
          <a:xfrm>
            <a:off x="8600231" y="2645522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endParaRPr lang="de-DE" sz="2400" dirty="0"/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553064" y="221075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latin typeface="+mn-lt"/>
                <a:cs typeface="Helvetica" panose="020B0604020202020204" pitchFamily="34" charset="0"/>
              </a:rPr>
              <a:t>ProposalId</a:t>
            </a:r>
            <a:endParaRPr lang="de-DE" dirty="0">
              <a:latin typeface="+mn-lt"/>
              <a:cs typeface="Helvetica" panose="020B0604020202020204" pitchFamily="34" charset="0"/>
            </a:endParaRP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362429" y="2740697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ProposalId</a:t>
            </a:r>
            <a:endParaRPr lang="de-DE" dirty="0"/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595056" y="5229200"/>
            <a:ext cx="1855952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Generate </a:t>
            </a:r>
            <a:r>
              <a:rPr lang="de-DE" dirty="0" err="1"/>
              <a:t>proposalId</a:t>
            </a:r>
            <a:r>
              <a:rPr lang="de-DE" dirty="0"/>
              <a:t>. Send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096000" y="5076809"/>
            <a:ext cx="2145667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Send </a:t>
            </a:r>
            <a:r>
              <a:rPr lang="de-DE" dirty="0" err="1"/>
              <a:t>preparedValue</a:t>
            </a:r>
            <a:r>
              <a:rPr lang="de-DE" dirty="0"/>
              <a:t> „Value“, </a:t>
            </a:r>
            <a:r>
              <a:rPr lang="de-DE" dirty="0" err="1"/>
              <a:t>proposalId</a:t>
            </a:r>
            <a:r>
              <a:rPr lang="de-DE" dirty="0"/>
              <a:t> „</a:t>
            </a:r>
            <a:r>
              <a:rPr lang="de-DE" dirty="0" err="1"/>
              <a:t>id</a:t>
            </a:r>
            <a:r>
              <a:rPr lang="de-DE" dirty="0"/>
              <a:t>“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30762" y="5074038"/>
            <a:ext cx="2947022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 </a:t>
            </a:r>
            <a:r>
              <a:rPr lang="de-DE" dirty="0" err="1"/>
              <a:t>preparedValue</a:t>
            </a:r>
            <a:r>
              <a:rPr lang="de-DE" dirty="0"/>
              <a:t> and </a:t>
            </a:r>
            <a:r>
              <a:rPr lang="de-DE" dirty="0" err="1"/>
              <a:t>preparedProposalId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incoming</a:t>
            </a:r>
            <a:r>
              <a:rPr lang="de-DE" dirty="0"/>
              <a:t> </a:t>
            </a:r>
            <a:r>
              <a:rPr lang="de-DE" dirty="0" err="1"/>
              <a:t>proposalId</a:t>
            </a:r>
            <a:r>
              <a:rPr lang="de-DE" dirty="0"/>
              <a:t> &gt;= </a:t>
            </a:r>
            <a:r>
              <a:rPr lang="de-DE" dirty="0" err="1"/>
              <a:t>minProposalId</a:t>
            </a:r>
            <a:endParaRPr lang="de-DE" dirty="0"/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cxnSpLocks/>
            <a:stCxn id="87" idx="3"/>
            <a:endCxn id="36" idx="1"/>
          </p:cNvCxnSpPr>
          <p:nvPr/>
        </p:nvCxnSpPr>
        <p:spPr>
          <a:xfrm>
            <a:off x="2451008" y="5629549"/>
            <a:ext cx="551195" cy="7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968167" y="5628549"/>
            <a:ext cx="1127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 flipV="1">
            <a:off x="8241667" y="5625778"/>
            <a:ext cx="689095" cy="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699507" y="6122246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492913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64594" y="5992852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 err="1"/>
              <a:t>Proposal</a:t>
            </a:r>
            <a:r>
              <a:rPr lang="de-DE" b="0" dirty="0"/>
              <a:t> ID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129C003-8998-85B7-029D-02B9034BCA2F}"/>
              </a:ext>
            </a:extLst>
          </p:cNvPr>
          <p:cNvSpPr/>
          <p:nvPr/>
        </p:nvSpPr>
        <p:spPr>
          <a:xfrm>
            <a:off x="3002203" y="5094435"/>
            <a:ext cx="2305335" cy="108495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Maintain</a:t>
            </a:r>
            <a:r>
              <a:rPr lang="de-DE" dirty="0"/>
              <a:t> </a:t>
            </a:r>
            <a:r>
              <a:rPr lang="de-DE" dirty="0" err="1"/>
              <a:t>minProposalId</a:t>
            </a:r>
            <a:r>
              <a:rPr lang="de-DE" dirty="0"/>
              <a:t>. </a:t>
            </a:r>
            <a:r>
              <a:rPr lang="de-DE" dirty="0" err="1"/>
              <a:t>Bump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incoming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higher</a:t>
            </a:r>
            <a:endParaRPr lang="de-DE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0CCB1BF-6597-ADD4-CA78-E8860E7B5329}"/>
              </a:ext>
            </a:extLst>
          </p:cNvPr>
          <p:cNvSpPr txBox="1"/>
          <p:nvPr/>
        </p:nvSpPr>
        <p:spPr>
          <a:xfrm>
            <a:off x="3448700" y="6122246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F3CE7E4-1DEF-5E42-9713-ACD1CC3CE9BB}"/>
              </a:ext>
            </a:extLst>
          </p:cNvPr>
          <p:cNvCxnSpPr/>
          <p:nvPr/>
        </p:nvCxnSpPr>
        <p:spPr>
          <a:xfrm>
            <a:off x="10920536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F1A2A8CC-FBBD-C988-4E89-9634856E1798}"/>
              </a:ext>
            </a:extLst>
          </p:cNvPr>
          <p:cNvSpPr txBox="1"/>
          <p:nvPr/>
        </p:nvSpPr>
        <p:spPr>
          <a:xfrm rot="1851188">
            <a:off x="2706215" y="2260350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ProposalId</a:t>
            </a:r>
            <a:endParaRPr lang="de-DE" dirty="0"/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3CA8CE5-0F4E-C3A3-2C26-09DFC60F795B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FB137C-4078-2A04-E8EE-D5593714F609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8E7E1A8-1A87-CA7E-C57B-3E5144DF78F0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8E540E6-D396-5289-02FB-2360A339E9E4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057BE14-0189-61EC-108C-828D9124EE5B}"/>
              </a:ext>
            </a:extLst>
          </p:cNvPr>
          <p:cNvSpPr txBox="1"/>
          <p:nvPr/>
        </p:nvSpPr>
        <p:spPr>
          <a:xfrm>
            <a:off x="1641820" y="411171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FAB5185-5D40-8264-E749-455D0A4B1AC1}"/>
              </a:ext>
            </a:extLst>
          </p:cNvPr>
          <p:cNvSpPr txBox="1"/>
          <p:nvPr/>
        </p:nvSpPr>
        <p:spPr>
          <a:xfrm>
            <a:off x="7733865" y="410547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59267D1-666D-96EF-21F9-E7737B2BAAEE}"/>
              </a:ext>
            </a:extLst>
          </p:cNvPr>
          <p:cNvSpPr txBox="1"/>
          <p:nvPr/>
        </p:nvSpPr>
        <p:spPr>
          <a:xfrm>
            <a:off x="-40608" y="3936706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6F1CA4A-943C-C09B-EDD4-4B493CA34322}"/>
              </a:ext>
            </a:extLst>
          </p:cNvPr>
          <p:cNvSpPr txBox="1"/>
          <p:nvPr/>
        </p:nvSpPr>
        <p:spPr>
          <a:xfrm>
            <a:off x="1638462" y="4423812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C2B86C8C-8C85-DFC6-7360-DA068E75D679}"/>
              </a:ext>
            </a:extLst>
          </p:cNvPr>
          <p:cNvSpPr txBox="1"/>
          <p:nvPr/>
        </p:nvSpPr>
        <p:spPr>
          <a:xfrm>
            <a:off x="3376136" y="3929080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9F4A637-1B41-ACB2-7AA6-CDFD74B3A53F}"/>
              </a:ext>
            </a:extLst>
          </p:cNvPr>
          <p:cNvSpPr txBox="1"/>
          <p:nvPr/>
        </p:nvSpPr>
        <p:spPr>
          <a:xfrm rot="19809520">
            <a:off x="6644131" y="229042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+mn-lt"/>
                <a:cs typeface="Helvetica" panose="020B0604020202020204" pitchFamily="34" charset="0"/>
              </a:rPr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CC31255-F881-C9A8-63EF-2E587F5820BA}"/>
              </a:ext>
            </a:extLst>
          </p:cNvPr>
          <p:cNvSpPr txBox="1"/>
          <p:nvPr/>
        </p:nvSpPr>
        <p:spPr>
          <a:xfrm rot="16200000">
            <a:off x="7453496" y="282036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66C16A7-5782-644F-59F1-B2AB10E422E0}"/>
              </a:ext>
            </a:extLst>
          </p:cNvPr>
          <p:cNvSpPr txBox="1"/>
          <p:nvPr/>
        </p:nvSpPr>
        <p:spPr>
          <a:xfrm rot="1851188">
            <a:off x="8797282" y="234001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AB8570E0-BB7A-C1B4-39F4-2D0A834515CA}"/>
              </a:ext>
            </a:extLst>
          </p:cNvPr>
          <p:cNvSpPr txBox="1"/>
          <p:nvPr/>
        </p:nvSpPr>
        <p:spPr>
          <a:xfrm>
            <a:off x="6060508" y="3930091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35DE6F7A-F970-467C-994E-82737B89CF15}"/>
              </a:ext>
            </a:extLst>
          </p:cNvPr>
          <p:cNvSpPr txBox="1"/>
          <p:nvPr/>
        </p:nvSpPr>
        <p:spPr>
          <a:xfrm>
            <a:off x="7739578" y="4417197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61E574FA-5D8D-4699-1B00-3BCE807C2926}"/>
              </a:ext>
            </a:extLst>
          </p:cNvPr>
          <p:cNvSpPr txBox="1"/>
          <p:nvPr/>
        </p:nvSpPr>
        <p:spPr>
          <a:xfrm>
            <a:off x="9477252" y="392246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  <a:p>
            <a:pPr algn="ctr"/>
            <a:r>
              <a:rPr lang="de-DE" dirty="0"/>
              <a:t>2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54AECD05-C6BF-2757-C2E2-26D5C6E42E40}"/>
              </a:ext>
            </a:extLst>
          </p:cNvPr>
          <p:cNvCxnSpPr>
            <a:cxnSpLocks/>
          </p:cNvCxnSpPr>
          <p:nvPr/>
        </p:nvCxnSpPr>
        <p:spPr>
          <a:xfrm>
            <a:off x="11662443" y="5636914"/>
            <a:ext cx="508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0673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41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endParaRPr lang="de-DE" sz="2400" dirty="0"/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553064" y="221075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latin typeface="+mn-lt"/>
                <a:cs typeface="Helvetica" panose="020B0604020202020204" pitchFamily="34" charset="0"/>
              </a:rPr>
              <a:t>Accept</a:t>
            </a:r>
            <a:endParaRPr lang="de-DE" dirty="0">
              <a:latin typeface="+mn-lt"/>
              <a:cs typeface="Helvetica" panose="020B0604020202020204" pitchFamily="34" charset="0"/>
            </a:endParaRPr>
          </a:p>
          <a:p>
            <a:pPr algn="ctr"/>
            <a:r>
              <a:rPr lang="de-DE" dirty="0">
                <a:latin typeface="+mn-lt"/>
                <a:cs typeface="Helvetica" panose="020B0604020202020204" pitchFamily="34" charset="0"/>
              </a:rPr>
              <a:t>„Adenauer“</a:t>
            </a:r>
            <a:endParaRPr lang="de-DE" dirty="0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362429" y="2740697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2735379" y="5625778"/>
            <a:ext cx="573019" cy="11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3929" y="6121887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 err="1"/>
              <a:t>Proposal</a:t>
            </a:r>
            <a:r>
              <a:rPr lang="de-DE" b="0" dirty="0"/>
              <a:t> ID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129C003-8998-85B7-029D-02B9034BCA2F}"/>
              </a:ext>
            </a:extLst>
          </p:cNvPr>
          <p:cNvSpPr/>
          <p:nvPr/>
        </p:nvSpPr>
        <p:spPr>
          <a:xfrm>
            <a:off x="3308398" y="5274038"/>
            <a:ext cx="1786309" cy="72575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0CCB1BF-6597-ADD4-CA78-E8860E7B5329}"/>
              </a:ext>
            </a:extLst>
          </p:cNvPr>
          <p:cNvSpPr txBox="1"/>
          <p:nvPr/>
        </p:nvSpPr>
        <p:spPr>
          <a:xfrm>
            <a:off x="3517832" y="6121887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1A2A8CC-FBBD-C988-4E89-9634856E1798}"/>
              </a:ext>
            </a:extLst>
          </p:cNvPr>
          <p:cNvSpPr txBox="1"/>
          <p:nvPr/>
        </p:nvSpPr>
        <p:spPr>
          <a:xfrm rot="1851188">
            <a:off x="2706215" y="2260350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3CA8CE5-0F4E-C3A3-2C26-09DFC60F795B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FB137C-4078-2A04-E8EE-D5593714F609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057BE14-0189-61EC-108C-828D9124EE5B}"/>
              </a:ext>
            </a:extLst>
          </p:cNvPr>
          <p:cNvSpPr txBox="1"/>
          <p:nvPr/>
        </p:nvSpPr>
        <p:spPr>
          <a:xfrm>
            <a:off x="1641820" y="411171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59267D1-666D-96EF-21F9-E7737B2BAAEE}"/>
              </a:ext>
            </a:extLst>
          </p:cNvPr>
          <p:cNvSpPr txBox="1"/>
          <p:nvPr/>
        </p:nvSpPr>
        <p:spPr>
          <a:xfrm>
            <a:off x="-40608" y="3936706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6025C41-FDEB-A409-0D59-A3EADDF5408C}"/>
              </a:ext>
            </a:extLst>
          </p:cNvPr>
          <p:cNvCxnSpPr>
            <a:cxnSpLocks/>
          </p:cNvCxnSpPr>
          <p:nvPr/>
        </p:nvCxnSpPr>
        <p:spPr>
          <a:xfrm>
            <a:off x="0" y="3209350"/>
            <a:ext cx="508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A6E23E8-1D22-979C-1CC0-827611AE8DCC}"/>
              </a:ext>
            </a:extLst>
          </p:cNvPr>
          <p:cNvCxnSpPr>
            <a:cxnSpLocks/>
          </p:cNvCxnSpPr>
          <p:nvPr/>
        </p:nvCxnSpPr>
        <p:spPr>
          <a:xfrm>
            <a:off x="0" y="5636914"/>
            <a:ext cx="430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E92C891-A81D-5EC9-0C72-0FD5DBA6A842}"/>
              </a:ext>
            </a:extLst>
          </p:cNvPr>
          <p:cNvSpPr/>
          <p:nvPr/>
        </p:nvSpPr>
        <p:spPr>
          <a:xfrm>
            <a:off x="430044" y="5074038"/>
            <a:ext cx="2305335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majority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„Value“ send ACCEPT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A4E3DD7-0034-9C41-4E3D-364F3C015E46}"/>
              </a:ext>
            </a:extLst>
          </p:cNvPr>
          <p:cNvSpPr txBox="1"/>
          <p:nvPr/>
        </p:nvSpPr>
        <p:spPr>
          <a:xfrm>
            <a:off x="1629365" y="4398371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1271DD1-ED10-5C00-6E42-57D0637CAA91}"/>
              </a:ext>
            </a:extLst>
          </p:cNvPr>
          <p:cNvSpPr txBox="1"/>
          <p:nvPr/>
        </p:nvSpPr>
        <p:spPr>
          <a:xfrm>
            <a:off x="3352815" y="394663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176636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42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endParaRPr lang="de-DE" sz="2400" dirty="0"/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553064" y="221075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latin typeface="+mn-lt"/>
                <a:cs typeface="Helvetica" panose="020B0604020202020204" pitchFamily="34" charset="0"/>
              </a:rPr>
              <a:t>Accept</a:t>
            </a:r>
            <a:endParaRPr lang="de-DE" dirty="0">
              <a:latin typeface="+mn-lt"/>
              <a:cs typeface="Helvetica" panose="020B0604020202020204" pitchFamily="34" charset="0"/>
            </a:endParaRPr>
          </a:p>
          <a:p>
            <a:pPr algn="ctr"/>
            <a:r>
              <a:rPr lang="de-DE" dirty="0">
                <a:latin typeface="+mn-lt"/>
                <a:cs typeface="Helvetica" panose="020B0604020202020204" pitchFamily="34" charset="0"/>
              </a:rPr>
              <a:t>„Adenauer“</a:t>
            </a:r>
            <a:endParaRPr lang="de-DE" dirty="0"/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362429" y="2740697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cxnSpLocks/>
            <a:stCxn id="18" idx="3"/>
            <a:endCxn id="36" idx="1"/>
          </p:cNvCxnSpPr>
          <p:nvPr/>
        </p:nvCxnSpPr>
        <p:spPr>
          <a:xfrm>
            <a:off x="2735379" y="5625778"/>
            <a:ext cx="573019" cy="11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73929" y="6121887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 err="1"/>
              <a:t>Proposal</a:t>
            </a:r>
            <a:r>
              <a:rPr lang="de-DE" b="0" dirty="0"/>
              <a:t> ID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129C003-8998-85B7-029D-02B9034BCA2F}"/>
              </a:ext>
            </a:extLst>
          </p:cNvPr>
          <p:cNvSpPr/>
          <p:nvPr/>
        </p:nvSpPr>
        <p:spPr>
          <a:xfrm>
            <a:off x="3308398" y="5274038"/>
            <a:ext cx="1786309" cy="72575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Learn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 Value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0CCB1BF-6597-ADD4-CA78-E8860E7B5329}"/>
              </a:ext>
            </a:extLst>
          </p:cNvPr>
          <p:cNvSpPr txBox="1"/>
          <p:nvPr/>
        </p:nvSpPr>
        <p:spPr>
          <a:xfrm>
            <a:off x="3517832" y="6121887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1A2A8CC-FBBD-C988-4E89-9634856E1798}"/>
              </a:ext>
            </a:extLst>
          </p:cNvPr>
          <p:cNvSpPr txBox="1"/>
          <p:nvPr/>
        </p:nvSpPr>
        <p:spPr>
          <a:xfrm rot="1851188">
            <a:off x="2706215" y="2260350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</a:t>
            </a:r>
            <a:endParaRPr lang="de-DE" dirty="0"/>
          </a:p>
          <a:p>
            <a:pPr algn="ctr"/>
            <a:r>
              <a:rPr lang="de-DE" dirty="0"/>
              <a:t>„Adenauer“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3CA8CE5-0F4E-C3A3-2C26-09DFC60F795B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FB137C-4078-2A04-E8EE-D5593714F609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057BE14-0189-61EC-108C-828D9124EE5B}"/>
              </a:ext>
            </a:extLst>
          </p:cNvPr>
          <p:cNvSpPr txBox="1"/>
          <p:nvPr/>
        </p:nvSpPr>
        <p:spPr>
          <a:xfrm>
            <a:off x="1641820" y="411171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59267D1-666D-96EF-21F9-E7737B2BAAEE}"/>
              </a:ext>
            </a:extLst>
          </p:cNvPr>
          <p:cNvSpPr txBox="1"/>
          <p:nvPr/>
        </p:nvSpPr>
        <p:spPr>
          <a:xfrm>
            <a:off x="-40608" y="3936706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6025C41-FDEB-A409-0D59-A3EADDF5408C}"/>
              </a:ext>
            </a:extLst>
          </p:cNvPr>
          <p:cNvCxnSpPr>
            <a:cxnSpLocks/>
          </p:cNvCxnSpPr>
          <p:nvPr/>
        </p:nvCxnSpPr>
        <p:spPr>
          <a:xfrm>
            <a:off x="0" y="3209350"/>
            <a:ext cx="508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A6E23E8-1D22-979C-1CC0-827611AE8DCC}"/>
              </a:ext>
            </a:extLst>
          </p:cNvPr>
          <p:cNvCxnSpPr>
            <a:cxnSpLocks/>
          </p:cNvCxnSpPr>
          <p:nvPr/>
        </p:nvCxnSpPr>
        <p:spPr>
          <a:xfrm>
            <a:off x="0" y="5636914"/>
            <a:ext cx="430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E92C891-A81D-5EC9-0C72-0FD5DBA6A842}"/>
              </a:ext>
            </a:extLst>
          </p:cNvPr>
          <p:cNvSpPr/>
          <p:nvPr/>
        </p:nvSpPr>
        <p:spPr>
          <a:xfrm>
            <a:off x="430044" y="5074038"/>
            <a:ext cx="2305335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majority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prepared</a:t>
            </a:r>
            <a:r>
              <a:rPr lang="de-DE" dirty="0"/>
              <a:t> „Value“ send ACCEPT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A4E3DD7-0034-9C41-4E3D-364F3C015E46}"/>
              </a:ext>
            </a:extLst>
          </p:cNvPr>
          <p:cNvSpPr txBox="1"/>
          <p:nvPr/>
        </p:nvSpPr>
        <p:spPr>
          <a:xfrm>
            <a:off x="1629365" y="4398371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1271DD1-ED10-5C00-6E42-57D0637CAA91}"/>
              </a:ext>
            </a:extLst>
          </p:cNvPr>
          <p:cNvSpPr txBox="1"/>
          <p:nvPr/>
        </p:nvSpPr>
        <p:spPr>
          <a:xfrm>
            <a:off x="3352815" y="394663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2E8E825B-0B13-4FF5-2B73-62647EC1D962}"/>
              </a:ext>
            </a:extLst>
          </p:cNvPr>
          <p:cNvCxnSpPr>
            <a:cxnSpLocks/>
          </p:cNvCxnSpPr>
          <p:nvPr/>
        </p:nvCxnSpPr>
        <p:spPr>
          <a:xfrm flipH="1" flipV="1">
            <a:off x="9356940" y="2483673"/>
            <a:ext cx="987532" cy="54746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1F5BDC6-D58F-F291-014D-E0E4AFA34C0A}"/>
              </a:ext>
            </a:extLst>
          </p:cNvPr>
          <p:cNvCxnSpPr>
            <a:cxnSpLocks/>
          </p:cNvCxnSpPr>
          <p:nvPr/>
        </p:nvCxnSpPr>
        <p:spPr>
          <a:xfrm flipH="1">
            <a:off x="9331927" y="3429000"/>
            <a:ext cx="1012545" cy="42025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8877E98-1B37-8DFB-9DAE-EAD7A87C3D7A}"/>
              </a:ext>
            </a:extLst>
          </p:cNvPr>
          <p:cNvCxnSpPr>
            <a:cxnSpLocks/>
          </p:cNvCxnSpPr>
          <p:nvPr/>
        </p:nvCxnSpPr>
        <p:spPr>
          <a:xfrm flipH="1" flipV="1">
            <a:off x="7680176" y="3242264"/>
            <a:ext cx="2594757" cy="13322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fik 14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493DD47D-0F15-6CB8-8A25-FC6D869FF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824" y="1950958"/>
            <a:ext cx="466089" cy="466089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BA65C219-3133-3A98-7E19-E57EBC85CD9F}"/>
              </a:ext>
            </a:extLst>
          </p:cNvPr>
          <p:cNvSpPr txBox="1"/>
          <p:nvPr/>
        </p:nvSpPr>
        <p:spPr>
          <a:xfrm>
            <a:off x="8129203" y="155184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endParaRPr lang="de-DE" sz="2400" dirty="0"/>
          </a:p>
        </p:txBody>
      </p:sp>
      <p:pic>
        <p:nvPicPr>
          <p:cNvPr id="19" name="Grafik 1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5F65F35-65C1-2DFB-9478-B88D28E91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369" y="3674631"/>
            <a:ext cx="466089" cy="466089"/>
          </a:xfrm>
          <a:prstGeom prst="rect">
            <a:avLst/>
          </a:prstGeom>
        </p:spPr>
      </p:pic>
      <p:pic>
        <p:nvPicPr>
          <p:cNvPr id="20" name="Grafik 1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9815D8D0-2EBE-FC16-E4C2-645CBBD6A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3564" y="3171339"/>
            <a:ext cx="466089" cy="466089"/>
          </a:xfrm>
          <a:prstGeom prst="rect">
            <a:avLst/>
          </a:prstGeom>
        </p:spPr>
      </p:pic>
      <p:pic>
        <p:nvPicPr>
          <p:cNvPr id="23" name="Grafik 22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46EB52EF-2C0C-9D1D-3637-6D7BB0AA2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299" y="3138728"/>
            <a:ext cx="466089" cy="466089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FD2F2D82-63C7-5F39-036C-0F44F2B17495}"/>
              </a:ext>
            </a:extLst>
          </p:cNvPr>
          <p:cNvSpPr txBox="1"/>
          <p:nvPr/>
        </p:nvSpPr>
        <p:spPr>
          <a:xfrm>
            <a:off x="6420421" y="3636060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8FC7B27-2995-61C8-6DC8-BD8BB5AC7F3B}"/>
              </a:ext>
            </a:extLst>
          </p:cNvPr>
          <p:cNvSpPr txBox="1"/>
          <p:nvPr/>
        </p:nvSpPr>
        <p:spPr>
          <a:xfrm>
            <a:off x="9799406" y="360529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r>
              <a:rPr lang="de-DE" sz="2400" dirty="0"/>
              <a:t> 2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EAEA853E-F8CB-E172-BDA5-EE6837877EC9}"/>
              </a:ext>
            </a:extLst>
          </p:cNvPr>
          <p:cNvSpPr txBox="1"/>
          <p:nvPr/>
        </p:nvSpPr>
        <p:spPr>
          <a:xfrm>
            <a:off x="8097064" y="4106767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C48F504D-5769-5A2E-88BC-CF77518F9844}"/>
              </a:ext>
            </a:extLst>
          </p:cNvPr>
          <p:cNvSpPr txBox="1"/>
          <p:nvPr/>
        </p:nvSpPr>
        <p:spPr>
          <a:xfrm>
            <a:off x="6414636" y="393176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68F83DF7-1B48-57DD-2BCE-AF7878C9B614}"/>
              </a:ext>
            </a:extLst>
          </p:cNvPr>
          <p:cNvSpPr txBox="1"/>
          <p:nvPr/>
        </p:nvSpPr>
        <p:spPr>
          <a:xfrm>
            <a:off x="8084609" y="4393427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35A15B3F-AD2D-83EB-6F19-E8DD9A7AD2B5}"/>
              </a:ext>
            </a:extLst>
          </p:cNvPr>
          <p:cNvSpPr txBox="1"/>
          <p:nvPr/>
        </p:nvSpPr>
        <p:spPr>
          <a:xfrm>
            <a:off x="9808059" y="394168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0" name="Multiplikationszeichen 39">
            <a:extLst>
              <a:ext uri="{FF2B5EF4-FFF2-40B4-BE49-F238E27FC236}">
                <a16:creationId xmlns:a16="http://schemas.microsoft.com/office/drawing/2014/main" id="{396ABF8C-B4E8-633F-C0E3-007903DDAEBA}"/>
              </a:ext>
            </a:extLst>
          </p:cNvPr>
          <p:cNvSpPr/>
          <p:nvPr/>
        </p:nvSpPr>
        <p:spPr>
          <a:xfrm>
            <a:off x="8559785" y="1786360"/>
            <a:ext cx="797155" cy="797155"/>
          </a:xfrm>
          <a:prstGeom prst="mathMultiply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129C0608-EBC4-26F3-8481-4A96907261B9}"/>
              </a:ext>
            </a:extLst>
          </p:cNvPr>
          <p:cNvSpPr txBox="1"/>
          <p:nvPr/>
        </p:nvSpPr>
        <p:spPr>
          <a:xfrm>
            <a:off x="7958746" y="260925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+mn-lt"/>
                <a:cs typeface="Helvetica" panose="020B0604020202020204" pitchFamily="34" charset="0"/>
              </a:rPr>
              <a:t>„Brandt“</a:t>
            </a:r>
          </a:p>
          <a:p>
            <a:pPr algn="ctr"/>
            <a:r>
              <a:rPr lang="de-DE" dirty="0">
                <a:latin typeface="+mn-lt"/>
                <a:cs typeface="Helvetica" panose="020B0604020202020204" pitchFamily="34" charset="0"/>
              </a:rPr>
              <a:t>3</a:t>
            </a:r>
            <a:endParaRPr lang="de-DE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8D52AD1B-050D-2DE6-D095-A581B4DA5C21}"/>
              </a:ext>
            </a:extLst>
          </p:cNvPr>
          <p:cNvSpPr txBox="1"/>
          <p:nvPr/>
        </p:nvSpPr>
        <p:spPr>
          <a:xfrm rot="1696537">
            <a:off x="9151610" y="2254320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+mn-lt"/>
                <a:cs typeface="Helvetica" panose="020B0604020202020204" pitchFamily="34" charset="0"/>
              </a:rPr>
              <a:t>„Brandt“</a:t>
            </a:r>
          </a:p>
          <a:p>
            <a:pPr algn="ctr"/>
            <a:r>
              <a:rPr lang="de-DE" dirty="0">
                <a:latin typeface="+mn-lt"/>
                <a:cs typeface="Helvetica" panose="020B0604020202020204" pitchFamily="34" charset="0"/>
              </a:rPr>
              <a:t>3</a:t>
            </a:r>
            <a:endParaRPr lang="de-DE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C37CF31D-9247-FC5E-8553-B23F5C512E12}"/>
              </a:ext>
            </a:extLst>
          </p:cNvPr>
          <p:cNvSpPr txBox="1"/>
          <p:nvPr/>
        </p:nvSpPr>
        <p:spPr>
          <a:xfrm rot="20284374">
            <a:off x="8904425" y="332910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+mn-lt"/>
                <a:cs typeface="Helvetica" panose="020B0604020202020204" pitchFamily="34" charset="0"/>
              </a:rPr>
              <a:t>„Brandt“</a:t>
            </a:r>
          </a:p>
          <a:p>
            <a:pPr algn="ctr"/>
            <a:r>
              <a:rPr lang="de-DE" dirty="0">
                <a:latin typeface="+mn-lt"/>
                <a:cs typeface="Helvetica" panose="020B0604020202020204" pitchFamily="34" charset="0"/>
              </a:rPr>
              <a:t>3</a:t>
            </a:r>
            <a:endParaRPr lang="de-DE" dirty="0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E77D7684-1A49-F414-B4B8-E545A26CDEA6}"/>
              </a:ext>
            </a:extLst>
          </p:cNvPr>
          <p:cNvSpPr/>
          <p:nvPr/>
        </p:nvSpPr>
        <p:spPr>
          <a:xfrm>
            <a:off x="6240016" y="188640"/>
            <a:ext cx="1593405" cy="80716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UNSAFE</a:t>
            </a:r>
          </a:p>
        </p:txBody>
      </p:sp>
    </p:spTree>
    <p:extLst>
      <p:ext uri="{BB962C8B-B14F-4D97-AF65-F5344CB8AC3E}">
        <p14:creationId xmlns:p14="http://schemas.microsoft.com/office/powerpoint/2010/main" val="34884476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43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>
            <a:off x="2876683" y="2526726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>
            <a:off x="2507169" y="2612455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H="1">
            <a:off x="1065835" y="2488617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endParaRPr lang="de-DE" sz="2400" dirty="0"/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5B0B02DD-84CA-3016-0AF8-C5568167D873}"/>
              </a:ext>
            </a:extLst>
          </p:cNvPr>
          <p:cNvCxnSpPr>
            <a:cxnSpLocks/>
          </p:cNvCxnSpPr>
          <p:nvPr/>
        </p:nvCxnSpPr>
        <p:spPr>
          <a:xfrm>
            <a:off x="8969745" y="2559793"/>
            <a:ext cx="1121572" cy="64955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DBC9FD6-86C3-B30F-B52C-A1DEFDF30E8A}"/>
              </a:ext>
            </a:extLst>
          </p:cNvPr>
          <p:cNvCxnSpPr>
            <a:cxnSpLocks/>
          </p:cNvCxnSpPr>
          <p:nvPr/>
        </p:nvCxnSpPr>
        <p:spPr>
          <a:xfrm>
            <a:off x="8600231" y="2645522"/>
            <a:ext cx="0" cy="997306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A4E9FE2D-AA23-A453-B0B5-3BE3EAC7B1B8}"/>
              </a:ext>
            </a:extLst>
          </p:cNvPr>
          <p:cNvCxnSpPr>
            <a:cxnSpLocks/>
          </p:cNvCxnSpPr>
          <p:nvPr/>
        </p:nvCxnSpPr>
        <p:spPr>
          <a:xfrm flipH="1">
            <a:off x="7158897" y="2521684"/>
            <a:ext cx="1063453" cy="622303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Grafik 6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6DA77E25-8B8D-448C-05E2-4D7C3A835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642" y="1988969"/>
            <a:ext cx="466089" cy="466089"/>
          </a:xfrm>
          <a:prstGeom prst="rect">
            <a:avLst/>
          </a:prstGeom>
        </p:spPr>
      </p:pic>
      <p:sp>
        <p:nvSpPr>
          <p:cNvPr id="69" name="Textfeld 68">
            <a:extLst>
              <a:ext uri="{FF2B5EF4-FFF2-40B4-BE49-F238E27FC236}">
                <a16:creationId xmlns:a16="http://schemas.microsoft.com/office/drawing/2014/main" id="{1D0E2FE9-409A-AD8E-0901-B24180F41CE9}"/>
              </a:ext>
            </a:extLst>
          </p:cNvPr>
          <p:cNvSpPr txBox="1"/>
          <p:nvPr/>
        </p:nvSpPr>
        <p:spPr>
          <a:xfrm>
            <a:off x="7767021" y="158985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endParaRPr lang="de-DE" sz="2400" dirty="0"/>
          </a:p>
        </p:txBody>
      </p:sp>
      <p:pic>
        <p:nvPicPr>
          <p:cNvPr id="70" name="Grafik 6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702267D-C639-C3CC-2EC9-AD8188778B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87" y="3712642"/>
            <a:ext cx="466089" cy="466089"/>
          </a:xfrm>
          <a:prstGeom prst="rect">
            <a:avLst/>
          </a:prstGeom>
        </p:spPr>
      </p:pic>
      <p:pic>
        <p:nvPicPr>
          <p:cNvPr id="71" name="Grafik 70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7C297477-E126-B5C5-7DBE-5DF1A73E8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382" y="3209350"/>
            <a:ext cx="466089" cy="466089"/>
          </a:xfrm>
          <a:prstGeom prst="rect">
            <a:avLst/>
          </a:prstGeom>
        </p:spPr>
      </p:pic>
      <p:pic>
        <p:nvPicPr>
          <p:cNvPr id="72" name="Grafik 71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3E589836-5C09-F982-1414-B75295B1D5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117" y="3176739"/>
            <a:ext cx="466089" cy="466089"/>
          </a:xfrm>
          <a:prstGeom prst="rect">
            <a:avLst/>
          </a:prstGeom>
        </p:spPr>
      </p:pic>
      <p:sp>
        <p:nvSpPr>
          <p:cNvPr id="79" name="Textfeld 78">
            <a:extLst>
              <a:ext uri="{FF2B5EF4-FFF2-40B4-BE49-F238E27FC236}">
                <a16:creationId xmlns:a16="http://schemas.microsoft.com/office/drawing/2014/main" id="{69078CBA-FFD0-6909-A704-7765858E593F}"/>
              </a:ext>
            </a:extLst>
          </p:cNvPr>
          <p:cNvSpPr txBox="1"/>
          <p:nvPr/>
        </p:nvSpPr>
        <p:spPr>
          <a:xfrm rot="19809520">
            <a:off x="553064" y="221075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latin typeface="+mn-lt"/>
                <a:cs typeface="Helvetica" panose="020B0604020202020204" pitchFamily="34" charset="0"/>
              </a:rPr>
              <a:t>ProposalId</a:t>
            </a:r>
            <a:endParaRPr lang="de-DE" dirty="0">
              <a:latin typeface="+mn-lt"/>
              <a:cs typeface="Helvetica" panose="020B0604020202020204" pitchFamily="34" charset="0"/>
            </a:endParaRP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124FBCA-0D8B-B634-DB8E-5246E1B6EEBF}"/>
              </a:ext>
            </a:extLst>
          </p:cNvPr>
          <p:cNvSpPr txBox="1"/>
          <p:nvPr/>
        </p:nvSpPr>
        <p:spPr>
          <a:xfrm rot="16200000">
            <a:off x="1362429" y="2740697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ProposalId</a:t>
            </a:r>
            <a:endParaRPr lang="de-DE" dirty="0"/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E2CC353B-64CD-27A7-DE4C-DA49D7F3215D}"/>
              </a:ext>
            </a:extLst>
          </p:cNvPr>
          <p:cNvSpPr/>
          <p:nvPr/>
        </p:nvSpPr>
        <p:spPr>
          <a:xfrm>
            <a:off x="595056" y="5229200"/>
            <a:ext cx="1855952" cy="80069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Generate </a:t>
            </a:r>
            <a:r>
              <a:rPr lang="de-DE" dirty="0" err="1"/>
              <a:t>proposalId</a:t>
            </a:r>
            <a:r>
              <a:rPr lang="de-DE" dirty="0"/>
              <a:t>. Send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Acceptors</a:t>
            </a:r>
            <a:endParaRPr lang="de-DE" dirty="0"/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2C87B542-DF47-A45C-A197-FB32CD9F26D8}"/>
              </a:ext>
            </a:extLst>
          </p:cNvPr>
          <p:cNvSpPr/>
          <p:nvPr/>
        </p:nvSpPr>
        <p:spPr>
          <a:xfrm>
            <a:off x="6096000" y="5076809"/>
            <a:ext cx="2283642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accepted</a:t>
            </a:r>
            <a:r>
              <a:rPr lang="de-DE" dirty="0"/>
              <a:t> Values </a:t>
            </a:r>
            <a:r>
              <a:rPr lang="de-DE" dirty="0" err="1"/>
              <a:t>returned</a:t>
            </a:r>
            <a:r>
              <a:rPr lang="de-DE" dirty="0"/>
              <a:t> pick </a:t>
            </a:r>
            <a:r>
              <a:rPr lang="de-DE" dirty="0" err="1"/>
              <a:t>highest</a:t>
            </a:r>
            <a:r>
              <a:rPr lang="de-DE" dirty="0"/>
              <a:t> </a:t>
            </a:r>
            <a:r>
              <a:rPr lang="de-DE" dirty="0" err="1"/>
              <a:t>proposalId</a:t>
            </a:r>
            <a:r>
              <a:rPr lang="de-DE" dirty="0"/>
              <a:t> and send ACCEPT</a:t>
            </a:r>
          </a:p>
        </p:txBody>
      </p:sp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C40FF873-21D9-92D2-9682-4DBE36EDA513}"/>
              </a:ext>
            </a:extLst>
          </p:cNvPr>
          <p:cNvSpPr/>
          <p:nvPr/>
        </p:nvSpPr>
        <p:spPr>
          <a:xfrm>
            <a:off x="8930762" y="5074038"/>
            <a:ext cx="2947022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Set </a:t>
            </a:r>
            <a:r>
              <a:rPr lang="de-DE" dirty="0" err="1"/>
              <a:t>acceptedValue</a:t>
            </a:r>
            <a:r>
              <a:rPr lang="de-DE" dirty="0"/>
              <a:t> and </a:t>
            </a:r>
            <a:r>
              <a:rPr lang="de-DE" dirty="0" err="1"/>
              <a:t>acceptedProposalId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incoming</a:t>
            </a:r>
            <a:r>
              <a:rPr lang="de-DE" dirty="0"/>
              <a:t> </a:t>
            </a:r>
            <a:r>
              <a:rPr lang="de-DE" dirty="0" err="1"/>
              <a:t>proposalId</a:t>
            </a:r>
            <a:r>
              <a:rPr lang="de-DE" dirty="0"/>
              <a:t> &gt;= </a:t>
            </a:r>
            <a:r>
              <a:rPr lang="de-DE" dirty="0" err="1"/>
              <a:t>minProposalId</a:t>
            </a:r>
            <a:endParaRPr lang="de-DE" dirty="0"/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EBFA8411-6B49-908A-0CD9-3CC5B7CD7695}"/>
              </a:ext>
            </a:extLst>
          </p:cNvPr>
          <p:cNvCxnSpPr>
            <a:cxnSpLocks/>
            <a:stCxn id="87" idx="3"/>
            <a:endCxn id="36" idx="1"/>
          </p:cNvCxnSpPr>
          <p:nvPr/>
        </p:nvCxnSpPr>
        <p:spPr>
          <a:xfrm>
            <a:off x="2451008" y="5629549"/>
            <a:ext cx="551195" cy="7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B7041E23-A0FA-6D41-C526-BA9CF2E0EC1A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4968167" y="5628549"/>
            <a:ext cx="1127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61F1B508-DFBF-BE2B-1153-F15E5C60116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 flipV="1">
            <a:off x="8379642" y="5625778"/>
            <a:ext cx="551120" cy="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4426ACF0-7101-F56A-7C77-35DBA5456C86}"/>
              </a:ext>
            </a:extLst>
          </p:cNvPr>
          <p:cNvSpPr txBox="1"/>
          <p:nvPr/>
        </p:nvSpPr>
        <p:spPr>
          <a:xfrm>
            <a:off x="9699507" y="6122246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A53BF5BE-2B35-218A-256B-AD88D0ADA841}"/>
              </a:ext>
            </a:extLst>
          </p:cNvPr>
          <p:cNvSpPr txBox="1"/>
          <p:nvPr/>
        </p:nvSpPr>
        <p:spPr>
          <a:xfrm>
            <a:off x="6492913" y="6177518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864594" y="5992852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 err="1"/>
              <a:t>Paxos</a:t>
            </a:r>
            <a:endParaRPr lang="de-DE" b="0" dirty="0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B5791910-5957-C69F-F5CD-4E5E87CCB960}"/>
              </a:ext>
            </a:extLst>
          </p:cNvPr>
          <p:cNvCxnSpPr/>
          <p:nvPr/>
        </p:nvCxnSpPr>
        <p:spPr>
          <a:xfrm>
            <a:off x="5099769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129C003-8998-85B7-029D-02B9034BCA2F}"/>
              </a:ext>
            </a:extLst>
          </p:cNvPr>
          <p:cNvSpPr/>
          <p:nvPr/>
        </p:nvSpPr>
        <p:spPr>
          <a:xfrm>
            <a:off x="3002203" y="5094435"/>
            <a:ext cx="2305335" cy="108495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Maintain</a:t>
            </a:r>
            <a:r>
              <a:rPr lang="de-DE" dirty="0"/>
              <a:t> </a:t>
            </a:r>
            <a:r>
              <a:rPr lang="de-DE" dirty="0" err="1"/>
              <a:t>minProposalId</a:t>
            </a:r>
            <a:r>
              <a:rPr lang="de-DE" dirty="0"/>
              <a:t>. Reply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accepted</a:t>
            </a:r>
            <a:r>
              <a:rPr lang="de-DE" dirty="0"/>
              <a:t> Value and ID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exists</a:t>
            </a:r>
            <a:endParaRPr lang="de-DE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0CCB1BF-6597-ADD4-CA78-E8860E7B5329}"/>
              </a:ext>
            </a:extLst>
          </p:cNvPr>
          <p:cNvSpPr txBox="1"/>
          <p:nvPr/>
        </p:nvSpPr>
        <p:spPr>
          <a:xfrm>
            <a:off x="3448700" y="6122246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Acceptor</a:t>
            </a:r>
            <a:endParaRPr lang="de-DE" dirty="0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F3CE7E4-1DEF-5E42-9713-ACD1CC3CE9BB}"/>
              </a:ext>
            </a:extLst>
          </p:cNvPr>
          <p:cNvCxnSpPr/>
          <p:nvPr/>
        </p:nvCxnSpPr>
        <p:spPr>
          <a:xfrm>
            <a:off x="10920536" y="3274745"/>
            <a:ext cx="996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F1A2A8CC-FBBD-C988-4E89-9634856E1798}"/>
              </a:ext>
            </a:extLst>
          </p:cNvPr>
          <p:cNvSpPr txBox="1"/>
          <p:nvPr/>
        </p:nvSpPr>
        <p:spPr>
          <a:xfrm rot="1851188">
            <a:off x="2706215" y="2260350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ProposalId</a:t>
            </a:r>
            <a:endParaRPr lang="de-DE" dirty="0"/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3CA8CE5-0F4E-C3A3-2C26-09DFC60F795B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FB137C-4078-2A04-E8EE-D5593714F609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8E7E1A8-1A87-CA7E-C57B-3E5144DF78F0}"/>
              </a:ext>
            </a:extLst>
          </p:cNvPr>
          <p:cNvSpPr txBox="1"/>
          <p:nvPr/>
        </p:nvSpPr>
        <p:spPr>
          <a:xfrm>
            <a:off x="6077814" y="3641005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8E540E6-D396-5289-02FB-2360A339E9E4}"/>
              </a:ext>
            </a:extLst>
          </p:cNvPr>
          <p:cNvSpPr txBox="1"/>
          <p:nvPr/>
        </p:nvSpPr>
        <p:spPr>
          <a:xfrm>
            <a:off x="9437224" y="3643306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057BE14-0189-61EC-108C-828D9124EE5B}"/>
              </a:ext>
            </a:extLst>
          </p:cNvPr>
          <p:cNvSpPr txBox="1"/>
          <p:nvPr/>
        </p:nvSpPr>
        <p:spPr>
          <a:xfrm>
            <a:off x="1641820" y="411171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FAB5185-5D40-8264-E749-455D0A4B1AC1}"/>
              </a:ext>
            </a:extLst>
          </p:cNvPr>
          <p:cNvSpPr txBox="1"/>
          <p:nvPr/>
        </p:nvSpPr>
        <p:spPr>
          <a:xfrm>
            <a:off x="7733865" y="4105478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59267D1-666D-96EF-21F9-E7737B2BAAEE}"/>
              </a:ext>
            </a:extLst>
          </p:cNvPr>
          <p:cNvSpPr txBox="1"/>
          <p:nvPr/>
        </p:nvSpPr>
        <p:spPr>
          <a:xfrm>
            <a:off x="-40608" y="3936706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6F1CA4A-943C-C09B-EDD4-4B493CA34322}"/>
              </a:ext>
            </a:extLst>
          </p:cNvPr>
          <p:cNvSpPr txBox="1"/>
          <p:nvPr/>
        </p:nvSpPr>
        <p:spPr>
          <a:xfrm>
            <a:off x="1638462" y="4423812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C2B86C8C-8C85-DFC6-7360-DA068E75D679}"/>
              </a:ext>
            </a:extLst>
          </p:cNvPr>
          <p:cNvSpPr txBox="1"/>
          <p:nvPr/>
        </p:nvSpPr>
        <p:spPr>
          <a:xfrm>
            <a:off x="3376136" y="3929080"/>
            <a:ext cx="175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9F4A637-1B41-ACB2-7AA6-CDFD74B3A53F}"/>
              </a:ext>
            </a:extLst>
          </p:cNvPr>
          <p:cNvSpPr txBox="1"/>
          <p:nvPr/>
        </p:nvSpPr>
        <p:spPr>
          <a:xfrm rot="19809520">
            <a:off x="6644131" y="2290423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+mn-lt"/>
                <a:cs typeface="Helvetica" panose="020B0604020202020204" pitchFamily="34" charset="0"/>
              </a:rPr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CC31255-F881-C9A8-63EF-2E587F5820BA}"/>
              </a:ext>
            </a:extLst>
          </p:cNvPr>
          <p:cNvSpPr txBox="1"/>
          <p:nvPr/>
        </p:nvSpPr>
        <p:spPr>
          <a:xfrm rot="16200000">
            <a:off x="7453496" y="282036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766C16A7-5782-644F-59F1-B2AB10E422E0}"/>
              </a:ext>
            </a:extLst>
          </p:cNvPr>
          <p:cNvSpPr txBox="1"/>
          <p:nvPr/>
        </p:nvSpPr>
        <p:spPr>
          <a:xfrm rot="1851188">
            <a:off x="8797282" y="2340018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AB8570E0-BB7A-C1B4-39F4-2D0A834515CA}"/>
              </a:ext>
            </a:extLst>
          </p:cNvPr>
          <p:cNvSpPr txBox="1"/>
          <p:nvPr/>
        </p:nvSpPr>
        <p:spPr>
          <a:xfrm>
            <a:off x="6060508" y="3930091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35DE6F7A-F970-467C-994E-82737B89CF15}"/>
              </a:ext>
            </a:extLst>
          </p:cNvPr>
          <p:cNvSpPr txBox="1"/>
          <p:nvPr/>
        </p:nvSpPr>
        <p:spPr>
          <a:xfrm>
            <a:off x="7739578" y="4417197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61E574FA-5D8D-4699-1B00-3BCE807C2926}"/>
              </a:ext>
            </a:extLst>
          </p:cNvPr>
          <p:cNvSpPr txBox="1"/>
          <p:nvPr/>
        </p:nvSpPr>
        <p:spPr>
          <a:xfrm>
            <a:off x="9477252" y="3922465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minProposalId</a:t>
            </a:r>
            <a:endParaRPr lang="de-DE" dirty="0"/>
          </a:p>
          <a:p>
            <a:pPr algn="ctr"/>
            <a:r>
              <a:rPr lang="de-DE" dirty="0"/>
              <a:t>2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54AECD05-C6BF-2757-C2E2-26D5C6E42E40}"/>
              </a:ext>
            </a:extLst>
          </p:cNvPr>
          <p:cNvCxnSpPr>
            <a:cxnSpLocks/>
          </p:cNvCxnSpPr>
          <p:nvPr/>
        </p:nvCxnSpPr>
        <p:spPr>
          <a:xfrm>
            <a:off x="11662443" y="5636914"/>
            <a:ext cx="508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450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44</a:t>
            </a:fld>
            <a:endParaRPr lang="de-DE" alt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945F754-92E0-B6D6-F886-6C84085847CD}"/>
              </a:ext>
            </a:extLst>
          </p:cNvPr>
          <p:cNvCxnSpPr>
            <a:cxnSpLocks/>
          </p:cNvCxnSpPr>
          <p:nvPr/>
        </p:nvCxnSpPr>
        <p:spPr>
          <a:xfrm flipH="1" flipV="1">
            <a:off x="2858904" y="2433082"/>
            <a:ext cx="1008112" cy="754292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958FB8-8C21-17BD-6E9D-225E64C462BF}"/>
              </a:ext>
            </a:extLst>
          </p:cNvPr>
          <p:cNvCxnSpPr>
            <a:cxnSpLocks/>
          </p:cNvCxnSpPr>
          <p:nvPr/>
        </p:nvCxnSpPr>
        <p:spPr>
          <a:xfrm flipV="1">
            <a:off x="2495600" y="2636912"/>
            <a:ext cx="0" cy="972849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D9531A-E79D-1D22-1F28-28922427397F}"/>
              </a:ext>
            </a:extLst>
          </p:cNvPr>
          <p:cNvCxnSpPr>
            <a:cxnSpLocks/>
          </p:cNvCxnSpPr>
          <p:nvPr/>
        </p:nvCxnSpPr>
        <p:spPr>
          <a:xfrm flipV="1">
            <a:off x="1061144" y="2421991"/>
            <a:ext cx="1074416" cy="72168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26C8E4F-9519-DDB8-A5B4-8159AF5F1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580" y="1955902"/>
            <a:ext cx="466089" cy="466089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13E83773-A959-1B22-ECB1-5A03C617797B}"/>
              </a:ext>
            </a:extLst>
          </p:cNvPr>
          <p:cNvSpPr txBox="1"/>
          <p:nvPr/>
        </p:nvSpPr>
        <p:spPr>
          <a:xfrm>
            <a:off x="1673959" y="1556792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Proposer</a:t>
            </a:r>
            <a:endParaRPr lang="de-DE" sz="2400" dirty="0"/>
          </a:p>
        </p:txBody>
      </p:sp>
      <p:pic>
        <p:nvPicPr>
          <p:cNvPr id="28" name="Grafik 27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EB8AAFEE-353A-C928-71E7-A93D77E7C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125" y="3679575"/>
            <a:ext cx="466089" cy="466089"/>
          </a:xfrm>
          <a:prstGeom prst="rect">
            <a:avLst/>
          </a:prstGeom>
        </p:spPr>
      </p:pic>
      <p:pic>
        <p:nvPicPr>
          <p:cNvPr id="29" name="Grafik 28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B6878D8B-5588-A073-051C-B072195C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320" y="3176283"/>
            <a:ext cx="466089" cy="466089"/>
          </a:xfrm>
          <a:prstGeom prst="rect">
            <a:avLst/>
          </a:prstGeom>
        </p:spPr>
      </p:pic>
      <p:pic>
        <p:nvPicPr>
          <p:cNvPr id="30" name="Grafik 29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C277701D-1190-DCED-A078-4EA1D37E4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5" y="3143672"/>
            <a:ext cx="466089" cy="466089"/>
          </a:xfrm>
          <a:prstGeom prst="rect">
            <a:avLst/>
          </a:prstGeom>
        </p:spPr>
      </p:pic>
      <p:sp>
        <p:nvSpPr>
          <p:cNvPr id="101" name="Textfeld 100">
            <a:extLst>
              <a:ext uri="{FF2B5EF4-FFF2-40B4-BE49-F238E27FC236}">
                <a16:creationId xmlns:a16="http://schemas.microsoft.com/office/drawing/2014/main" id="{5BDA411B-96A1-3846-8BDA-B2F91BD38C81}"/>
              </a:ext>
            </a:extLst>
          </p:cNvPr>
          <p:cNvSpPr txBox="1"/>
          <p:nvPr/>
        </p:nvSpPr>
        <p:spPr>
          <a:xfrm>
            <a:off x="1010233" y="6165937"/>
            <a:ext cx="1409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Proposer</a:t>
            </a:r>
            <a:endParaRPr lang="de-DE" dirty="0"/>
          </a:p>
        </p:txBody>
      </p:sp>
      <p:sp>
        <p:nvSpPr>
          <p:cNvPr id="102" name="Titel 101">
            <a:extLst>
              <a:ext uri="{FF2B5EF4-FFF2-40B4-BE49-F238E27FC236}">
                <a16:creationId xmlns:a16="http://schemas.microsoft.com/office/drawing/2014/main" id="{0F684348-3433-9B0D-10C4-A8BA98A0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 err="1"/>
              <a:t>Paxos</a:t>
            </a:r>
            <a:endParaRPr lang="de-DE" b="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3CA8CE5-0F4E-C3A3-2C26-09DFC60F795B}"/>
              </a:ext>
            </a:extLst>
          </p:cNvPr>
          <p:cNvSpPr txBox="1"/>
          <p:nvPr/>
        </p:nvSpPr>
        <p:spPr>
          <a:xfrm>
            <a:off x="-34823" y="3641004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6FB137C-4078-2A04-E8EE-D5593714F609}"/>
              </a:ext>
            </a:extLst>
          </p:cNvPr>
          <p:cNvSpPr txBox="1"/>
          <p:nvPr/>
        </p:nvSpPr>
        <p:spPr>
          <a:xfrm>
            <a:off x="3344162" y="3610239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057BE14-0189-61EC-108C-828D9124EE5B}"/>
              </a:ext>
            </a:extLst>
          </p:cNvPr>
          <p:cNvSpPr txBox="1"/>
          <p:nvPr/>
        </p:nvSpPr>
        <p:spPr>
          <a:xfrm>
            <a:off x="1641820" y="4111711"/>
            <a:ext cx="1755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err="1"/>
              <a:t>Acceptor</a:t>
            </a:r>
            <a:endParaRPr lang="de-DE" sz="24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59267D1-666D-96EF-21F9-E7737B2BAAEE}"/>
              </a:ext>
            </a:extLst>
          </p:cNvPr>
          <p:cNvSpPr txBox="1"/>
          <p:nvPr/>
        </p:nvSpPr>
        <p:spPr>
          <a:xfrm>
            <a:off x="-40608" y="3936706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F6025C41-FDEB-A409-0D59-A3EADDF5408C}"/>
              </a:ext>
            </a:extLst>
          </p:cNvPr>
          <p:cNvCxnSpPr>
            <a:cxnSpLocks/>
          </p:cNvCxnSpPr>
          <p:nvPr/>
        </p:nvCxnSpPr>
        <p:spPr>
          <a:xfrm>
            <a:off x="0" y="3209350"/>
            <a:ext cx="508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5A6E23E8-1D22-979C-1CC0-827611AE8DCC}"/>
              </a:ext>
            </a:extLst>
          </p:cNvPr>
          <p:cNvCxnSpPr>
            <a:cxnSpLocks/>
          </p:cNvCxnSpPr>
          <p:nvPr/>
        </p:nvCxnSpPr>
        <p:spPr>
          <a:xfrm>
            <a:off x="0" y="5636914"/>
            <a:ext cx="430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E92C891-A81D-5EC9-0C72-0FD5DBA6A842}"/>
              </a:ext>
            </a:extLst>
          </p:cNvPr>
          <p:cNvSpPr/>
          <p:nvPr/>
        </p:nvSpPr>
        <p:spPr>
          <a:xfrm>
            <a:off x="430044" y="5074038"/>
            <a:ext cx="2497604" cy="11034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majority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acceptors</a:t>
            </a:r>
            <a:r>
              <a:rPr lang="de-DE" dirty="0"/>
              <a:t> </a:t>
            </a:r>
            <a:r>
              <a:rPr lang="de-DE" dirty="0" err="1"/>
              <a:t>accepted</a:t>
            </a:r>
            <a:r>
              <a:rPr lang="de-DE" dirty="0"/>
              <a:t> </a:t>
            </a:r>
            <a:r>
              <a:rPr lang="de-DE" dirty="0" err="1"/>
              <a:t>proposal</a:t>
            </a:r>
            <a:r>
              <a:rPr lang="de-DE" dirty="0"/>
              <a:t>, „Value“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chosen</a:t>
            </a:r>
            <a:r>
              <a:rPr lang="de-DE" dirty="0"/>
              <a:t>. end.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A4E3DD7-0034-9C41-4E3D-364F3C015E46}"/>
              </a:ext>
            </a:extLst>
          </p:cNvPr>
          <p:cNvSpPr txBox="1"/>
          <p:nvPr/>
        </p:nvSpPr>
        <p:spPr>
          <a:xfrm>
            <a:off x="1629365" y="4398371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1271DD1-ED10-5C00-6E42-57D0637CAA91}"/>
              </a:ext>
            </a:extLst>
          </p:cNvPr>
          <p:cNvSpPr txBox="1"/>
          <p:nvPr/>
        </p:nvSpPr>
        <p:spPr>
          <a:xfrm>
            <a:off x="3352815" y="3946632"/>
            <a:ext cx="1755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„Adenauer“</a:t>
            </a:r>
          </a:p>
          <a:p>
            <a:pPr algn="ctr"/>
            <a:r>
              <a:rPr lang="de-DE" dirty="0"/>
              <a:t>2</a:t>
            </a:r>
          </a:p>
        </p:txBody>
      </p:sp>
      <p:pic>
        <p:nvPicPr>
          <p:cNvPr id="25" name="Grafik 24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9103F021-BB61-1BC7-9B22-33F9F86E03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476" y="2986496"/>
            <a:ext cx="221540" cy="221540"/>
          </a:xfrm>
          <a:prstGeom prst="rect">
            <a:avLst/>
          </a:prstGeom>
        </p:spPr>
      </p:pic>
      <p:pic>
        <p:nvPicPr>
          <p:cNvPr id="26" name="Grafik 25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F526C7FE-1868-754C-EB96-98BEDACF1A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4" y="2588688"/>
            <a:ext cx="221540" cy="221540"/>
          </a:xfrm>
          <a:prstGeom prst="rect">
            <a:avLst/>
          </a:prstGeom>
        </p:spPr>
      </p:pic>
      <p:pic>
        <p:nvPicPr>
          <p:cNvPr id="27" name="Grafik 26" descr="Ein Bild, das Grafiken, Symbol, Kreis, Farbigkeit enthält.&#10;&#10;Automatisch generierte Beschreibung">
            <a:extLst>
              <a:ext uri="{FF2B5EF4-FFF2-40B4-BE49-F238E27FC236}">
                <a16:creationId xmlns:a16="http://schemas.microsoft.com/office/drawing/2014/main" id="{76770047-BBA3-59FF-589B-017F3B61C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387" y="2567695"/>
            <a:ext cx="221540" cy="221540"/>
          </a:xfrm>
          <a:prstGeom prst="rect">
            <a:avLst/>
          </a:prstGeom>
        </p:spPr>
      </p:pic>
      <p:sp>
        <p:nvSpPr>
          <p:cNvPr id="31" name="Ellipse 30">
            <a:extLst>
              <a:ext uri="{FF2B5EF4-FFF2-40B4-BE49-F238E27FC236}">
                <a16:creationId xmlns:a16="http://schemas.microsoft.com/office/drawing/2014/main" id="{9A4512A7-5F2D-356C-0702-1AC2A12E4298}"/>
              </a:ext>
            </a:extLst>
          </p:cNvPr>
          <p:cNvSpPr/>
          <p:nvPr/>
        </p:nvSpPr>
        <p:spPr>
          <a:xfrm>
            <a:off x="8077563" y="189179"/>
            <a:ext cx="1593405" cy="8071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ALIVE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81CDC9F8-6C78-D993-E559-223742344734}"/>
              </a:ext>
            </a:extLst>
          </p:cNvPr>
          <p:cNvSpPr/>
          <p:nvPr/>
        </p:nvSpPr>
        <p:spPr>
          <a:xfrm>
            <a:off x="6240016" y="188640"/>
            <a:ext cx="1593405" cy="8071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CORRECT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64E4AD47-7198-BE7E-F755-88D8BB9D310A}"/>
              </a:ext>
            </a:extLst>
          </p:cNvPr>
          <p:cNvSpPr/>
          <p:nvPr/>
        </p:nvSpPr>
        <p:spPr>
          <a:xfrm>
            <a:off x="9915110" y="188640"/>
            <a:ext cx="1593405" cy="8071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SAFE</a:t>
            </a:r>
          </a:p>
        </p:txBody>
      </p:sp>
    </p:spTree>
    <p:extLst>
      <p:ext uri="{BB962C8B-B14F-4D97-AF65-F5344CB8AC3E}">
        <p14:creationId xmlns:p14="http://schemas.microsoft.com/office/powerpoint/2010/main" val="29501382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3">
            <a:extLst>
              <a:ext uri="{FF2B5EF4-FFF2-40B4-BE49-F238E27FC236}">
                <a16:creationId xmlns:a16="http://schemas.microsoft.com/office/drawing/2014/main" id="{25B80070-741B-C9D8-6318-92E8BB61194F}"/>
              </a:ext>
            </a:extLst>
          </p:cNvPr>
          <p:cNvSpPr txBox="1">
            <a:spLocks/>
          </p:cNvSpPr>
          <p:nvPr/>
        </p:nvSpPr>
        <p:spPr bwMode="auto">
          <a:xfrm>
            <a:off x="432001" y="1620000"/>
            <a:ext cx="11232619" cy="461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Arial" panose="020B0604020202020204" pitchFamily="34" charset="0"/>
              <a:buChar char="•"/>
              <a:defRPr sz="2000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marL="542925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9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8096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0763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4pPr>
            <a:lvl5pPr marL="13430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ym typeface="Wingdings" panose="05000000000000000000" pitchFamily="2" charset="2"/>
              </a:rPr>
              <a:t>1. </a:t>
            </a:r>
            <a:r>
              <a:rPr lang="de-DE" dirty="0" err="1">
                <a:sym typeface="Wingdings" panose="05000000000000000000" pitchFamily="2" charset="2"/>
              </a:rPr>
              <a:t>Prepare</a:t>
            </a:r>
            <a:r>
              <a:rPr lang="de-DE" dirty="0">
                <a:sym typeface="Wingdings" panose="05000000000000000000" pitchFamily="2" charset="2"/>
              </a:rPr>
              <a:t>-Phase</a:t>
            </a:r>
            <a:endParaRPr lang="de-DE" dirty="0">
              <a:solidFill>
                <a:schemeClr val="tx1">
                  <a:lumMod val="50000"/>
                </a:schemeClr>
              </a:solidFill>
              <a:sym typeface="Wingdings" panose="05000000000000000000" pitchFamily="2" charset="2"/>
            </a:endParaRPr>
          </a:p>
          <a:p>
            <a:pPr lvl="1"/>
            <a:r>
              <a:rPr lang="de-DE" dirty="0" err="1">
                <a:sym typeface="Wingdings" panose="05000000000000000000" pitchFamily="2" charset="2"/>
              </a:rPr>
              <a:t>Proposer</a:t>
            </a:r>
            <a:r>
              <a:rPr lang="de-DE" dirty="0">
                <a:sym typeface="Wingdings" panose="05000000000000000000" pitchFamily="2" charset="2"/>
              </a:rPr>
              <a:t> generiert </a:t>
            </a:r>
            <a:r>
              <a:rPr lang="de-DE" b="1" dirty="0" err="1">
                <a:sym typeface="Wingdings" panose="05000000000000000000" pitchFamily="2" charset="2"/>
              </a:rPr>
              <a:t>proposalId</a:t>
            </a:r>
            <a:r>
              <a:rPr lang="de-DE" dirty="0">
                <a:sym typeface="Wingdings" panose="05000000000000000000" pitchFamily="2" charset="2"/>
              </a:rPr>
              <a:t> und sendet sie an alle Teilnehmer.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Die Teilnehmer halten eine </a:t>
            </a:r>
            <a:r>
              <a:rPr lang="de-DE" b="1" dirty="0" err="1">
                <a:sym typeface="Wingdings" panose="05000000000000000000" pitchFamily="2" charset="2"/>
              </a:rPr>
              <a:t>minProposalId</a:t>
            </a:r>
            <a:r>
              <a:rPr lang="de-DE" dirty="0">
                <a:sym typeface="Wingdings" panose="05000000000000000000" pitchFamily="2" charset="2"/>
              </a:rPr>
              <a:t>. Wenn eine eintreffende </a:t>
            </a:r>
            <a:r>
              <a:rPr lang="de-DE" b="1" dirty="0" err="1">
                <a:sym typeface="Wingdings" panose="05000000000000000000" pitchFamily="2" charset="2"/>
              </a:rPr>
              <a:t>proposalId</a:t>
            </a:r>
            <a:r>
              <a:rPr lang="de-DE" dirty="0">
                <a:sym typeface="Wingdings" panose="05000000000000000000" pitchFamily="2" charset="2"/>
              </a:rPr>
              <a:t> höher ist, ersetze die </a:t>
            </a:r>
            <a:r>
              <a:rPr lang="de-DE" b="1" dirty="0" err="1">
                <a:sym typeface="Wingdings" panose="05000000000000000000" pitchFamily="2" charset="2"/>
              </a:rPr>
              <a:t>minProposalId</a:t>
            </a:r>
            <a:r>
              <a:rPr lang="de-DE" dirty="0">
                <a:sym typeface="Wingdings" panose="05000000000000000000" pitchFamily="2" charset="2"/>
              </a:rPr>
              <a:t> damit. Falls es bereits einen akzeptierten Wert gibt, antworte mit der (</a:t>
            </a:r>
            <a:r>
              <a:rPr lang="de-DE" b="1" dirty="0" err="1">
                <a:sym typeface="Wingdings" panose="05000000000000000000" pitchFamily="2" charset="2"/>
              </a:rPr>
              <a:t>acceptedProposalId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b="1" dirty="0" err="1">
                <a:sym typeface="Wingdings" panose="05000000000000000000" pitchFamily="2" charset="2"/>
              </a:rPr>
              <a:t>acceptedValue</a:t>
            </a:r>
            <a:r>
              <a:rPr lang="de-DE" dirty="0">
                <a:sym typeface="Wingdings" panose="05000000000000000000" pitchFamily="2" charset="2"/>
              </a:rPr>
              <a:t>).</a:t>
            </a:r>
          </a:p>
          <a:p>
            <a:r>
              <a:rPr lang="de-DE" dirty="0">
                <a:sym typeface="Wingdings" panose="05000000000000000000" pitchFamily="2" charset="2"/>
              </a:rPr>
              <a:t>2. </a:t>
            </a:r>
            <a:r>
              <a:rPr lang="de-DE" dirty="0" err="1">
                <a:sym typeface="Wingdings" panose="05000000000000000000" pitchFamily="2" charset="2"/>
              </a:rPr>
              <a:t>Accept</a:t>
            </a:r>
            <a:r>
              <a:rPr lang="de-DE" dirty="0">
                <a:sym typeface="Wingdings" panose="05000000000000000000" pitchFamily="2" charset="2"/>
              </a:rPr>
              <a:t>-Phase</a:t>
            </a:r>
          </a:p>
          <a:p>
            <a:pPr lvl="1"/>
            <a:r>
              <a:rPr lang="de-DE" dirty="0" err="1">
                <a:sym typeface="Wingdings" panose="05000000000000000000" pitchFamily="2" charset="2"/>
              </a:rPr>
              <a:t>Proposer</a:t>
            </a:r>
            <a:r>
              <a:rPr lang="de-DE" dirty="0">
                <a:sym typeface="Wingdings" panose="05000000000000000000" pitchFamily="2" charset="2"/>
              </a:rPr>
              <a:t> wartet auf Antwort von der Mehrheit der Teilnehmer. Wenn es </a:t>
            </a:r>
            <a:r>
              <a:rPr lang="de-DE" b="1" dirty="0" err="1">
                <a:sym typeface="Wingdings" panose="05000000000000000000" pitchFamily="2" charset="2"/>
              </a:rPr>
              <a:t>acceptedValues</a:t>
            </a:r>
            <a:r>
              <a:rPr lang="de-DE" dirty="0">
                <a:sym typeface="Wingdings" panose="05000000000000000000" pitchFamily="2" charset="2"/>
              </a:rPr>
              <a:t> gibt, wähle den Wert mit der höchsten </a:t>
            </a:r>
            <a:r>
              <a:rPr lang="de-DE" b="1" dirty="0" err="1">
                <a:sym typeface="Wingdings" panose="05000000000000000000" pitchFamily="2" charset="2"/>
              </a:rPr>
              <a:t>proposalId</a:t>
            </a:r>
            <a:r>
              <a:rPr lang="de-DE" dirty="0">
                <a:sym typeface="Wingdings" panose="05000000000000000000" pitchFamily="2" charset="2"/>
              </a:rPr>
              <a:t> und ersetze den eigenen Vorschlag damit. Sende ACCEPT an alle Teilnehmer.</a:t>
            </a:r>
          </a:p>
          <a:p>
            <a:pPr lvl="1"/>
            <a:r>
              <a:rPr lang="de-DE" dirty="0">
                <a:sym typeface="Wingdings" panose="05000000000000000000" pitchFamily="2" charset="2"/>
              </a:rPr>
              <a:t>Wenn ein Teilnehmer eine ACCEPT Nachricht mit </a:t>
            </a:r>
            <a:r>
              <a:rPr lang="de-DE" b="1" dirty="0" err="1">
                <a:sym typeface="Wingdings" panose="05000000000000000000" pitchFamily="2" charset="2"/>
              </a:rPr>
              <a:t>proposalId</a:t>
            </a:r>
            <a:r>
              <a:rPr lang="de-DE" dirty="0">
                <a:sym typeface="Wingdings" panose="05000000000000000000" pitchFamily="2" charset="2"/>
              </a:rPr>
              <a:t> &lt; </a:t>
            </a:r>
            <a:r>
              <a:rPr lang="de-DE" b="1" dirty="0" err="1">
                <a:sym typeface="Wingdings" panose="05000000000000000000" pitchFamily="2" charset="2"/>
              </a:rPr>
              <a:t>minProposalId</a:t>
            </a:r>
            <a:r>
              <a:rPr lang="de-DE" dirty="0">
                <a:sym typeface="Wingdings" panose="05000000000000000000" pitchFamily="2" charset="2"/>
              </a:rPr>
              <a:t> erhält, verwerfe die Nachricht. Ansonsten, setze </a:t>
            </a:r>
            <a:r>
              <a:rPr lang="de-DE" b="1" dirty="0" err="1">
                <a:sym typeface="Wingdings" panose="05000000000000000000" pitchFamily="2" charset="2"/>
              </a:rPr>
              <a:t>acceptedProposalId</a:t>
            </a:r>
            <a:r>
              <a:rPr lang="de-DE" dirty="0">
                <a:sym typeface="Wingdings" panose="05000000000000000000" pitchFamily="2" charset="2"/>
              </a:rPr>
              <a:t> und </a:t>
            </a:r>
            <a:r>
              <a:rPr lang="de-DE" b="1" dirty="0" err="1">
                <a:sym typeface="Wingdings" panose="05000000000000000000" pitchFamily="2" charset="2"/>
              </a:rPr>
              <a:t>acceptedValue</a:t>
            </a:r>
            <a:r>
              <a:rPr lang="de-DE" dirty="0">
                <a:sym typeface="Wingdings" panose="05000000000000000000" pitchFamily="2" charset="2"/>
              </a:rPr>
              <a:t>.</a:t>
            </a:r>
          </a:p>
          <a:p>
            <a:r>
              <a:rPr lang="de-DE" dirty="0">
                <a:sym typeface="Wingdings" panose="05000000000000000000" pitchFamily="2" charset="2"/>
              </a:rPr>
              <a:t>3. </a:t>
            </a:r>
            <a:r>
              <a:rPr lang="de-DE" dirty="0" err="1">
                <a:sym typeface="Wingdings" panose="05000000000000000000" pitchFamily="2" charset="2"/>
              </a:rPr>
              <a:t>Learn</a:t>
            </a:r>
            <a:r>
              <a:rPr lang="de-DE" dirty="0">
                <a:sym typeface="Wingdings" panose="05000000000000000000" pitchFamily="2" charset="2"/>
              </a:rPr>
              <a:t>-Phase</a:t>
            </a:r>
          </a:p>
          <a:p>
            <a:pPr lvl="1"/>
            <a:r>
              <a:rPr lang="de-DE" dirty="0" err="1">
                <a:sym typeface="Wingdings" panose="05000000000000000000" pitchFamily="2" charset="2"/>
              </a:rPr>
              <a:t>Proposer</a:t>
            </a:r>
            <a:r>
              <a:rPr lang="de-DE" dirty="0">
                <a:sym typeface="Wingdings" panose="05000000000000000000" pitchFamily="2" charset="2"/>
              </a:rPr>
              <a:t>: Wenn die Mehrheit den Vorschlag akzeptiert hat, ist der Wert gewählt.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45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Paxos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6923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46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Übung</a:t>
            </a:r>
          </a:p>
        </p:txBody>
      </p:sp>
    </p:spTree>
    <p:extLst>
      <p:ext uri="{BB962C8B-B14F-4D97-AF65-F5344CB8AC3E}">
        <p14:creationId xmlns:p14="http://schemas.microsoft.com/office/powerpoint/2010/main" val="1236372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47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Übung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5D9A0F-DBF2-DB40-5FF0-10A0A07DA512}"/>
              </a:ext>
            </a:extLst>
          </p:cNvPr>
          <p:cNvSpPr txBox="1">
            <a:spLocks/>
          </p:cNvSpPr>
          <p:nvPr/>
        </p:nvSpPr>
        <p:spPr bwMode="auto">
          <a:xfrm>
            <a:off x="432001" y="1620000"/>
            <a:ext cx="11232619" cy="461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Arial" panose="020B0604020202020204" pitchFamily="34" charset="0"/>
              <a:buChar char="•"/>
              <a:defRPr sz="2000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marL="542925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9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8096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0763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4pPr>
            <a:lvl5pPr marL="13430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Der Student Max Mustermann hat seinen Medieninformatik Bachelor an der THM Friedberg absolviert. Nun möchte er in den konsekutiven Masterstudiengang immatrikuliert werden.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Die benötigten Unterlagen dafür liegen im Studiensekretariat Friedberg vor und der Prozess des Studiengangwechsels wird nun gestartet.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Nehmen Sie an, dass die THM ein verteiltes Datenbanksystem mit den Standorten Friedberg, Gießen und Wetzlar verwendet, welche alle jeweils eine komplette Datenbank für alle Studierenden hält.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Nennen Sie stichpunktartig die einzelnen Schritte des 2-Phasen-Commit-Protokolls, die ausgeführt werden müssen, um den Datensatz von Max Mustermann zu ändern.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Gehen Sie dabei davon aus, dass keinerlei Störungen oder sonstige Probleme vorliegen.</a:t>
            </a:r>
          </a:p>
        </p:txBody>
      </p:sp>
    </p:spTree>
    <p:extLst>
      <p:ext uri="{BB962C8B-B14F-4D97-AF65-F5344CB8AC3E}">
        <p14:creationId xmlns:p14="http://schemas.microsoft.com/office/powerpoint/2010/main" val="14843478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48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Übung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5D9A0F-DBF2-DB40-5FF0-10A0A07DA512}"/>
              </a:ext>
            </a:extLst>
          </p:cNvPr>
          <p:cNvSpPr txBox="1">
            <a:spLocks/>
          </p:cNvSpPr>
          <p:nvPr/>
        </p:nvSpPr>
        <p:spPr bwMode="auto">
          <a:xfrm>
            <a:off x="432001" y="1620000"/>
            <a:ext cx="11232619" cy="461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Arial" panose="020B0604020202020204" pitchFamily="34" charset="0"/>
              <a:buChar char="•"/>
              <a:defRPr sz="2000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marL="542925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9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8096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0763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4pPr>
            <a:lvl5pPr marL="13430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 err="1">
                <a:sym typeface="Wingdings" panose="05000000000000000000" pitchFamily="2" charset="2"/>
              </a:rPr>
              <a:t>Prepare</a:t>
            </a:r>
            <a:r>
              <a:rPr lang="de-DE" dirty="0">
                <a:sym typeface="Wingdings" panose="05000000000000000000" pitchFamily="2" charset="2"/>
              </a:rPr>
              <a:t> Phase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	1. Koordinator sperrt Teilnehmer Friedberg, Gießen und Wetzlar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	2. Die Teilnehmer präparieren das Update des Datensatzes und antworten Bereit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Commit Phase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	1. Koordinator sieht: Alle Teilnehmer Bereit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	2. Koordinator sendet Commit Message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	3. Die Teilnehmer bestätigen dem Koordinator den Commit</a:t>
            </a:r>
          </a:p>
        </p:txBody>
      </p:sp>
    </p:spTree>
    <p:extLst>
      <p:ext uri="{BB962C8B-B14F-4D97-AF65-F5344CB8AC3E}">
        <p14:creationId xmlns:p14="http://schemas.microsoft.com/office/powerpoint/2010/main" val="13944753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49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Übung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5D9A0F-DBF2-DB40-5FF0-10A0A07DA512}"/>
              </a:ext>
            </a:extLst>
          </p:cNvPr>
          <p:cNvSpPr txBox="1">
            <a:spLocks/>
          </p:cNvSpPr>
          <p:nvPr/>
        </p:nvSpPr>
        <p:spPr bwMode="auto">
          <a:xfrm>
            <a:off x="432001" y="1620000"/>
            <a:ext cx="11232619" cy="461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Arial" panose="020B0604020202020204" pitchFamily="34" charset="0"/>
              <a:buChar char="•"/>
              <a:defRPr sz="2000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marL="542925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9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8096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0763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4pPr>
            <a:lvl5pPr marL="13430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Die 5 Freunde Alice, Bob, Charlie und Dave spielen ein Peer 2 Peer Online Spiel.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Das Spiel muss zu Beginn der Session einen Lobbyhost bestimmen.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Das Spiel von Alice schlägt sich selbst als Host vor und benutzt dabei die</a:t>
            </a:r>
          </a:p>
          <a:p>
            <a:pPr marL="0" indent="0">
              <a:buNone/>
            </a:pPr>
            <a:r>
              <a:rPr lang="de-DE" dirty="0" err="1">
                <a:sym typeface="Wingdings" panose="05000000000000000000" pitchFamily="2" charset="2"/>
              </a:rPr>
              <a:t>Proposal</a:t>
            </a:r>
            <a:r>
              <a:rPr lang="de-DE" dirty="0">
                <a:sym typeface="Wingdings" panose="05000000000000000000" pitchFamily="2" charset="2"/>
              </a:rPr>
              <a:t>-ID 25 mit Wert „Alice“. </a:t>
            </a:r>
            <a:r>
              <a:rPr lang="de-DE" dirty="0" err="1">
                <a:sym typeface="Wingdings" panose="05000000000000000000" pitchFamily="2" charset="2"/>
              </a:rPr>
              <a:t>Alice‘s</a:t>
            </a:r>
            <a:r>
              <a:rPr lang="de-DE" dirty="0">
                <a:sym typeface="Wingdings" panose="05000000000000000000" pitchFamily="2" charset="2"/>
              </a:rPr>
              <a:t> Spiel erhält dabei folgende Antworten:</a:t>
            </a:r>
          </a:p>
          <a:p>
            <a:pPr marL="0" indent="0">
              <a:buNone/>
            </a:pP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1. (</a:t>
            </a:r>
            <a:r>
              <a:rPr lang="de-DE" dirty="0" err="1">
                <a:sym typeface="Wingdings" panose="05000000000000000000" pitchFamily="2" charset="2"/>
              </a:rPr>
              <a:t>Proposal</a:t>
            </a:r>
            <a:r>
              <a:rPr lang="de-DE" dirty="0">
                <a:sym typeface="Wingdings" panose="05000000000000000000" pitchFamily="2" charset="2"/>
              </a:rPr>
              <a:t>-ID 22, Wert „Bob“) 2. (</a:t>
            </a:r>
            <a:r>
              <a:rPr lang="de-DE" dirty="0" err="1">
                <a:sym typeface="Wingdings" panose="05000000000000000000" pitchFamily="2" charset="2"/>
              </a:rPr>
              <a:t>Proposal</a:t>
            </a:r>
            <a:r>
              <a:rPr lang="de-DE" dirty="0">
                <a:sym typeface="Wingdings" panose="05000000000000000000" pitchFamily="2" charset="2"/>
              </a:rPr>
              <a:t>-ID 23, Wert „Dave“) 3. (enthält kein </a:t>
            </a:r>
            <a:r>
              <a:rPr lang="de-DE" dirty="0" err="1">
                <a:sym typeface="Wingdings" panose="05000000000000000000" pitchFamily="2" charset="2"/>
              </a:rPr>
              <a:t>Proposal</a:t>
            </a:r>
            <a:r>
              <a:rPr lang="de-DE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Welche </a:t>
            </a:r>
            <a:r>
              <a:rPr lang="de-DE" dirty="0" err="1">
                <a:sym typeface="Wingdings" panose="05000000000000000000" pitchFamily="2" charset="2"/>
              </a:rPr>
              <a:t>Proposal</a:t>
            </a:r>
            <a:r>
              <a:rPr lang="de-DE" dirty="0">
                <a:sym typeface="Wingdings" panose="05000000000000000000" pitchFamily="2" charset="2"/>
              </a:rPr>
              <a:t> ID und welchen Wert würde das Spiel von Alice in seinen </a:t>
            </a:r>
            <a:r>
              <a:rPr lang="de-DE" dirty="0" err="1">
                <a:sym typeface="Wingdings" panose="05000000000000000000" pitchFamily="2" charset="2"/>
              </a:rPr>
              <a:t>Accept</a:t>
            </a:r>
            <a:r>
              <a:rPr lang="de-DE" dirty="0">
                <a:sym typeface="Wingdings" panose="05000000000000000000" pitchFamily="2" charset="2"/>
              </a:rPr>
              <a:t> Nachrichten versenden?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608806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50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Übung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5D9A0F-DBF2-DB40-5FF0-10A0A07DA512}"/>
              </a:ext>
            </a:extLst>
          </p:cNvPr>
          <p:cNvSpPr txBox="1">
            <a:spLocks/>
          </p:cNvSpPr>
          <p:nvPr/>
        </p:nvSpPr>
        <p:spPr bwMode="auto">
          <a:xfrm>
            <a:off x="432001" y="1620000"/>
            <a:ext cx="11232619" cy="461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Arial" panose="020B0604020202020204" pitchFamily="34" charset="0"/>
              <a:buChar char="•"/>
              <a:defRPr sz="2000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marL="542925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9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8096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0763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4pPr>
            <a:lvl5pPr marL="13430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Die 5 Freunde Alice, Bob, Charlie und Dave spielen ein Peer 2 Peer Online Spiel.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Das Spiel muss zu Beginn der Session einen Lobbyhost bestimmen.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Das Spiel von Alice schlägt sich selbst als Host vor und benutzt dabei die</a:t>
            </a:r>
          </a:p>
          <a:p>
            <a:pPr marL="0" indent="0">
              <a:buNone/>
            </a:pPr>
            <a:r>
              <a:rPr lang="de-DE" dirty="0" err="1">
                <a:sym typeface="Wingdings" panose="05000000000000000000" pitchFamily="2" charset="2"/>
              </a:rPr>
              <a:t>Proposal</a:t>
            </a:r>
            <a:r>
              <a:rPr lang="de-DE" dirty="0">
                <a:sym typeface="Wingdings" panose="05000000000000000000" pitchFamily="2" charset="2"/>
              </a:rPr>
              <a:t>-ID 25 mit Wert „Alice“. </a:t>
            </a:r>
            <a:r>
              <a:rPr lang="de-DE" dirty="0" err="1">
                <a:sym typeface="Wingdings" panose="05000000000000000000" pitchFamily="2" charset="2"/>
              </a:rPr>
              <a:t>Alice‘s</a:t>
            </a:r>
            <a:r>
              <a:rPr lang="de-DE" dirty="0">
                <a:sym typeface="Wingdings" panose="05000000000000000000" pitchFamily="2" charset="2"/>
              </a:rPr>
              <a:t> Spiel erhält dabei folgende Antworten:</a:t>
            </a:r>
          </a:p>
          <a:p>
            <a:pPr marL="0" indent="0">
              <a:buNone/>
            </a:pPr>
            <a:br>
              <a:rPr lang="de-DE" dirty="0">
                <a:sym typeface="Wingdings" panose="05000000000000000000" pitchFamily="2" charset="2"/>
              </a:rPr>
            </a:br>
            <a:r>
              <a:rPr lang="de-DE" dirty="0">
                <a:sym typeface="Wingdings" panose="05000000000000000000" pitchFamily="2" charset="2"/>
              </a:rPr>
              <a:t>1. (</a:t>
            </a:r>
            <a:r>
              <a:rPr lang="de-DE" dirty="0" err="1">
                <a:sym typeface="Wingdings" panose="05000000000000000000" pitchFamily="2" charset="2"/>
              </a:rPr>
              <a:t>Proposal</a:t>
            </a:r>
            <a:r>
              <a:rPr lang="de-DE" dirty="0">
                <a:sym typeface="Wingdings" panose="05000000000000000000" pitchFamily="2" charset="2"/>
              </a:rPr>
              <a:t>-ID 22, Wert „Bob“) 2. (</a:t>
            </a:r>
            <a:r>
              <a:rPr lang="de-DE" dirty="0" err="1">
                <a:sym typeface="Wingdings" panose="05000000000000000000" pitchFamily="2" charset="2"/>
              </a:rPr>
              <a:t>Proposal</a:t>
            </a:r>
            <a:r>
              <a:rPr lang="de-DE" dirty="0">
                <a:sym typeface="Wingdings" panose="05000000000000000000" pitchFamily="2" charset="2"/>
              </a:rPr>
              <a:t>-ID 23, Wert „Dave“) 3. (enthält kein </a:t>
            </a:r>
            <a:r>
              <a:rPr lang="de-DE" dirty="0" err="1">
                <a:sym typeface="Wingdings" panose="05000000000000000000" pitchFamily="2" charset="2"/>
              </a:rPr>
              <a:t>Proposal</a:t>
            </a:r>
            <a:r>
              <a:rPr lang="de-DE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Welche </a:t>
            </a:r>
            <a:r>
              <a:rPr lang="de-DE" dirty="0" err="1">
                <a:sym typeface="Wingdings" panose="05000000000000000000" pitchFamily="2" charset="2"/>
              </a:rPr>
              <a:t>Proposal</a:t>
            </a:r>
            <a:r>
              <a:rPr lang="de-DE" dirty="0">
                <a:sym typeface="Wingdings" panose="05000000000000000000" pitchFamily="2" charset="2"/>
              </a:rPr>
              <a:t>-ID und welchen Wert würde das Spiel von Alice in seinen </a:t>
            </a:r>
            <a:r>
              <a:rPr lang="de-DE" dirty="0" err="1">
                <a:sym typeface="Wingdings" panose="05000000000000000000" pitchFamily="2" charset="2"/>
              </a:rPr>
              <a:t>Accept</a:t>
            </a:r>
            <a:r>
              <a:rPr lang="de-DE" dirty="0">
                <a:sym typeface="Wingdings" panose="05000000000000000000" pitchFamily="2" charset="2"/>
              </a:rPr>
              <a:t> Nachrichten versenden?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Proposal</a:t>
            </a:r>
            <a:r>
              <a:rPr lang="de-DE" dirty="0">
                <a:sym typeface="Wingdings" panose="05000000000000000000" pitchFamily="2" charset="2"/>
              </a:rPr>
              <a:t>-ID 23, Wert „Dave“ (höchste bereits akzeptierte ID)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991148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51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Übung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5D9A0F-DBF2-DB40-5FF0-10A0A07DA512}"/>
              </a:ext>
            </a:extLst>
          </p:cNvPr>
          <p:cNvSpPr txBox="1">
            <a:spLocks/>
          </p:cNvSpPr>
          <p:nvPr/>
        </p:nvSpPr>
        <p:spPr bwMode="auto">
          <a:xfrm>
            <a:off x="432001" y="1620000"/>
            <a:ext cx="11232619" cy="461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Arial" panose="020B0604020202020204" pitchFamily="34" charset="0"/>
              <a:buChar char="•"/>
              <a:defRPr sz="2000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marL="542925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9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8096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0763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4pPr>
            <a:lvl5pPr marL="13430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Sie buchen einen Urlaubstrip über eine Webseite, die Komplettpakete anbietet.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Dort wählen Sie ein Hotel (Zimmer mit Doppelbett), einen Flug (mit 2 Sitzen nebeneinander, einer am Fenster), sowie einen Leihwagen für die Dauer des Aufenthaltes (mit 4 Sitzen und großem </a:t>
            </a:r>
            <a:r>
              <a:rPr lang="de-DE" dirty="0" err="1">
                <a:sym typeface="Wingdings" panose="05000000000000000000" pitchFamily="2" charset="2"/>
              </a:rPr>
              <a:t>Kofferaum</a:t>
            </a:r>
            <a:r>
              <a:rPr lang="de-DE" dirty="0">
                <a:sym typeface="Wingdings" panose="05000000000000000000" pitchFamily="2" charset="2"/>
              </a:rPr>
              <a:t>). Sie geben Ihre Zahlungsinformationen ein, und bestätigen den Kauf.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Erklären Sie, welches Konsensverfahren Sie als Betreiber der Urlaubsseite benutzen würden, um dem Kunden die gewünschte Reise zu buchen.</a:t>
            </a:r>
          </a:p>
        </p:txBody>
      </p:sp>
    </p:spTree>
    <p:extLst>
      <p:ext uri="{BB962C8B-B14F-4D97-AF65-F5344CB8AC3E}">
        <p14:creationId xmlns:p14="http://schemas.microsoft.com/office/powerpoint/2010/main" val="4472142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52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Übung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E5D9A0F-DBF2-DB40-5FF0-10A0A07DA512}"/>
              </a:ext>
            </a:extLst>
          </p:cNvPr>
          <p:cNvSpPr txBox="1">
            <a:spLocks/>
          </p:cNvSpPr>
          <p:nvPr/>
        </p:nvSpPr>
        <p:spPr bwMode="auto">
          <a:xfrm>
            <a:off x="432001" y="1620000"/>
            <a:ext cx="11232619" cy="461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Arial" panose="020B0604020202020204" pitchFamily="34" charset="0"/>
              <a:buChar char="•"/>
              <a:defRPr sz="2000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marL="542925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9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8096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0763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4pPr>
            <a:lvl5pPr marL="13430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Sie buchen einen Urlaubstrip über eine Webseite, die Komplettpakete anbietet.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Dort wählen Sie ein Hotel (Zimmer mit Doppelbett), einen Flug (mit 2 Sitzen nebeneinander, einer am Fenster), sowie einen Leihwagen für die Dauer des Aufenthaltes (mit 4 Sitzen und großem </a:t>
            </a:r>
            <a:r>
              <a:rPr lang="de-DE" dirty="0" err="1">
                <a:sym typeface="Wingdings" panose="05000000000000000000" pitchFamily="2" charset="2"/>
              </a:rPr>
              <a:t>Kofferaum</a:t>
            </a:r>
            <a:r>
              <a:rPr lang="de-DE" dirty="0">
                <a:sym typeface="Wingdings" panose="05000000000000000000" pitchFamily="2" charset="2"/>
              </a:rPr>
              <a:t>). Sie geben Ihre Zahlungsinformationen ein, und bestätigen den Kauf.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Erklären Sie, welches Konsensverfahren Sie als Betreiber der Urlaubsseite benutzen würden, um dem Kunden die gewünschte Reise zu buchen.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9DCC0AB3-924A-C9FB-6BE1-25DB53D65B3E}"/>
              </a:ext>
            </a:extLst>
          </p:cNvPr>
          <p:cNvSpPr/>
          <p:nvPr/>
        </p:nvSpPr>
        <p:spPr>
          <a:xfrm>
            <a:off x="4307802" y="4824416"/>
            <a:ext cx="2088232" cy="864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Urlaubs Website</a:t>
            </a:r>
          </a:p>
          <a:p>
            <a:pPr algn="ctr"/>
            <a:r>
              <a:rPr lang="de-DE" dirty="0"/>
              <a:t>2PC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74E7F9C-DFC5-CEA0-8659-33C0E66347C9}"/>
              </a:ext>
            </a:extLst>
          </p:cNvPr>
          <p:cNvSpPr/>
          <p:nvPr/>
        </p:nvSpPr>
        <p:spPr>
          <a:xfrm>
            <a:off x="1847528" y="4149080"/>
            <a:ext cx="1368152" cy="6753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Bank</a:t>
            </a:r>
          </a:p>
          <a:p>
            <a:pPr algn="ctr"/>
            <a:r>
              <a:rPr lang="de-DE" dirty="0" err="1"/>
              <a:t>Paxos</a:t>
            </a:r>
            <a:endParaRPr lang="de-DE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E55907F-030C-DC26-F15F-451BEE822469}"/>
              </a:ext>
            </a:extLst>
          </p:cNvPr>
          <p:cNvSpPr/>
          <p:nvPr/>
        </p:nvSpPr>
        <p:spPr>
          <a:xfrm>
            <a:off x="1847528" y="5777998"/>
            <a:ext cx="1368152" cy="6753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Hotel</a:t>
            </a:r>
          </a:p>
          <a:p>
            <a:pPr algn="ctr"/>
            <a:r>
              <a:rPr lang="de-DE" dirty="0" err="1"/>
              <a:t>Paxos</a:t>
            </a:r>
            <a:endParaRPr lang="de-DE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EA625EA3-25FC-F414-7905-9D7AE56F06AF}"/>
              </a:ext>
            </a:extLst>
          </p:cNvPr>
          <p:cNvSpPr/>
          <p:nvPr/>
        </p:nvSpPr>
        <p:spPr>
          <a:xfrm>
            <a:off x="7464152" y="4149079"/>
            <a:ext cx="1368152" cy="6753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Airline</a:t>
            </a:r>
          </a:p>
          <a:p>
            <a:pPr algn="ctr"/>
            <a:r>
              <a:rPr lang="de-DE" dirty="0" err="1"/>
              <a:t>Paxos</a:t>
            </a:r>
            <a:endParaRPr lang="de-DE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2959DD7-3BF1-8FA4-4285-919DFFFD28D8}"/>
              </a:ext>
            </a:extLst>
          </p:cNvPr>
          <p:cNvSpPr/>
          <p:nvPr/>
        </p:nvSpPr>
        <p:spPr>
          <a:xfrm>
            <a:off x="7464152" y="5777997"/>
            <a:ext cx="1368152" cy="6753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Autoverleih</a:t>
            </a:r>
          </a:p>
          <a:p>
            <a:pPr algn="ctr"/>
            <a:r>
              <a:rPr lang="de-DE" dirty="0" err="1"/>
              <a:t>Paxos</a:t>
            </a:r>
            <a:endParaRPr lang="de-DE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73DB2EF-247F-A93C-784F-822930DB9285}"/>
              </a:ext>
            </a:extLst>
          </p:cNvPr>
          <p:cNvCxnSpPr>
            <a:cxnSpLocks/>
          </p:cNvCxnSpPr>
          <p:nvPr/>
        </p:nvCxnSpPr>
        <p:spPr>
          <a:xfrm flipV="1">
            <a:off x="6396034" y="4486747"/>
            <a:ext cx="1068118" cy="400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6BF7321-2F52-F3EC-5D28-253AE10499D6}"/>
              </a:ext>
            </a:extLst>
          </p:cNvPr>
          <p:cNvCxnSpPr>
            <a:cxnSpLocks/>
          </p:cNvCxnSpPr>
          <p:nvPr/>
        </p:nvCxnSpPr>
        <p:spPr>
          <a:xfrm>
            <a:off x="6396034" y="5631024"/>
            <a:ext cx="1068118" cy="482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88B8835-EA80-9516-3D70-7E1D6355108F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3215680" y="4486749"/>
            <a:ext cx="1068118" cy="400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B8C37F2-C69C-1DE8-76A6-F926A3842FDA}"/>
              </a:ext>
            </a:extLst>
          </p:cNvPr>
          <p:cNvCxnSpPr>
            <a:cxnSpLocks/>
          </p:cNvCxnSpPr>
          <p:nvPr/>
        </p:nvCxnSpPr>
        <p:spPr>
          <a:xfrm flipH="1">
            <a:off x="3215680" y="5688512"/>
            <a:ext cx="1092122" cy="424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730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53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</a:t>
            </a:r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B9A7DADB-2E47-3A7F-44A8-DC17CD88A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796336"/>
              </p:ext>
            </p:extLst>
          </p:nvPr>
        </p:nvGraphicFramePr>
        <p:xfrm>
          <a:off x="325209" y="1484784"/>
          <a:ext cx="11541582" cy="4536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7194">
                  <a:extLst>
                    <a:ext uri="{9D8B030D-6E8A-4147-A177-3AD203B41FA5}">
                      <a16:colId xmlns:a16="http://schemas.microsoft.com/office/drawing/2014/main" val="1486319756"/>
                    </a:ext>
                  </a:extLst>
                </a:gridCol>
                <a:gridCol w="3847194">
                  <a:extLst>
                    <a:ext uri="{9D8B030D-6E8A-4147-A177-3AD203B41FA5}">
                      <a16:colId xmlns:a16="http://schemas.microsoft.com/office/drawing/2014/main" val="2382238395"/>
                    </a:ext>
                  </a:extLst>
                </a:gridCol>
                <a:gridCol w="3847194">
                  <a:extLst>
                    <a:ext uri="{9D8B030D-6E8A-4147-A177-3AD203B41FA5}">
                      <a16:colId xmlns:a16="http://schemas.microsoft.com/office/drawing/2014/main" val="3491252865"/>
                    </a:ext>
                  </a:extLst>
                </a:gridCol>
              </a:tblGrid>
              <a:tr h="1176219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2-Phasen-Commit-Protokoll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err="1"/>
                        <a:t>Paxos</a:t>
                      </a:r>
                      <a:r>
                        <a:rPr lang="de-DE" sz="2400" dirty="0"/>
                        <a:t> Algorithmus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6047182"/>
                  </a:ext>
                </a:extLst>
              </a:tr>
              <a:tr h="1680142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Vorteile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Atomarität</a:t>
                      </a:r>
                      <a:r>
                        <a:rPr lang="de-DE" dirty="0"/>
                        <a:t>: Datenkonsistenz</a:t>
                      </a:r>
                    </a:p>
                    <a:p>
                      <a:pPr algn="ctr"/>
                      <a:r>
                        <a:rPr lang="de-DE" dirty="0"/>
                        <a:t>Koordination: Mehrere non-</a:t>
                      </a:r>
                      <a:r>
                        <a:rPr lang="de-DE" dirty="0" err="1"/>
                        <a:t>equivalente</a:t>
                      </a:r>
                      <a:r>
                        <a:rPr lang="de-DE" dirty="0"/>
                        <a:t> Teilnehmer stimmen zu dass die Aktion sicher ausführbar 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Toleranz gegenüber Ausfällen</a:t>
                      </a:r>
                    </a:p>
                    <a:p>
                      <a:pPr algn="ctr"/>
                      <a:r>
                        <a:rPr lang="de-DE" dirty="0"/>
                        <a:t>Flexibel für viele Konsens Szenarien einsetzbar</a:t>
                      </a:r>
                    </a:p>
                    <a:p>
                      <a:pPr algn="ctr"/>
                      <a:r>
                        <a:rPr lang="de-DE" dirty="0"/>
                        <a:t>Performance hoch skalierbar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447062"/>
                  </a:ext>
                </a:extLst>
              </a:tr>
              <a:tr h="1680142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/>
                        <a:t>Nachteile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Mögliche Blockierungen und Haltezustände</a:t>
                      </a:r>
                    </a:p>
                    <a:p>
                      <a:pPr algn="ctr"/>
                      <a:r>
                        <a:rPr lang="de-DE" dirty="0"/>
                        <a:t>Unflexibel</a:t>
                      </a:r>
                    </a:p>
                    <a:p>
                      <a:pPr algn="ctr"/>
                      <a:r>
                        <a:rPr lang="de-DE" dirty="0"/>
                        <a:t>schlechte Skalierbarkeit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Komplex: Schwierig zu Implementieren</a:t>
                      </a:r>
                    </a:p>
                    <a:p>
                      <a:pPr algn="ctr"/>
                      <a:r>
                        <a:rPr lang="de-DE" dirty="0"/>
                        <a:t>Möglicherweise großer Overhead durch viele Nachrichten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927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8532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FDC661-1F0B-54D7-5516-E7E22FC65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54</a:t>
            </a:fld>
            <a:endParaRPr lang="de-DE" alt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878771F-3E13-9F10-325C-42AA3350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EEB146BA-7091-CBCA-0744-79C1978501E2}"/>
              </a:ext>
            </a:extLst>
          </p:cNvPr>
          <p:cNvSpPr txBox="1">
            <a:spLocks/>
          </p:cNvSpPr>
          <p:nvPr/>
        </p:nvSpPr>
        <p:spPr bwMode="auto">
          <a:xfrm>
            <a:off x="432001" y="1620000"/>
            <a:ext cx="11232619" cy="461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Arial" panose="020B0604020202020204" pitchFamily="34" charset="0"/>
              <a:buChar char="•"/>
              <a:defRPr sz="2000" kern="1200">
                <a:solidFill>
                  <a:srgbClr val="4A5C66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marL="542925" indent="-2762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9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8096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0763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4pPr>
            <a:lvl5pPr marL="1343025" indent="-2667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80000"/>
              <a:buFont typeface="Wingdings" charset="2"/>
              <a:buChar char="§"/>
              <a:defRPr sz="2000" kern="1200">
                <a:solidFill>
                  <a:srgbClr val="4A5C66"/>
                </a:solidFill>
                <a:latin typeface="Arial" pitchFamily="34" charset="0"/>
                <a:ea typeface="Arial" charset="0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  <a:hlinkClick r:id="rId2"/>
              </a:rPr>
              <a:t>https://predr.ag/blog/paxos-vs-2pc/</a:t>
            </a: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  <a:hlinkClick r:id="rId3"/>
              </a:rPr>
              <a:t>https://blog.the-pans.com/discover-paxos/</a:t>
            </a: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  <a:hlinkClick r:id="rId4"/>
              </a:rPr>
              <a:t>https://lamport.azurewebsites.net/pubs/paxos-simple.pdf</a:t>
            </a: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  <a:hlinkClick r:id="rId5"/>
              </a:rPr>
              <a:t>https://people.cs.rutgers.edu/~pxk/417/notes/paxos.html</a:t>
            </a: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33375471"/>
      </p:ext>
    </p:extLst>
  </p:cSld>
  <p:clrMapOvr>
    <a:masterClrMapping/>
  </p:clrMapOvr>
</p:sld>
</file>

<file path=ppt/theme/theme1.xml><?xml version="1.0" encoding="utf-8"?>
<a:theme xmlns:a="http://schemas.openxmlformats.org/drawingml/2006/main" name="THM-Folienmaster">
  <a:themeElements>
    <a:clrScheme name="THM Farben">
      <a:dk1>
        <a:srgbClr val="4A5C66"/>
      </a:dk1>
      <a:lt1>
        <a:sysClr val="window" lastClr="FFFFFF"/>
      </a:lt1>
      <a:dk2>
        <a:srgbClr val="1F497D"/>
      </a:dk2>
      <a:lt2>
        <a:srgbClr val="EEECE1"/>
      </a:lt2>
      <a:accent1>
        <a:srgbClr val="80BA24"/>
      </a:accent1>
      <a:accent2>
        <a:srgbClr val="4A5C66"/>
      </a:accent2>
      <a:accent3>
        <a:srgbClr val="B30931"/>
      </a:accent3>
      <a:accent4>
        <a:srgbClr val="FBBA00"/>
      </a:accent4>
      <a:accent5>
        <a:srgbClr val="00B5E2"/>
      </a:accent5>
      <a:accent6>
        <a:srgbClr val="0042BB"/>
      </a:accent6>
      <a:hlink>
        <a:srgbClr val="0042BB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M-092017" id="{F2E74DBF-A00C-0049-AFFE-E20DFFD05F23}" vid="{9967E0B6-F9B0-0C46-B645-E7DA8BD149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THM-092017</Template>
  <TotalTime>0</TotalTime>
  <Words>2666</Words>
  <Application>Microsoft Office PowerPoint</Application>
  <PresentationFormat>Breitbild</PresentationFormat>
  <Paragraphs>891</Paragraphs>
  <Slides>54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54</vt:i4>
      </vt:variant>
    </vt:vector>
  </HeadingPairs>
  <TitlesOfParts>
    <vt:vector size="59" baseType="lpstr">
      <vt:lpstr>Arial</vt:lpstr>
      <vt:lpstr>Calibri</vt:lpstr>
      <vt:lpstr>Helvetica</vt:lpstr>
      <vt:lpstr>Wingdings</vt:lpstr>
      <vt:lpstr>THM-Folienmaster</vt:lpstr>
      <vt:lpstr>PowerPoint-Präsentation</vt:lpstr>
      <vt:lpstr>Überweisung</vt:lpstr>
      <vt:lpstr>Überweisung</vt:lpstr>
      <vt:lpstr>Überweisung</vt:lpstr>
      <vt:lpstr>Überweisung</vt:lpstr>
      <vt:lpstr>Überweisung</vt:lpstr>
      <vt:lpstr>Überweisung</vt:lpstr>
      <vt:lpstr>2-Phasen-Commit-Protokoll (2PC)</vt:lpstr>
      <vt:lpstr>2-Phasen-Commit-Protokoll (2PC)</vt:lpstr>
      <vt:lpstr>2-Phasen-Commit-Protokoll (2PC)</vt:lpstr>
      <vt:lpstr>2-Phasen-Commit-Protokoll (2PC)</vt:lpstr>
      <vt:lpstr>2-Phasen-Commit-Protokoll (2PC)</vt:lpstr>
      <vt:lpstr>2-Phasen-Commit-Protokoll (2PC)</vt:lpstr>
      <vt:lpstr>2-Phasen-Commit-Protokoll (2PC)</vt:lpstr>
      <vt:lpstr>2-Phasen-Commit-Protokoll (2PC)</vt:lpstr>
      <vt:lpstr>2-Phasen-Commit-Protokoll (2PC)</vt:lpstr>
      <vt:lpstr>2-Phasen-Commit-Protokoll (2PC)</vt:lpstr>
      <vt:lpstr>2-Phasen-Commit-Protokoll (2PC)</vt:lpstr>
      <vt:lpstr>2-Phasen-Commit-Protokoll (2PC)</vt:lpstr>
      <vt:lpstr>2-Phasen-Commit-Protokoll (2PC)</vt:lpstr>
      <vt:lpstr>Paxos</vt:lpstr>
      <vt:lpstr>Paxos</vt:lpstr>
      <vt:lpstr>PowerPoint-Präsentation</vt:lpstr>
      <vt:lpstr>Problem von 2PC -&gt; Liveness Requirement verletzt, sobald 1 Teilnehmer ausfällt</vt:lpstr>
      <vt:lpstr>Aber -&gt; um eine eindeutige Entscheidung zu treffen genügt die Mehrheit </vt:lpstr>
      <vt:lpstr>Sobald einer der Acceptors den Wert akzeptiert hat, gilt er als gewählt</vt:lpstr>
      <vt:lpstr>PowerPoint-Präsentation</vt:lpstr>
      <vt:lpstr>Vorschlag: Der Koordinator sendet die vorgeschlagene Value in der Prepare Phase</vt:lpstr>
      <vt:lpstr>PowerPoint-Präsentation</vt:lpstr>
      <vt:lpstr>PowerPoint-Präsentation</vt:lpstr>
      <vt:lpstr>PowerPoint-Präsentation</vt:lpstr>
      <vt:lpstr>1 Knoten weniger</vt:lpstr>
      <vt:lpstr>PowerPoint-Präsentation</vt:lpstr>
      <vt:lpstr>Sobald die Mehrheit einen Wert prepared hat ist er schon gewählt!</vt:lpstr>
      <vt:lpstr>Beweis durch Widerspruch: „Ein Wert ist erst gewählt, wenn er accepted wurde“</vt:lpstr>
      <vt:lpstr> Promises sind in diesem Beispiel nicht verbindlich! Beide Werte werden gewählt!</vt:lpstr>
      <vt:lpstr> Promises sind in diesem Beispiel nicht verbindlich! Beide Werte werden gewählt!</vt:lpstr>
      <vt:lpstr>Metadaten – Proposal-ID</vt:lpstr>
      <vt:lpstr>Metadaten – Proposal-ID</vt:lpstr>
      <vt:lpstr>Proposal ID</vt:lpstr>
      <vt:lpstr>Proposal ID</vt:lpstr>
      <vt:lpstr>Proposal ID</vt:lpstr>
      <vt:lpstr>Paxos</vt:lpstr>
      <vt:lpstr>Paxos</vt:lpstr>
      <vt:lpstr>Paxos</vt:lpstr>
      <vt:lpstr>Übung</vt:lpstr>
      <vt:lpstr>Übung</vt:lpstr>
      <vt:lpstr>Übung</vt:lpstr>
      <vt:lpstr>Übung</vt:lpstr>
      <vt:lpstr>Übung</vt:lpstr>
      <vt:lpstr>Übung</vt:lpstr>
      <vt:lpstr>Übung</vt:lpstr>
      <vt:lpstr>Vergleich</vt:lpstr>
      <vt:lpstr>Quellen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Olga  Altergot</dc:creator>
  <cp:lastModifiedBy>Joey Croner</cp:lastModifiedBy>
  <cp:revision>253</cp:revision>
  <cp:lastPrinted>2017-11-28T10:01:39Z</cp:lastPrinted>
  <dcterms:created xsi:type="dcterms:W3CDTF">2017-11-01T14:34:44Z</dcterms:created>
  <dcterms:modified xsi:type="dcterms:W3CDTF">2023-06-04T23:51:31Z</dcterms:modified>
</cp:coreProperties>
</file>