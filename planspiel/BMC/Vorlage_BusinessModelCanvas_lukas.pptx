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36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rica Waite" initials="EW" lastIdx="2" clrIdx="0">
    <p:extLst>
      <p:ext uri="{19B8F6BF-5375-455C-9EA6-DF929625EA0E}">
        <p15:presenceInfo xmlns:p15="http://schemas.microsoft.com/office/powerpoint/2012/main" userId="c568693182780e7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F8EB"/>
    <a:srgbClr val="0098C6"/>
    <a:srgbClr val="9CA58C"/>
    <a:srgbClr val="66BBCC"/>
    <a:srgbClr val="CBD6B5"/>
    <a:srgbClr val="EBD9B6"/>
    <a:srgbClr val="654105"/>
    <a:srgbClr val="7C5008"/>
    <a:srgbClr val="02B9F0"/>
    <a:srgbClr val="D5A60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471" autoAdjust="0"/>
    <p:restoredTop sz="86447"/>
  </p:normalViewPr>
  <p:slideViewPr>
    <p:cSldViewPr snapToGrid="0" snapToObjects="1">
      <p:cViewPr>
        <p:scale>
          <a:sx n="105" d="100"/>
          <a:sy n="105" d="100"/>
        </p:scale>
        <p:origin x="312" y="7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6AFEDE-F1BF-6A4A-80D9-CCB6DC4EFE3D}" type="datetimeFigureOut">
              <a:rPr lang="en-US" smtClean="0"/>
              <a:t>3/11/25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711C10-233D-DA48-A5CB-9365BBABB6B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076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3/11/25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7345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3/11/25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9415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3/11/25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9773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3/11/25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3701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3/11/25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70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3/11/25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5901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3/11/25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3076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3/11/25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9721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3/11/25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808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3/11/25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839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1E756-E947-FD4A-8A23-D2C983A1A8BD}" type="datetimeFigureOut">
              <a:rPr lang="en-US" smtClean="0"/>
              <a:t>3/11/25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738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81E756-E947-FD4A-8A23-D2C983A1A8BD}" type="datetimeFigureOut">
              <a:rPr lang="en-US" smtClean="0"/>
              <a:t>3/11/25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30669D-EC37-AA42-8CD3-B0788BD38FC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60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488F903-9E83-6DD1-25F2-DD0D60A0D68A}"/>
              </a:ext>
            </a:extLst>
          </p:cNvPr>
          <p:cNvSpPr/>
          <p:nvPr/>
        </p:nvSpPr>
        <p:spPr>
          <a:xfrm>
            <a:off x="0" y="1"/>
            <a:ext cx="12191999" cy="6858000"/>
          </a:xfrm>
          <a:prstGeom prst="rect">
            <a:avLst/>
          </a:prstGeom>
          <a:pattFill prst="dkDnDiag">
            <a:fgClr>
              <a:schemeClr val="bg1">
                <a:lumMod val="95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ED1AEF-41FF-4224-873E-6D4109FA5549}"/>
              </a:ext>
            </a:extLst>
          </p:cNvPr>
          <p:cNvSpPr txBox="1"/>
          <p:nvPr/>
        </p:nvSpPr>
        <p:spPr>
          <a:xfrm>
            <a:off x="161597" y="111009"/>
            <a:ext cx="118389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de-DE" sz="28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Business Model Canvas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81617E5D-454D-6140-82BA-0AC3CB567C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302911"/>
              </p:ext>
            </p:extLst>
          </p:nvPr>
        </p:nvGraphicFramePr>
        <p:xfrm>
          <a:off x="161597" y="1267359"/>
          <a:ext cx="11838950" cy="5479632"/>
        </p:xfrm>
        <a:graphic>
          <a:graphicData uri="http://schemas.openxmlformats.org/drawingml/2006/table">
            <a:tbl>
              <a:tblPr/>
              <a:tblGrid>
                <a:gridCol w="2367790">
                  <a:extLst>
                    <a:ext uri="{9D8B030D-6E8A-4147-A177-3AD203B41FA5}">
                      <a16:colId xmlns:a16="http://schemas.microsoft.com/office/drawing/2014/main" val="1915489427"/>
                    </a:ext>
                  </a:extLst>
                </a:gridCol>
                <a:gridCol w="2237922">
                  <a:extLst>
                    <a:ext uri="{9D8B030D-6E8A-4147-A177-3AD203B41FA5}">
                      <a16:colId xmlns:a16="http://schemas.microsoft.com/office/drawing/2014/main" val="3648122560"/>
                    </a:ext>
                  </a:extLst>
                </a:gridCol>
                <a:gridCol w="2352582">
                  <a:extLst>
                    <a:ext uri="{9D8B030D-6E8A-4147-A177-3AD203B41FA5}">
                      <a16:colId xmlns:a16="http://schemas.microsoft.com/office/drawing/2014/main" val="489068831"/>
                    </a:ext>
                  </a:extLst>
                </a:gridCol>
                <a:gridCol w="2627791">
                  <a:extLst>
                    <a:ext uri="{9D8B030D-6E8A-4147-A177-3AD203B41FA5}">
                      <a16:colId xmlns:a16="http://schemas.microsoft.com/office/drawing/2014/main" val="1821452548"/>
                    </a:ext>
                  </a:extLst>
                </a:gridCol>
                <a:gridCol w="2252865">
                  <a:extLst>
                    <a:ext uri="{9D8B030D-6E8A-4147-A177-3AD203B41FA5}">
                      <a16:colId xmlns:a16="http://schemas.microsoft.com/office/drawing/2014/main" val="1649091000"/>
                    </a:ext>
                  </a:extLst>
                </a:gridCol>
              </a:tblGrid>
              <a:tr h="1879342">
                <a:tc rowSpan="2"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Ink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/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paper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companies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Copy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machines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reseller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Copy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shops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IT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companies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that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can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install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our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products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52893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algn="l" rtl="0" fontAlgn="ctr"/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Selling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copy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machines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Copy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machine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renting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Providing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maintenance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services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Retail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services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Printing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services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52893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l" rtl="0" fontAlgn="ctr">
                        <a:buFontTx/>
                        <a:buNone/>
                      </a:pP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We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offer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copy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machines</a:t>
                      </a:r>
                      <a:r>
                        <a:rPr lang="de-DE" sz="1200" b="0" i="0" u="none" strike="noStrike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to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supply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small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businesses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with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accessible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copie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machines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.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Our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product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is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the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most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user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friendly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on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the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market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.</a:t>
                      </a:r>
                    </a:p>
                  </a:txBody>
                  <a:tcPr marL="52893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8EB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After-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sales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service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Loyalty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points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and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gift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catalogs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(e.g.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free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paper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or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ink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or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10% off an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order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Maintenance and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installation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service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24/7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telephone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hotline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for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users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(e.g.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never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break down!)</a:t>
                      </a:r>
                    </a:p>
                  </a:txBody>
                  <a:tcPr marL="52893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Public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sector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(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hospital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,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townhall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,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library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Private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smaller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businesses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(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bookseller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,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post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office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Services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that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take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care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of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an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establishment's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IT (ex: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for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schools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52893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284179"/>
                  </a:ext>
                </a:extLst>
              </a:tr>
              <a:tr h="18001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algn="l" rtl="0" fontAlgn="ctr"/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High end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hardware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Production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facility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Staff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for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production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and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sales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</a:p>
                    <a:p>
                      <a:pPr algn="l" rtl="0" fontAlgn="ctr"/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52893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Direct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contact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Exibitions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and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events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(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Drupa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Social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media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/ Website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Through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partners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(IT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service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companies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in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other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fields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52893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635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72348578"/>
                  </a:ext>
                </a:extLst>
              </a:tr>
              <a:tr h="1800145">
                <a:tc gridSpan="2">
                  <a:txBody>
                    <a:bodyPr/>
                    <a:lstStyle/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Customer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services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71450" indent="-171450" algn="l" rtl="0" fontAlgn="ctr">
                        <a:buFont typeface="Arial" panose="020B0604020202020204" pitchFamily="34" charset="0"/>
                        <a:buChar char="•"/>
                      </a:pP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Production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costs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Marketing /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advertising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Sofware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development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(UX UI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Experts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)</a:t>
                      </a:r>
                    </a:p>
                  </a:txBody>
                  <a:tcPr marL="52893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F8E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Copy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machine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sales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Copy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machines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rent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  <a:p>
                      <a:pPr marL="171450" marR="0" lvl="0" indent="-1714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Maintenance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contracts</a:t>
                      </a:r>
                      <a:r>
                        <a:rPr lang="de-DE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 / </a:t>
                      </a:r>
                      <a:r>
                        <a:rPr lang="de-DE" sz="12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entury Gothic" panose="020B0502020202020204" pitchFamily="34" charset="0"/>
                        </a:rPr>
                        <a:t>services</a:t>
                      </a:r>
                      <a:endParaRPr lang="de-DE" sz="1200" b="0" i="0" u="none" strike="noStrike" dirty="0">
                        <a:solidFill>
                          <a:srgbClr val="000000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52893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382130"/>
                  </a:ext>
                </a:extLst>
              </a:tr>
            </a:tbl>
          </a:graphicData>
        </a:graphic>
      </p:graphicFrame>
      <p:pic>
        <p:nvPicPr>
          <p:cNvPr id="17" name="Graphic 2" descr="Symbol für Händedruck">
            <a:extLst>
              <a:ext uri="{FF2B5EF4-FFF2-40B4-BE49-F238E27FC236}">
                <a16:creationId xmlns:a16="http://schemas.microsoft.com/office/drawing/2014/main" id="{8DCB9C2D-FD57-37DA-26B9-B2FC4B1F3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962150" y="1267359"/>
            <a:ext cx="523875" cy="523875"/>
          </a:xfrm>
          <a:prstGeom prst="rect">
            <a:avLst/>
          </a:prstGeom>
        </p:spPr>
      </p:pic>
      <p:pic>
        <p:nvPicPr>
          <p:cNvPr id="18" name="Graphic 4" descr="Symbol für Playbook">
            <a:extLst>
              <a:ext uri="{FF2B5EF4-FFF2-40B4-BE49-F238E27FC236}">
                <a16:creationId xmlns:a16="http://schemas.microsoft.com/office/drawing/2014/main" id="{734EA192-60AD-DC2C-ADB8-304BF5C7F2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22940" y="1257931"/>
            <a:ext cx="590550" cy="590550"/>
          </a:xfrm>
          <a:prstGeom prst="rect">
            <a:avLst/>
          </a:prstGeom>
        </p:spPr>
      </p:pic>
      <p:pic>
        <p:nvPicPr>
          <p:cNvPr id="19" name="Graphic 6" descr="Symbol für kreisförmiges Flussdiagramm">
            <a:extLst>
              <a:ext uri="{FF2B5EF4-FFF2-40B4-BE49-F238E27FC236}">
                <a16:creationId xmlns:a16="http://schemas.microsoft.com/office/drawing/2014/main" id="{588E2526-E910-6FBE-9FFC-6341FFFA806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42198" y="3098653"/>
            <a:ext cx="542925" cy="542925"/>
          </a:xfrm>
          <a:prstGeom prst="rect">
            <a:avLst/>
          </a:prstGeom>
        </p:spPr>
      </p:pic>
      <p:pic>
        <p:nvPicPr>
          <p:cNvPr id="20" name="Graphic 8" descr="Symbol für Klemmbrett mit Häkchen">
            <a:extLst>
              <a:ext uri="{FF2B5EF4-FFF2-40B4-BE49-F238E27FC236}">
                <a16:creationId xmlns:a16="http://schemas.microsoft.com/office/drawing/2014/main" id="{DA62B8A8-CD62-783E-DFC8-56AE73A023E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91559" y="1297181"/>
            <a:ext cx="533400" cy="533400"/>
          </a:xfrm>
          <a:prstGeom prst="rect">
            <a:avLst/>
          </a:prstGeom>
        </p:spPr>
      </p:pic>
      <p:pic>
        <p:nvPicPr>
          <p:cNvPr id="21" name="Graphic 12" descr="Symbol für Zielgruppe">
            <a:extLst>
              <a:ext uri="{FF2B5EF4-FFF2-40B4-BE49-F238E27FC236}">
                <a16:creationId xmlns:a16="http://schemas.microsoft.com/office/drawing/2014/main" id="{3C4AD222-0127-E800-4EA3-2D361D416AD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76432" y="1289044"/>
            <a:ext cx="533400" cy="533400"/>
          </a:xfrm>
          <a:prstGeom prst="rect">
            <a:avLst/>
          </a:prstGeom>
        </p:spPr>
      </p:pic>
      <p:pic>
        <p:nvPicPr>
          <p:cNvPr id="22" name="Graphic 14" descr="Symbol für Puzzleteile">
            <a:extLst>
              <a:ext uri="{FF2B5EF4-FFF2-40B4-BE49-F238E27FC236}">
                <a16:creationId xmlns:a16="http://schemas.microsoft.com/office/drawing/2014/main" id="{2765E318-C319-7EB8-4D6D-78251499417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410793" y="1299365"/>
            <a:ext cx="571500" cy="571500"/>
          </a:xfrm>
          <a:prstGeom prst="rect">
            <a:avLst/>
          </a:prstGeom>
        </p:spPr>
      </p:pic>
      <p:pic>
        <p:nvPicPr>
          <p:cNvPr id="23" name="Graphic 16" descr="Symbol für Zug">
            <a:extLst>
              <a:ext uri="{FF2B5EF4-FFF2-40B4-BE49-F238E27FC236}">
                <a16:creationId xmlns:a16="http://schemas.microsoft.com/office/drawing/2014/main" id="{03B51CF4-92D5-2EB0-CBBE-75E0F919214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321800" y="3205720"/>
            <a:ext cx="356501" cy="356501"/>
          </a:xfrm>
          <a:prstGeom prst="rect">
            <a:avLst/>
          </a:prstGeom>
        </p:spPr>
      </p:pic>
      <p:pic>
        <p:nvPicPr>
          <p:cNvPr id="24" name="Graphic 18" descr="Symbol für Geld">
            <a:extLst>
              <a:ext uri="{FF2B5EF4-FFF2-40B4-BE49-F238E27FC236}">
                <a16:creationId xmlns:a16="http://schemas.microsoft.com/office/drawing/2014/main" id="{4D64B36D-0B61-EDDC-B8F2-1E100A1546C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19942" y="4982481"/>
            <a:ext cx="600075" cy="600075"/>
          </a:xfrm>
          <a:prstGeom prst="rect">
            <a:avLst/>
          </a:prstGeom>
        </p:spPr>
      </p:pic>
      <p:pic>
        <p:nvPicPr>
          <p:cNvPr id="25" name="Graphic 20" descr="Symbol für Kasse">
            <a:extLst>
              <a:ext uri="{FF2B5EF4-FFF2-40B4-BE49-F238E27FC236}">
                <a16:creationId xmlns:a16="http://schemas.microsoft.com/office/drawing/2014/main" id="{08A43385-A526-57EB-840E-DD6C115A55BD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410793" y="5048552"/>
            <a:ext cx="561975" cy="56197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355032D2-F522-DE7F-9486-9643DAC9AD28}"/>
              </a:ext>
            </a:extLst>
          </p:cNvPr>
          <p:cNvSpPr txBox="1"/>
          <p:nvPr/>
        </p:nvSpPr>
        <p:spPr>
          <a:xfrm>
            <a:off x="170848" y="1299365"/>
            <a:ext cx="18366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"/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KEY PARTNERS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B428D26-2720-6E26-8FE0-84C5B9DD51CA}"/>
              </a:ext>
            </a:extLst>
          </p:cNvPr>
          <p:cNvSpPr txBox="1"/>
          <p:nvPr/>
        </p:nvSpPr>
        <p:spPr>
          <a:xfrm>
            <a:off x="2595562" y="1327243"/>
            <a:ext cx="18366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"/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KEY ACTIVITIES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EFCDCD-264B-0F71-CF22-A9277D7DB407}"/>
              </a:ext>
            </a:extLst>
          </p:cNvPr>
          <p:cNvSpPr txBox="1"/>
          <p:nvPr/>
        </p:nvSpPr>
        <p:spPr>
          <a:xfrm>
            <a:off x="4775465" y="1315807"/>
            <a:ext cx="194697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"/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VALUE PROPOSITION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BACA47-B558-6E66-937C-89E85B05201F}"/>
              </a:ext>
            </a:extLst>
          </p:cNvPr>
          <p:cNvSpPr txBox="1"/>
          <p:nvPr/>
        </p:nvSpPr>
        <p:spPr>
          <a:xfrm>
            <a:off x="7142914" y="1286230"/>
            <a:ext cx="23926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"/>
            <a:r>
              <a:rPr lang="de-DE" sz="12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CUSTOMER RELATIONSHIPS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AEE53B-A517-0C27-2701-56288CEE492F}"/>
              </a:ext>
            </a:extLst>
          </p:cNvPr>
          <p:cNvSpPr txBox="1"/>
          <p:nvPr/>
        </p:nvSpPr>
        <p:spPr>
          <a:xfrm>
            <a:off x="2595562" y="3167389"/>
            <a:ext cx="18366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"/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KEY RESOURCES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0D0561-7E81-B674-4241-EF1117BC33BA}"/>
              </a:ext>
            </a:extLst>
          </p:cNvPr>
          <p:cNvSpPr txBox="1"/>
          <p:nvPr/>
        </p:nvSpPr>
        <p:spPr>
          <a:xfrm>
            <a:off x="7142914" y="3167390"/>
            <a:ext cx="18366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"/>
            <a:r>
              <a:rPr lang="de-DE" sz="1400" dirty="0">
                <a:solidFill>
                  <a:srgbClr val="000000"/>
                </a:solidFill>
                <a:latin typeface="Century Gothic" panose="020B0502020202020204" pitchFamily="34" charset="0"/>
              </a:rPr>
              <a:t>CHANNELS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31D2344-98A7-43B1-CB26-116B63B89F21}"/>
              </a:ext>
            </a:extLst>
          </p:cNvPr>
          <p:cNvSpPr txBox="1"/>
          <p:nvPr/>
        </p:nvSpPr>
        <p:spPr>
          <a:xfrm>
            <a:off x="181773" y="4989120"/>
            <a:ext cx="18366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"/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COST STRUCTURE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214B272-48D8-4FBC-69EB-1E94B36B6DC3}"/>
              </a:ext>
            </a:extLst>
          </p:cNvPr>
          <p:cNvSpPr txBox="1"/>
          <p:nvPr/>
        </p:nvSpPr>
        <p:spPr>
          <a:xfrm>
            <a:off x="4775465" y="5021762"/>
            <a:ext cx="18366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"/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REVENUES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A664C1-295E-01C6-A2B8-B80861552732}"/>
              </a:ext>
            </a:extLst>
          </p:cNvPr>
          <p:cNvSpPr txBox="1"/>
          <p:nvPr/>
        </p:nvSpPr>
        <p:spPr>
          <a:xfrm>
            <a:off x="9726980" y="1311337"/>
            <a:ext cx="183664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"/>
            <a:r>
              <a:rPr lang="de-DE" sz="1400" b="0" i="0" u="none" strike="noStrike" dirty="0">
                <a:solidFill>
                  <a:srgbClr val="000000"/>
                </a:solidFill>
                <a:effectLst/>
                <a:latin typeface="Century Gothic" panose="020B0502020202020204" pitchFamily="34" charset="0"/>
              </a:rPr>
              <a:t>CUSTOMER SEGMENT</a:t>
            </a:r>
          </a:p>
        </p:txBody>
      </p:sp>
    </p:spTree>
    <p:extLst>
      <p:ext uri="{BB962C8B-B14F-4D97-AF65-F5344CB8AC3E}">
        <p14:creationId xmlns:p14="http://schemas.microsoft.com/office/powerpoint/2010/main" val="195510015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C-Brand-Strategy-Presentation-Template_PowerPoint" id="{5072B8BC-F743-2846-A5C9-5085C99AD20D}" vid="{9A97CBCC-1D55-0744-816E-F1A204A0548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 Office</Template>
  <TotalTime>59</TotalTime>
  <Words>201</Words>
  <Application>Microsoft Macintosh PowerPoint</Application>
  <PresentationFormat>Widescreen</PresentationFormat>
  <Paragraphs>46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Century Gothic</vt:lpstr>
      <vt:lpstr>Тема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Lukas Houille</cp:lastModifiedBy>
  <cp:revision>38</cp:revision>
  <dcterms:created xsi:type="dcterms:W3CDTF">2022-05-22T18:55:25Z</dcterms:created>
  <dcterms:modified xsi:type="dcterms:W3CDTF">2025-03-11T13:35:37Z</dcterms:modified>
</cp:coreProperties>
</file>