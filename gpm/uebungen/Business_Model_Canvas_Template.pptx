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5" r:id="rId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780" autoAdjust="0"/>
    <p:restoredTop sz="96197" autoAdjust="0"/>
  </p:normalViewPr>
  <p:slideViewPr>
    <p:cSldViewPr>
      <p:cViewPr varScale="1">
        <p:scale>
          <a:sx n="124" d="100"/>
          <a:sy n="124" d="100"/>
        </p:scale>
        <p:origin x="1672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D72A28-6E37-47CE-99F3-5D79F25CC39C}" type="datetimeFigureOut">
              <a:rPr lang="en-AU"/>
              <a:pPr>
                <a:defRPr/>
              </a:pPr>
              <a:t>26/10/2023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3122FFE-DB63-40EA-9FEE-44EB1B5B8D88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A98839-D685-4C73-B910-02BFDA2B749B}" type="datetimeFigureOut">
              <a:rPr lang="en-AU"/>
              <a:pPr>
                <a:defRPr/>
              </a:pPr>
              <a:t>26/10/2023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70D9A4-4E52-4AD1-8EB0-900F6A90443A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AAF60F-EB10-457D-92B9-86DC9D79DCD7}" type="datetimeFigureOut">
              <a:rPr lang="en-AU"/>
              <a:pPr>
                <a:defRPr/>
              </a:pPr>
              <a:t>26/10/2023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7A5679-EA2C-46D6-B854-408EE1EA3809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BBE288-3AA6-4EA2-A97C-C0F2E9166CED}" type="datetimeFigureOut">
              <a:rPr lang="en-AU"/>
              <a:pPr>
                <a:defRPr/>
              </a:pPr>
              <a:t>26/10/2023</a:t>
            </a:fld>
            <a:endParaRPr lang="en-AU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E55B0D-09C6-459E-B8A3-607027447B8C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B3E126-A795-4B39-92C1-A890E8F0A63A}" type="datetimeFigureOut">
              <a:rPr lang="en-AU"/>
              <a:pPr>
                <a:defRPr/>
              </a:pPr>
              <a:t>26/10/2023</a:t>
            </a:fld>
            <a:endParaRPr lang="en-AU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1D323D-0B25-479C-8BF4-EDBB52B1E853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E74AFA-2ED2-41BB-AB23-C492E8D3F56A}" type="datetimeFigureOut">
              <a:rPr lang="en-AU"/>
              <a:pPr>
                <a:defRPr/>
              </a:pPr>
              <a:t>26/10/2023</a:t>
            </a:fld>
            <a:endParaRPr lang="en-AU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671606E-9F33-4538-9D7A-C71704F4E7A0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0F74AA1-C955-4B09-854E-3E4A6094309B}" type="datetimeFigureOut">
              <a:rPr lang="en-AU"/>
              <a:pPr>
                <a:defRPr/>
              </a:pPr>
              <a:t>26/10/2023</a:t>
            </a:fld>
            <a:endParaRPr lang="en-AU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57BD877-F750-48E0-B45A-8BA024CAC844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545C4F-B111-4FA9-A6D6-9A3BB3272E45}" type="datetimeFigureOut">
              <a:rPr lang="en-AU"/>
              <a:pPr>
                <a:defRPr/>
              </a:pPr>
              <a:t>26/10/2023</a:t>
            </a:fld>
            <a:endParaRPr lang="en-AU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10060D-2F21-47EB-BC31-98104C39A172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AU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831E00-63A6-41AF-880F-91E4C617D98D}" type="datetimeFigureOut">
              <a:rPr lang="en-AU"/>
              <a:pPr>
                <a:defRPr/>
              </a:pPr>
              <a:t>26/10/2023</a:t>
            </a:fld>
            <a:endParaRPr lang="en-AU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C7D24-C3F6-4886-8F39-AFA0FA232809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C3E465-A95D-4597-BBF9-26C754D96299}" type="datetimeFigureOut">
              <a:rPr lang="en-AU"/>
              <a:pPr>
                <a:defRPr/>
              </a:pPr>
              <a:t>26/10/2023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38779D-A852-4C26-A0A1-5A3CB14F59E7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003BD2-B302-4065-8E99-2355CEE672DB}" type="datetimeFigureOut">
              <a:rPr lang="en-AU"/>
              <a:pPr>
                <a:defRPr/>
              </a:pPr>
              <a:t>26/10/2023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480572-E297-4EBD-8255-898ED9D02C35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09776A25-9BB3-4F0F-AC34-3943AB32122F}" type="datetimeFigureOut">
              <a:rPr lang="en-AU"/>
              <a:pPr>
                <a:defRPr/>
              </a:pPr>
              <a:t>26/10/2023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0AAB79E4-85D4-4C2B-995D-78D62893DB18}" type="slidenum">
              <a:rPr lang="en-AU"/>
              <a:pPr>
                <a:defRPr/>
              </a:pPr>
              <a:t>‹#›</a:t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hyperlink" Target="http://www.businessmodelgeneration.com/" TargetMode="External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hyperlink" Target="http://www.businessmodelgeneration.com/" TargetMode="External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3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91375" y="469900"/>
            <a:ext cx="561975" cy="673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" name="Picture 14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02050" y="412750"/>
            <a:ext cx="508000" cy="53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" name="Picture 15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500688" y="2854325"/>
            <a:ext cx="498475" cy="51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" name="Picture 16"/>
          <p:cNvPicPr>
            <a:picLocks noChangeAspect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381625" y="349250"/>
            <a:ext cx="558800" cy="573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" name="Picture 17"/>
          <p:cNvPicPr>
            <a:picLocks noChangeAspect="1"/>
          </p:cNvPicPr>
          <p:nvPr/>
        </p:nvPicPr>
        <p:blipFill>
          <a:blip r:embed="rId6" cstate="print"/>
          <a:srcRect l="11171"/>
          <a:stretch>
            <a:fillRect/>
          </a:stretch>
        </p:blipFill>
        <p:spPr bwMode="auto">
          <a:xfrm>
            <a:off x="4633912" y="5446713"/>
            <a:ext cx="452438" cy="573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" name="Picture 18"/>
          <p:cNvPicPr>
            <a:picLocks noChangeAspect="1"/>
          </p:cNvPicPr>
          <p:nvPr/>
        </p:nvPicPr>
        <p:blipFill>
          <a:blip r:embed="rId7" cstate="print"/>
          <a:srcRect b="6728"/>
          <a:stretch>
            <a:fillRect/>
          </a:stretch>
        </p:blipFill>
        <p:spPr bwMode="auto">
          <a:xfrm>
            <a:off x="1918995" y="2949575"/>
            <a:ext cx="671805" cy="593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" name="Picture 19"/>
          <p:cNvPicPr>
            <a:picLocks noChangeAspect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1778812" y="361950"/>
            <a:ext cx="766652" cy="719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" name="Picture 20"/>
          <p:cNvPicPr>
            <a:picLocks noChangeAspect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120650" y="384175"/>
            <a:ext cx="479425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" name="Picture 21"/>
          <p:cNvPicPr>
            <a:picLocks noChangeAspect="1"/>
          </p:cNvPicPr>
          <p:nvPr/>
        </p:nvPicPr>
        <p:blipFill>
          <a:blip r:embed="rId10" cstate="print"/>
          <a:srcRect t="8025" r="6839"/>
          <a:stretch>
            <a:fillRect/>
          </a:stretch>
        </p:blipFill>
        <p:spPr bwMode="auto">
          <a:xfrm>
            <a:off x="138112" y="5454651"/>
            <a:ext cx="534988" cy="515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" name="Title 24"/>
          <p:cNvSpPr>
            <a:spLocks noGrp="1"/>
          </p:cNvSpPr>
          <p:nvPr>
            <p:ph type="title"/>
          </p:nvPr>
        </p:nvSpPr>
        <p:spPr>
          <a:xfrm>
            <a:off x="152400" y="122238"/>
            <a:ext cx="8839200" cy="258762"/>
          </a:xfrm>
        </p:spPr>
        <p:txBody>
          <a:bodyPr/>
          <a:lstStyle/>
          <a:p>
            <a:pPr algn="l"/>
            <a:r>
              <a:rPr lang="en-US" sz="2000" dirty="0"/>
              <a:t>Business Model Canvas </a:t>
            </a:r>
            <a:endParaRPr lang="en-AU" sz="20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72448577"/>
              </p:ext>
            </p:extLst>
          </p:nvPr>
        </p:nvGraphicFramePr>
        <p:xfrm>
          <a:off x="152400" y="457200"/>
          <a:ext cx="8839200" cy="64160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767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7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3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3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67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67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76500">
                <a:tc rowSpan="2">
                  <a:txBody>
                    <a:bodyPr/>
                    <a:lstStyle/>
                    <a:p>
                      <a:r>
                        <a:rPr lang="en-AU" sz="1200" b="1" dirty="0"/>
                        <a:t>           Key</a:t>
                      </a:r>
                      <a:r>
                        <a:rPr lang="en-AU" sz="1200" b="1" baseline="0" dirty="0"/>
                        <a:t> Partners</a:t>
                      </a:r>
                      <a:endParaRPr lang="en-AU" sz="1100" b="0" baseline="0" dirty="0">
                        <a:latin typeface="Comic Sans MS" pitchFamily="66" charset="0"/>
                      </a:endParaRPr>
                    </a:p>
                    <a:p>
                      <a:endParaRPr lang="en-AU" sz="1100" b="0" baseline="0" dirty="0">
                        <a:latin typeface="Comic Sans MS" pitchFamily="66" charset="0"/>
                      </a:endParaRPr>
                    </a:p>
                    <a:p>
                      <a:endParaRPr lang="en-AU" sz="1100" b="0" baseline="0" dirty="0">
                        <a:latin typeface="Comic Sans MS" pitchFamily="66" charset="0"/>
                      </a:endParaRPr>
                    </a:p>
                    <a:p>
                      <a:endParaRPr lang="en-AU" sz="1100" b="0" dirty="0">
                        <a:latin typeface="Comic Sans MS" pitchFamily="66" charset="0"/>
                      </a:endParaRPr>
                    </a:p>
                  </a:txBody>
                  <a:tcPr marL="82296" marR="82296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200" b="1" dirty="0"/>
                        <a:t>        Key Activities</a:t>
                      </a:r>
                      <a:endParaRPr lang="en-AU" sz="1100" b="0" baseline="0" dirty="0">
                        <a:latin typeface="Comic Sans MS" pitchFamily="66" charset="0"/>
                      </a:endParaRPr>
                    </a:p>
                    <a:p>
                      <a:endParaRPr lang="en-AU" sz="1100" b="0" baseline="0" dirty="0">
                        <a:latin typeface="Comic Sans MS" pitchFamily="66" charset="0"/>
                      </a:endParaRPr>
                    </a:p>
                    <a:p>
                      <a:endParaRPr lang="en-AU" sz="1100" b="0" baseline="0" dirty="0">
                        <a:latin typeface="Comic Sans MS" pitchFamily="66" charset="0"/>
                      </a:endParaRPr>
                    </a:p>
                    <a:p>
                      <a:endParaRPr lang="en-AU" sz="1100" b="0" baseline="0" dirty="0">
                        <a:latin typeface="Comic Sans MS" pitchFamily="66" charset="0"/>
                      </a:endParaRPr>
                    </a:p>
                  </a:txBody>
                  <a:tcPr marL="82296" marR="82296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1" dirty="0"/>
                        <a:t>          Value Propositions</a:t>
                      </a:r>
                      <a:endParaRPr kumimoji="0" lang="en-AU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mic Sans MS" pitchFamily="66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AU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mic Sans MS" pitchFamily="66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AU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mic Sans MS" pitchFamily="66" charset="0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mic Sans MS" pitchFamily="66" charset="0"/>
                          <a:ea typeface="+mn-ea"/>
                          <a:cs typeface="+mn-cs"/>
                        </a:rPr>
                        <a:t>Write directly to the canvas…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mic Sans MS" pitchFamily="66" charset="0"/>
                          <a:ea typeface="+mn-ea"/>
                          <a:cs typeface="+mn-cs"/>
                        </a:rPr>
                        <a:t>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mic Sans MS" pitchFamily="66" charset="0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mic Sans MS" pitchFamily="66" charset="0"/>
                          <a:ea typeface="+mn-ea"/>
                          <a:cs typeface="+mn-cs"/>
                        </a:rPr>
                        <a:t>Or use the post-it</a:t>
                      </a: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mic Sans MS" pitchFamily="66" charset="0"/>
                          <a:ea typeface="+mn-ea"/>
                          <a:cs typeface="+mn-cs"/>
                        </a:rPr>
                        <a:t>™</a:t>
                      </a: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mic Sans MS" pitchFamily="66" charset="0"/>
                          <a:ea typeface="+mn-ea"/>
                          <a:cs typeface="+mn-cs"/>
                        </a:rPr>
                        <a:t> note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mic Sans MS" pitchFamily="66" charset="0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mic Sans MS" pitchFamily="66" charset="0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mic Sans MS" pitchFamily="66" charset="0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mic Sans MS" pitchFamily="66" charset="0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mic Sans MS" pitchFamily="66" charset="0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mic Sans MS" pitchFamily="66" charset="0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mic Sans MS" pitchFamily="66" charset="0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mic Sans MS" pitchFamily="66" charset="0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mic Sans MS" pitchFamily="66" charset="0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mic Sans MS" pitchFamily="66" charset="0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mic Sans MS" pitchFamily="66" charset="0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omic Sans MS" pitchFamily="66" charset="0"/>
                          <a:ea typeface="+mn-ea"/>
                          <a:cs typeface="+mn-cs"/>
                        </a:rPr>
                        <a:t>…or both</a:t>
                      </a:r>
                      <a:endParaRPr kumimoji="0" lang="en-AU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mic Sans MS" pitchFamily="66" charset="0"/>
                        <a:ea typeface="+mn-ea"/>
                        <a:cs typeface="+mn-cs"/>
                      </a:endParaRPr>
                    </a:p>
                  </a:txBody>
                  <a:tcPr marL="82296" marR="82296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200" b="1" dirty="0"/>
                        <a:t>         Customer </a:t>
                      </a:r>
                    </a:p>
                    <a:p>
                      <a:r>
                        <a:rPr lang="en-AU" sz="1200" b="1" dirty="0"/>
                        <a:t>         Relationships</a:t>
                      </a:r>
                      <a:endParaRPr lang="en-AU" sz="1100" b="0" baseline="0" dirty="0">
                        <a:latin typeface="Comic Sans MS" pitchFamily="66" charset="0"/>
                      </a:endParaRPr>
                    </a:p>
                    <a:p>
                      <a:endParaRPr lang="en-AU" sz="1100" b="0" baseline="0" dirty="0">
                        <a:latin typeface="Comic Sans MS" pitchFamily="66" charset="0"/>
                      </a:endParaRPr>
                    </a:p>
                    <a:p>
                      <a:endParaRPr lang="en-AU" sz="1100" b="0" dirty="0">
                        <a:latin typeface="Comic Sans MS" pitchFamily="66" charset="0"/>
                      </a:endParaRPr>
                    </a:p>
                  </a:txBody>
                  <a:tcPr marL="82296" marR="82296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r>
                        <a:rPr lang="en-AU" sz="1200" b="1" dirty="0"/>
                        <a:t>      Customer Segments</a:t>
                      </a:r>
                      <a:endParaRPr lang="en-AU" sz="1200" b="0" baseline="0" dirty="0">
                        <a:latin typeface="Comic Sans MS" pitchFamily="66" charset="0"/>
                      </a:endParaRPr>
                    </a:p>
                    <a:p>
                      <a:endParaRPr lang="en-AU" sz="1100" b="0" baseline="0" dirty="0">
                        <a:latin typeface="Comic Sans MS" pitchFamily="66" charset="0"/>
                      </a:endParaRPr>
                    </a:p>
                    <a:p>
                      <a:endParaRPr lang="en-AU" sz="1100" b="0" baseline="0" dirty="0">
                        <a:latin typeface="Comic Sans MS" pitchFamily="66" charset="0"/>
                      </a:endParaRPr>
                    </a:p>
                    <a:p>
                      <a:endParaRPr lang="en-AU" sz="1100" b="0" baseline="0" dirty="0">
                        <a:latin typeface="Comic Sans MS" pitchFamily="66" charset="0"/>
                      </a:endParaRPr>
                    </a:p>
                    <a:p>
                      <a:endParaRPr lang="en-AU" sz="1100" b="0" dirty="0">
                        <a:latin typeface="Comic Sans MS" pitchFamily="66" charset="0"/>
                      </a:endParaRPr>
                    </a:p>
                  </a:txBody>
                  <a:tcPr marL="82296" marR="82296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6500">
                <a:tc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200" b="1" dirty="0"/>
                        <a:t>             Key Resources</a:t>
                      </a:r>
                      <a:endParaRPr lang="en-AU" sz="1100" b="0" baseline="0" dirty="0">
                        <a:latin typeface="Comic Sans MS" pitchFamily="66" charset="0"/>
                      </a:endParaRPr>
                    </a:p>
                    <a:p>
                      <a:endParaRPr lang="en-AU" sz="1100" b="0" baseline="0" dirty="0">
                        <a:latin typeface="Comic Sans MS" pitchFamily="66" charset="0"/>
                      </a:endParaRPr>
                    </a:p>
                    <a:p>
                      <a:endParaRPr lang="en-AU" sz="1100" b="0" baseline="0" dirty="0">
                        <a:latin typeface="Comic Sans MS" pitchFamily="66" charset="0"/>
                      </a:endParaRPr>
                    </a:p>
                    <a:p>
                      <a:endParaRPr lang="en-AU" sz="1100" b="0" dirty="0">
                        <a:latin typeface="Comic Sans MS" pitchFamily="66" charset="0"/>
                      </a:endParaRPr>
                    </a:p>
                  </a:txBody>
                  <a:tcPr marL="82296" marR="82296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200" b="1" dirty="0"/>
                        <a:t>             Channels</a:t>
                      </a:r>
                      <a:endParaRPr lang="en-AU" sz="1200" b="0" baseline="0" dirty="0">
                        <a:latin typeface="Comic Sans MS" pitchFamily="66" charset="0"/>
                      </a:endParaRPr>
                    </a:p>
                    <a:p>
                      <a:endParaRPr lang="en-AU" sz="1100" b="0" baseline="0" dirty="0">
                        <a:latin typeface="Comic Sans MS" pitchFamily="66" charset="0"/>
                      </a:endParaRPr>
                    </a:p>
                    <a:p>
                      <a:endParaRPr lang="en-AU" sz="1100" b="0" baseline="0" dirty="0">
                        <a:latin typeface="Comic Sans MS" pitchFamily="66" charset="0"/>
                      </a:endParaRPr>
                    </a:p>
                    <a:p>
                      <a:endParaRPr lang="en-AU" sz="1100" b="0" dirty="0">
                        <a:latin typeface="Comic Sans MS" pitchFamily="66" charset="0"/>
                      </a:endParaRPr>
                    </a:p>
                  </a:txBody>
                  <a:tcPr marL="82296" marR="82296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00">
                <a:tc gridSpan="3">
                  <a:txBody>
                    <a:bodyPr/>
                    <a:lstStyle/>
                    <a:p>
                      <a:r>
                        <a:rPr lang="en-AU" sz="1200" b="1" dirty="0"/>
                        <a:t>              Cost Structure</a:t>
                      </a:r>
                      <a:endParaRPr lang="en-AU" sz="1200" b="0" baseline="0" dirty="0">
                        <a:latin typeface="Comic Sans MS" pitchFamily="66" charset="0"/>
                      </a:endParaRPr>
                    </a:p>
                    <a:p>
                      <a:endParaRPr lang="en-AU" sz="1200" b="0" baseline="0" dirty="0">
                        <a:latin typeface="Comic Sans MS" pitchFamily="66" charset="0"/>
                      </a:endParaRPr>
                    </a:p>
                    <a:p>
                      <a:endParaRPr lang="en-AU" sz="1200" b="0" baseline="0" dirty="0">
                        <a:latin typeface="Comic Sans MS" pitchFamily="66" charset="0"/>
                      </a:endParaRPr>
                    </a:p>
                    <a:p>
                      <a:endParaRPr lang="en-AU" sz="1100" b="0" dirty="0">
                        <a:latin typeface="Comic Sans MS" pitchFamily="66" charset="0"/>
                      </a:endParaRPr>
                    </a:p>
                  </a:txBody>
                  <a:tcPr marL="82296" marR="82296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en-AU" sz="1200" b="1" dirty="0"/>
                        <a:t>           Revenue Streams</a:t>
                      </a:r>
                      <a:endParaRPr lang="en-AU" sz="1200" b="0" baseline="0" dirty="0">
                        <a:latin typeface="Comic Sans MS" pitchFamily="66" charset="0"/>
                      </a:endParaRPr>
                    </a:p>
                    <a:p>
                      <a:endParaRPr lang="en-AU" sz="1200" b="0" baseline="0" dirty="0">
                        <a:latin typeface="Comic Sans MS" pitchFamily="66" charset="0"/>
                      </a:endParaRPr>
                    </a:p>
                    <a:p>
                      <a:endParaRPr lang="en-AU" sz="1200" b="0" baseline="0" dirty="0">
                        <a:latin typeface="Comic Sans MS" pitchFamily="66" charset="0"/>
                      </a:endParaRPr>
                    </a:p>
                    <a:p>
                      <a:endParaRPr lang="en-AU" sz="1100" b="0" dirty="0">
                        <a:latin typeface="Comic Sans MS" pitchFamily="66" charset="0"/>
                      </a:endParaRPr>
                    </a:p>
                  </a:txBody>
                  <a:tcPr marL="82296" marR="82296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4589">
                <a:tc gridSpan="6"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000" dirty="0">
                          <a:hlinkClick r:id="rId11"/>
                        </a:rPr>
                        <a:t>http://www.businessmodelgeneration.com</a:t>
                      </a:r>
                      <a:endParaRPr lang="en-AU" sz="700" dirty="0"/>
                    </a:p>
                  </a:txBody>
                  <a:tcPr marL="82296" marR="82296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AU" sz="105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 sz="105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 sz="105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 sz="105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248" name="Group 247"/>
          <p:cNvGrpSpPr/>
          <p:nvPr/>
        </p:nvGrpSpPr>
        <p:grpSpPr>
          <a:xfrm>
            <a:off x="3817937" y="2176053"/>
            <a:ext cx="1508125" cy="1074738"/>
            <a:chOff x="5410200" y="2819400"/>
            <a:chExt cx="1508125" cy="1074738"/>
          </a:xfrm>
        </p:grpSpPr>
        <p:pic>
          <p:nvPicPr>
            <p:cNvPr id="24" name="Picture 43" descr="trans_postit_pink.gif"/>
            <p:cNvPicPr>
              <a:picLocks noChangeAspect="1"/>
            </p:cNvPicPr>
            <p:nvPr/>
          </p:nvPicPr>
          <p:blipFill>
            <a:blip r:embed="rId12" cstate="print"/>
            <a:srcRect/>
            <a:stretch>
              <a:fillRect/>
            </a:stretch>
          </p:blipFill>
          <p:spPr bwMode="auto">
            <a:xfrm>
              <a:off x="5410200" y="2819400"/>
              <a:ext cx="1508125" cy="10747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47" name="TextBox 246"/>
            <p:cNvSpPr txBox="1"/>
            <p:nvPr/>
          </p:nvSpPr>
          <p:spPr>
            <a:xfrm rot="21423860">
              <a:off x="5438775" y="2855825"/>
              <a:ext cx="1447800" cy="990600"/>
            </a:xfrm>
            <a:prstGeom prst="rect">
              <a:avLst/>
            </a:prstGeom>
            <a:noFill/>
          </p:spPr>
          <p:txBody>
            <a:bodyPr wrap="square" rtlCol="0">
              <a:normAutofit fontScale="92500" lnSpcReduction="10000"/>
            </a:bodyPr>
            <a:lstStyle/>
            <a:p>
              <a:r>
                <a:rPr lang="en-AU" sz="1400" b="1" dirty="0">
                  <a:latin typeface="Bradley Hand ITC" pitchFamily="66" charset="0"/>
                </a:rPr>
                <a:t>Double click on the post-it™ to edit. Recolour it using the picture format tools.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3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191375" y="469900"/>
            <a:ext cx="561975" cy="673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6" name="Picture 14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702050" y="412750"/>
            <a:ext cx="508000" cy="530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7" name="Picture 15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500688" y="2854325"/>
            <a:ext cx="498475" cy="514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8" name="Picture 16"/>
          <p:cNvPicPr>
            <a:picLocks noChangeAspect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381625" y="349250"/>
            <a:ext cx="558800" cy="573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" name="Picture 17"/>
          <p:cNvPicPr>
            <a:picLocks noChangeAspect="1"/>
          </p:cNvPicPr>
          <p:nvPr/>
        </p:nvPicPr>
        <p:blipFill>
          <a:blip r:embed="rId6" cstate="print"/>
          <a:srcRect l="11171"/>
          <a:stretch>
            <a:fillRect/>
          </a:stretch>
        </p:blipFill>
        <p:spPr bwMode="auto">
          <a:xfrm>
            <a:off x="4633912" y="5446713"/>
            <a:ext cx="452438" cy="573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" name="Picture 18"/>
          <p:cNvPicPr>
            <a:picLocks noChangeAspect="1"/>
          </p:cNvPicPr>
          <p:nvPr/>
        </p:nvPicPr>
        <p:blipFill>
          <a:blip r:embed="rId7" cstate="print"/>
          <a:srcRect b="6728"/>
          <a:stretch>
            <a:fillRect/>
          </a:stretch>
        </p:blipFill>
        <p:spPr bwMode="auto">
          <a:xfrm>
            <a:off x="1918995" y="2949575"/>
            <a:ext cx="671805" cy="593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" name="Picture 19"/>
          <p:cNvPicPr>
            <a:picLocks noChangeAspect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1778812" y="361950"/>
            <a:ext cx="766652" cy="7199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" name="Picture 20"/>
          <p:cNvPicPr>
            <a:picLocks noChangeAspect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120650" y="384175"/>
            <a:ext cx="479425" cy="493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" name="Picture 21"/>
          <p:cNvPicPr>
            <a:picLocks noChangeAspect="1"/>
          </p:cNvPicPr>
          <p:nvPr/>
        </p:nvPicPr>
        <p:blipFill>
          <a:blip r:embed="rId10" cstate="print"/>
          <a:srcRect t="8025" r="6839"/>
          <a:stretch>
            <a:fillRect/>
          </a:stretch>
        </p:blipFill>
        <p:spPr bwMode="auto">
          <a:xfrm>
            <a:off x="138112" y="5454651"/>
            <a:ext cx="534988" cy="5159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" name="Title 24"/>
          <p:cNvSpPr>
            <a:spLocks noGrp="1"/>
          </p:cNvSpPr>
          <p:nvPr>
            <p:ph type="title"/>
          </p:nvPr>
        </p:nvSpPr>
        <p:spPr>
          <a:xfrm>
            <a:off x="152400" y="122238"/>
            <a:ext cx="8839200" cy="258762"/>
          </a:xfrm>
        </p:spPr>
        <p:txBody>
          <a:bodyPr/>
          <a:lstStyle/>
          <a:p>
            <a:pPr algn="l"/>
            <a:r>
              <a:rPr lang="en-US" sz="2000" dirty="0"/>
              <a:t>Business Model Canvas </a:t>
            </a:r>
            <a:endParaRPr lang="en-AU" sz="20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3695491"/>
              </p:ext>
            </p:extLst>
          </p:nvPr>
        </p:nvGraphicFramePr>
        <p:xfrm>
          <a:off x="152400" y="457200"/>
          <a:ext cx="8839200" cy="641604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767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7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83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3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67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678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76500">
                <a:tc rowSpan="2">
                  <a:txBody>
                    <a:bodyPr/>
                    <a:lstStyle/>
                    <a:p>
                      <a:r>
                        <a:rPr lang="en-AU" sz="1200" b="1" dirty="0"/>
                        <a:t>           Key</a:t>
                      </a:r>
                      <a:r>
                        <a:rPr lang="en-AU" sz="1200" b="1" baseline="0" dirty="0"/>
                        <a:t> Partners</a:t>
                      </a:r>
                      <a:endParaRPr lang="en-AU" sz="1100" b="0" baseline="0" dirty="0">
                        <a:latin typeface="Comic Sans MS" pitchFamily="66" charset="0"/>
                      </a:endParaRPr>
                    </a:p>
                    <a:p>
                      <a:endParaRPr lang="en-AU" sz="1100" b="0" baseline="0" dirty="0">
                        <a:latin typeface="Comic Sans MS" pitchFamily="66" charset="0"/>
                      </a:endParaRPr>
                    </a:p>
                    <a:p>
                      <a:endParaRPr lang="en-AU" sz="1100" b="0" baseline="0" dirty="0">
                        <a:latin typeface="Comic Sans MS" pitchFamily="66" charset="0"/>
                      </a:endParaRPr>
                    </a:p>
                    <a:p>
                      <a:r>
                        <a:rPr lang="en-AU" sz="1100" b="0" dirty="0" err="1">
                          <a:latin typeface="Comic Sans MS" pitchFamily="66" charset="0"/>
                        </a:rPr>
                        <a:t>Wichtigste</a:t>
                      </a:r>
                      <a:r>
                        <a:rPr lang="en-AU" sz="1100" b="0" dirty="0">
                          <a:latin typeface="Comic Sans MS" pitchFamily="66" charset="0"/>
                        </a:rPr>
                        <a:t> </a:t>
                      </a:r>
                      <a:r>
                        <a:rPr lang="en-AU" sz="1100" b="0" dirty="0" err="1">
                          <a:latin typeface="Comic Sans MS" pitchFamily="66" charset="0"/>
                        </a:rPr>
                        <a:t>Kostentreiber</a:t>
                      </a:r>
                      <a:endParaRPr lang="en-AU" sz="1100" b="0" dirty="0">
                        <a:latin typeface="Comic Sans MS" pitchFamily="66" charset="0"/>
                      </a:endParaRPr>
                    </a:p>
                  </a:txBody>
                  <a:tcPr marL="82296" marR="82296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AU" sz="1200" b="1" dirty="0"/>
                        <a:t>        Key Activities</a:t>
                      </a:r>
                      <a:endParaRPr lang="en-AU" sz="1100" b="0" baseline="0" dirty="0">
                        <a:latin typeface="Comic Sans MS" pitchFamily="66" charset="0"/>
                      </a:endParaRPr>
                    </a:p>
                    <a:p>
                      <a:endParaRPr lang="en-AU" sz="1100" b="0" baseline="0" dirty="0">
                        <a:latin typeface="Comic Sans MS" pitchFamily="66" charset="0"/>
                      </a:endParaRPr>
                    </a:p>
                    <a:p>
                      <a:endParaRPr lang="en-AU" sz="1100" b="0" baseline="0" dirty="0">
                        <a:latin typeface="Comic Sans MS" pitchFamily="66" charset="0"/>
                      </a:endParaRPr>
                    </a:p>
                    <a:p>
                      <a:endParaRPr lang="en-AU" sz="1100" b="0" baseline="0" dirty="0">
                        <a:latin typeface="Comic Sans MS" pitchFamily="66" charset="0"/>
                      </a:endParaRPr>
                    </a:p>
                    <a:p>
                      <a:r>
                        <a:rPr lang="en-AU" sz="1100" b="0" baseline="0" dirty="0">
                          <a:latin typeface="Comic Sans MS" pitchFamily="66" charset="0"/>
                        </a:rPr>
                        <a:t>Das Tun</a:t>
                      </a:r>
                    </a:p>
                  </a:txBody>
                  <a:tcPr marL="82296" marR="82296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grid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200" b="1" dirty="0"/>
                        <a:t>          Value Propositions</a:t>
                      </a:r>
                      <a:endParaRPr kumimoji="0" lang="en-AU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mic Sans MS" pitchFamily="66" charset="0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AU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mic Sans MS" pitchFamily="66" charset="0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mic Sans MS" pitchFamily="66" charset="0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mic Sans MS" pitchFamily="66" charset="0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mic Sans MS" pitchFamily="66" charset="0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mic Sans MS" pitchFamily="66" charset="0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mic Sans MS" pitchFamily="66" charset="0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mic Sans MS" pitchFamily="66" charset="0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mic Sans MS" pitchFamily="66" charset="0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mic Sans MS" pitchFamily="66" charset="0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mic Sans MS" pitchFamily="66" charset="0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omic Sans MS" pitchFamily="66" charset="0"/>
                        <a:ea typeface="+mn-ea"/>
                        <a:cs typeface="+mn-cs"/>
                      </a:endParaRPr>
                    </a:p>
                  </a:txBody>
                  <a:tcPr marL="82296" marR="82296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 h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200" b="1" dirty="0"/>
                        <a:t>         Customer </a:t>
                      </a:r>
                    </a:p>
                    <a:p>
                      <a:r>
                        <a:rPr lang="en-AU" sz="1200" b="1" dirty="0"/>
                        <a:t>         Relationships</a:t>
                      </a:r>
                      <a:endParaRPr lang="en-AU" sz="1100" b="0" baseline="0" dirty="0">
                        <a:latin typeface="Comic Sans MS" pitchFamily="66" charset="0"/>
                      </a:endParaRPr>
                    </a:p>
                    <a:p>
                      <a:endParaRPr lang="en-AU" sz="1100" b="0" baseline="0" dirty="0">
                        <a:latin typeface="Comic Sans MS" pitchFamily="66" charset="0"/>
                      </a:endParaRPr>
                    </a:p>
                    <a:p>
                      <a:endParaRPr lang="en-AU" sz="1100" b="0" dirty="0">
                        <a:latin typeface="Comic Sans MS" pitchFamily="66" charset="0"/>
                      </a:endParaRPr>
                    </a:p>
                  </a:txBody>
                  <a:tcPr marL="82296" marR="82296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r>
                        <a:rPr lang="en-AU" sz="1200" b="1" dirty="0"/>
                        <a:t>      Customer Segments</a:t>
                      </a:r>
                      <a:endParaRPr lang="en-AU" sz="1200" b="0" baseline="0" dirty="0">
                        <a:latin typeface="Comic Sans MS" pitchFamily="66" charset="0"/>
                      </a:endParaRPr>
                    </a:p>
                    <a:p>
                      <a:endParaRPr lang="en-AU" sz="1100" b="0" baseline="0" dirty="0">
                        <a:latin typeface="Comic Sans MS" pitchFamily="66" charset="0"/>
                      </a:endParaRPr>
                    </a:p>
                    <a:p>
                      <a:endParaRPr lang="en-AU" sz="1100" b="0" baseline="0" dirty="0">
                        <a:latin typeface="Comic Sans MS" pitchFamily="66" charset="0"/>
                      </a:endParaRPr>
                    </a:p>
                    <a:p>
                      <a:endParaRPr lang="en-AU" sz="1100" b="0" baseline="0" dirty="0">
                        <a:latin typeface="Comic Sans MS" pitchFamily="66" charset="0"/>
                      </a:endParaRPr>
                    </a:p>
                    <a:p>
                      <a:endParaRPr lang="en-AU" sz="1100" b="0" dirty="0">
                        <a:latin typeface="Comic Sans MS" pitchFamily="66" charset="0"/>
                      </a:endParaRPr>
                    </a:p>
                  </a:txBody>
                  <a:tcPr marL="82296" marR="82296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6500">
                <a:tc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200" b="1" dirty="0"/>
                        <a:t>             Key Resources</a:t>
                      </a:r>
                      <a:endParaRPr lang="en-AU" sz="1100" b="0" baseline="0" dirty="0">
                        <a:latin typeface="Comic Sans MS" pitchFamily="66" charset="0"/>
                      </a:endParaRPr>
                    </a:p>
                    <a:p>
                      <a:endParaRPr lang="en-AU" sz="1100" b="0" baseline="0" dirty="0">
                        <a:latin typeface="Comic Sans MS" pitchFamily="66" charset="0"/>
                      </a:endParaRPr>
                    </a:p>
                    <a:p>
                      <a:endParaRPr lang="en-AU" sz="1100" b="0" baseline="0" dirty="0">
                        <a:latin typeface="Comic Sans MS" pitchFamily="66" charset="0"/>
                      </a:endParaRPr>
                    </a:p>
                    <a:p>
                      <a:endParaRPr lang="en-AU" sz="1100" b="0" dirty="0">
                        <a:latin typeface="Comic Sans MS" pitchFamily="66" charset="0"/>
                      </a:endParaRPr>
                    </a:p>
                    <a:p>
                      <a:r>
                        <a:rPr lang="en-AU" sz="1100" b="0" dirty="0">
                          <a:latin typeface="Comic Sans MS" pitchFamily="66" charset="0"/>
                        </a:rPr>
                        <a:t>Die Dinge</a:t>
                      </a:r>
                    </a:p>
                  </a:txBody>
                  <a:tcPr marL="82296" marR="82296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sz="1200" b="1" dirty="0"/>
                        <a:t>             Channels</a:t>
                      </a:r>
                      <a:endParaRPr lang="en-AU" sz="1200" b="0" baseline="0" dirty="0">
                        <a:latin typeface="Comic Sans MS" pitchFamily="66" charset="0"/>
                      </a:endParaRPr>
                    </a:p>
                    <a:p>
                      <a:endParaRPr lang="en-AU" sz="1100" b="0" baseline="0" dirty="0">
                        <a:latin typeface="Comic Sans MS" pitchFamily="66" charset="0"/>
                      </a:endParaRPr>
                    </a:p>
                    <a:p>
                      <a:endParaRPr lang="en-AU" sz="1100" b="0" baseline="0" dirty="0">
                        <a:latin typeface="Comic Sans MS" pitchFamily="66" charset="0"/>
                      </a:endParaRPr>
                    </a:p>
                    <a:p>
                      <a:endParaRPr lang="en-AU" sz="1100" b="0" dirty="0">
                        <a:latin typeface="Comic Sans MS" pitchFamily="66" charset="0"/>
                      </a:endParaRPr>
                    </a:p>
                  </a:txBody>
                  <a:tcPr marL="82296" marR="82296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A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00">
                <a:tc gridSpan="3">
                  <a:txBody>
                    <a:bodyPr/>
                    <a:lstStyle/>
                    <a:p>
                      <a:r>
                        <a:rPr lang="en-AU" sz="1200" b="1" dirty="0"/>
                        <a:t>              Cost Structure</a:t>
                      </a:r>
                      <a:endParaRPr lang="en-AU" sz="1200" b="0" baseline="0" dirty="0">
                        <a:latin typeface="Comic Sans MS" pitchFamily="66" charset="0"/>
                      </a:endParaRPr>
                    </a:p>
                    <a:p>
                      <a:endParaRPr lang="en-AU" sz="1200" b="0" baseline="0" dirty="0">
                        <a:latin typeface="Comic Sans MS" pitchFamily="66" charset="0"/>
                      </a:endParaRPr>
                    </a:p>
                    <a:p>
                      <a:endParaRPr lang="en-AU" sz="1200" b="0" baseline="0" dirty="0">
                        <a:latin typeface="Comic Sans MS" pitchFamily="66" charset="0"/>
                      </a:endParaRPr>
                    </a:p>
                    <a:p>
                      <a:r>
                        <a:rPr lang="en-AU" sz="1200" b="0" baseline="0" dirty="0" err="1">
                          <a:latin typeface="Comic Sans MS" pitchFamily="66" charset="0"/>
                        </a:rPr>
                        <a:t>Nicht</a:t>
                      </a:r>
                      <a:r>
                        <a:rPr lang="en-AU" sz="1200" b="0" baseline="0" dirty="0">
                          <a:latin typeface="Comic Sans MS" pitchFamily="66" charset="0"/>
                        </a:rPr>
                        <a:t> “Personal”/”Strom”, </a:t>
                      </a:r>
                      <a:r>
                        <a:rPr lang="en-AU" sz="1200" b="0" baseline="0" dirty="0" err="1">
                          <a:latin typeface="Comic Sans MS" pitchFamily="66" charset="0"/>
                        </a:rPr>
                        <a:t>sondern</a:t>
                      </a:r>
                      <a:r>
                        <a:rPr lang="en-AU" sz="1200" b="0" baseline="0" dirty="0">
                          <a:latin typeface="Comic Sans MS" pitchFamily="66" charset="0"/>
                        </a:rPr>
                        <a:t> </a:t>
                      </a:r>
                      <a:r>
                        <a:rPr lang="en-AU" sz="1200" b="0" baseline="0" dirty="0" err="1">
                          <a:latin typeface="Comic Sans MS" pitchFamily="66" charset="0"/>
                        </a:rPr>
                        <a:t>spezifischer</a:t>
                      </a:r>
                      <a:r>
                        <a:rPr lang="en-AU" sz="1200" b="0" baseline="0" dirty="0">
                          <a:latin typeface="Comic Sans MS" pitchFamily="66" charset="0"/>
                        </a:rPr>
                        <a:t> “</a:t>
                      </a:r>
                      <a:r>
                        <a:rPr lang="en-AU" sz="1200" b="0" baseline="0" dirty="0" err="1">
                          <a:latin typeface="Comic Sans MS" pitchFamily="66" charset="0"/>
                        </a:rPr>
                        <a:t>Thekenbedienung</a:t>
                      </a:r>
                      <a:r>
                        <a:rPr lang="en-AU" sz="1200" b="0" baseline="0" dirty="0">
                          <a:latin typeface="Comic Sans MS" pitchFamily="66" charset="0"/>
                        </a:rPr>
                        <a:t>”</a:t>
                      </a:r>
                    </a:p>
                    <a:p>
                      <a:endParaRPr lang="en-AU" sz="1100" b="0" dirty="0">
                        <a:latin typeface="Comic Sans MS" pitchFamily="66" charset="0"/>
                      </a:endParaRPr>
                    </a:p>
                  </a:txBody>
                  <a:tcPr marL="82296" marR="82296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r>
                        <a:rPr lang="en-AU" sz="1200" b="1" dirty="0"/>
                        <a:t>           Revenue Streams</a:t>
                      </a:r>
                      <a:endParaRPr lang="en-AU" sz="1200" b="0" baseline="0" dirty="0">
                        <a:latin typeface="Comic Sans MS" pitchFamily="66" charset="0"/>
                      </a:endParaRPr>
                    </a:p>
                    <a:p>
                      <a:endParaRPr lang="en-AU" sz="1200" b="0" baseline="0" dirty="0">
                        <a:latin typeface="Comic Sans MS" pitchFamily="66" charset="0"/>
                      </a:endParaRPr>
                    </a:p>
                    <a:p>
                      <a:endParaRPr lang="en-AU" sz="1200" b="0" baseline="0" dirty="0">
                        <a:latin typeface="Comic Sans MS" pitchFamily="66" charset="0"/>
                      </a:endParaRPr>
                    </a:p>
                    <a:p>
                      <a:endParaRPr lang="en-AU" sz="1100" b="0" dirty="0">
                        <a:latin typeface="Comic Sans MS" pitchFamily="66" charset="0"/>
                      </a:endParaRPr>
                    </a:p>
                  </a:txBody>
                  <a:tcPr marL="82296" marR="82296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4589">
                <a:tc gridSpan="6"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AU" sz="1000" dirty="0">
                          <a:hlinkClick r:id="rId11"/>
                        </a:rPr>
                        <a:t>http://www.businessmodelgeneration.com</a:t>
                      </a:r>
                      <a:endParaRPr lang="en-AU" sz="700" dirty="0"/>
                    </a:p>
                  </a:txBody>
                  <a:tcPr marL="82296" marR="82296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AU" sz="105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 sz="105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 sz="105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 sz="105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AU" sz="105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248" name="Group 247"/>
          <p:cNvGrpSpPr/>
          <p:nvPr/>
        </p:nvGrpSpPr>
        <p:grpSpPr>
          <a:xfrm>
            <a:off x="269703" y="2295504"/>
            <a:ext cx="1509109" cy="1074738"/>
            <a:chOff x="5410200" y="2819400"/>
            <a:chExt cx="1509109" cy="1074738"/>
          </a:xfrm>
        </p:grpSpPr>
        <p:pic>
          <p:nvPicPr>
            <p:cNvPr id="24" name="Picture 43" descr="trans_postit_pink.gif"/>
            <p:cNvPicPr>
              <a:picLocks noChangeAspect="1"/>
            </p:cNvPicPr>
            <p:nvPr/>
          </p:nvPicPr>
          <p:blipFill>
            <a:blip r:embed="rId12" cstate="print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rcRect/>
            <a:stretch>
              <a:fillRect/>
            </a:stretch>
          </p:blipFill>
          <p:spPr bwMode="auto">
            <a:xfrm>
              <a:off x="5410200" y="2819400"/>
              <a:ext cx="1508125" cy="107473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47" name="TextBox 246"/>
            <p:cNvSpPr txBox="1"/>
            <p:nvPr/>
          </p:nvSpPr>
          <p:spPr>
            <a:xfrm rot="21423860">
              <a:off x="5471509" y="2884844"/>
              <a:ext cx="1447800" cy="990600"/>
            </a:xfrm>
            <a:prstGeom prst="rect">
              <a:avLst/>
            </a:prstGeom>
            <a:noFill/>
          </p:spPr>
          <p:txBody>
            <a:bodyPr wrap="square" rtlCol="0">
              <a:normAutofit/>
            </a:bodyPr>
            <a:lstStyle/>
            <a:p>
              <a:r>
                <a:rPr lang="en-AU" sz="1400" b="1" dirty="0">
                  <a:latin typeface="Bradley Hand ITC" pitchFamily="66" charset="0"/>
                </a:rPr>
                <a:t>…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4710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361</TotalTime>
  <Words>125</Words>
  <Application>Microsoft Macintosh PowerPoint</Application>
  <PresentationFormat>On-screen Show (4:3)</PresentationFormat>
  <Paragraphs>79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Bradley Hand ITC</vt:lpstr>
      <vt:lpstr>Calibri</vt:lpstr>
      <vt:lpstr>Comic Sans MS</vt:lpstr>
      <vt:lpstr>Office Theme</vt:lpstr>
      <vt:lpstr>Business Model Canvas </vt:lpstr>
      <vt:lpstr>Business Model Canvas </vt:lpstr>
    </vt:vector>
  </TitlesOfParts>
  <Company>World Vision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model canvas template</dc:title>
  <dc:creator>This version: James Cox</dc:creator>
  <dc:description>Full credit to  http://www.businessmodelgeneration.com and its users for this template. I have made enhancements to its useability by using a table as the underlying format.</dc:description>
  <cp:lastModifiedBy>Ki Mu</cp:lastModifiedBy>
  <cp:revision>50</cp:revision>
  <dcterms:created xsi:type="dcterms:W3CDTF">2011-03-15T01:24:59Z</dcterms:created>
  <dcterms:modified xsi:type="dcterms:W3CDTF">2023-10-26T14:04:48Z</dcterms:modified>
</cp:coreProperties>
</file>